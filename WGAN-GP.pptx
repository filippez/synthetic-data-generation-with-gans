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bookmarkIdSeed="3">
  <p:sldMasterIdLst>
    <p:sldMasterId id="2147483648" r:id="rId1"/>
    <p:sldMasterId id="2147483650" r:id="rId2"/>
  </p:sldMasterIdLst>
  <p:notesMasterIdLst>
    <p:notesMasterId r:id="rId64"/>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321" r:id="rId20"/>
    <p:sldId id="273" r:id="rId21"/>
    <p:sldId id="274" r:id="rId22"/>
    <p:sldId id="322" r:id="rId23"/>
    <p:sldId id="275" r:id="rId24"/>
    <p:sldId id="277" r:id="rId25"/>
    <p:sldId id="278" r:id="rId26"/>
    <p:sldId id="279" r:id="rId27"/>
    <p:sldId id="285" r:id="rId28"/>
    <p:sldId id="286" r:id="rId29"/>
    <p:sldId id="287" r:id="rId30"/>
    <p:sldId id="289" r:id="rId31"/>
    <p:sldId id="291" r:id="rId32"/>
    <p:sldId id="292" r:id="rId33"/>
    <p:sldId id="293" r:id="rId34"/>
    <p:sldId id="294" r:id="rId35"/>
    <p:sldId id="296" r:id="rId36"/>
    <p:sldId id="297" r:id="rId37"/>
    <p:sldId id="298" r:id="rId38"/>
    <p:sldId id="299" r:id="rId39"/>
    <p:sldId id="300" r:id="rId40"/>
    <p:sldId id="301" r:id="rId41"/>
    <p:sldId id="280" r:id="rId42"/>
    <p:sldId id="281" r:id="rId43"/>
    <p:sldId id="282" r:id="rId44"/>
    <p:sldId id="303" r:id="rId45"/>
    <p:sldId id="323" r:id="rId46"/>
    <p:sldId id="304" r:id="rId47"/>
    <p:sldId id="305" r:id="rId48"/>
    <p:sldId id="306" r:id="rId49"/>
    <p:sldId id="307" r:id="rId50"/>
    <p:sldId id="308" r:id="rId51"/>
    <p:sldId id="309" r:id="rId52"/>
    <p:sldId id="310" r:id="rId53"/>
    <p:sldId id="311" r:id="rId54"/>
    <p:sldId id="312" r:id="rId55"/>
    <p:sldId id="313" r:id="rId56"/>
    <p:sldId id="314" r:id="rId57"/>
    <p:sldId id="315" r:id="rId58"/>
    <p:sldId id="316" r:id="rId59"/>
    <p:sldId id="317" r:id="rId60"/>
    <p:sldId id="324" r:id="rId61"/>
    <p:sldId id="318" r:id="rId62"/>
    <p:sldId id="319" r:id="rId63"/>
  </p:sldIdLst>
  <p:sldSz cx="12192000" cy="6858000"/>
  <p:notesSz cx="6858000" cy="9144000"/>
  <p:embeddedFontLst>
    <p:embeddedFont>
      <p:font typeface="Tahoma" panose="020B0604030504040204" pitchFamily="34" charset="0"/>
      <p:regular r:id="rId65"/>
      <p:bold r:id="rId6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74" roundtripDataSignature="AMtx7mhhi6NpuKBOy/KrJqPTcuYrvenG7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E3BE910-B883-4595-9F21-A33E944D409D}">
  <a:tblStyle styleId="{9E3BE910-B883-4595-9F21-A33E944D409D}" styleName="Table_0">
    <a:wholeTbl>
      <a:tcTxStyle b="off" i="off">
        <a:font>
          <a:latin typeface="Avenir Next LT Pro"/>
          <a:ea typeface="Avenir Next LT Pro"/>
          <a:cs typeface="Avenir Next LT Pro"/>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25400" cap="flat" cmpd="sng">
              <a:solidFill>
                <a:schemeClr val="dk1"/>
              </a:solidFill>
              <a:prstDash val="solid"/>
              <a:round/>
              <a:headEnd type="none" w="sm" len="sm"/>
              <a:tailEnd type="none" w="sm" len="sm"/>
            </a:ln>
          </a:top>
          <a:bottom>
            <a:ln w="25400" cap="flat" cmpd="sng">
              <a:solidFill>
                <a:schemeClr val="dk1"/>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chemeClr val="lt1"/>
          </a:solidFill>
        </a:fill>
      </a:tcStyle>
    </a:wholeTbl>
    <a:band1H>
      <a:tcTxStyle/>
      <a:tcStyle>
        <a:tcBdr/>
        <a:fill>
          <a:solidFill>
            <a:srgbClr val="E6E6E6"/>
          </a:solidFill>
        </a:fill>
      </a:tcStyle>
    </a:band1H>
    <a:band2H>
      <a:tcTxStyle/>
      <a:tcStyle>
        <a:tcBdr/>
      </a:tcStyle>
    </a:band2H>
    <a:band1V>
      <a:tcTxStyle/>
      <a:tcStyle>
        <a:tcBdr/>
        <a:fill>
          <a:solidFill>
            <a:srgbClr val="E6E6E6"/>
          </a:solidFill>
        </a:fill>
      </a:tcStyle>
    </a:band1V>
    <a:band2V>
      <a:tcTxStyle/>
      <a:tcStyle>
        <a:tcBdr/>
      </a:tcStyle>
    </a:band2V>
    <a:lastCol>
      <a:tcTxStyle b="on" i="off">
        <a:font>
          <a:latin typeface="Avenir Next LT Pro"/>
          <a:ea typeface="Avenir Next LT Pro"/>
          <a:cs typeface="Avenir Next LT Pro"/>
        </a:font>
        <a:schemeClr val="lt1"/>
      </a:tcTxStyle>
      <a:tcStyle>
        <a:tcBdr/>
        <a:fill>
          <a:solidFill>
            <a:schemeClr val="dk1"/>
          </a:solidFill>
        </a:fill>
      </a:tcStyle>
    </a:lastCol>
    <a:firstCol>
      <a:tcTxStyle b="on" i="off">
        <a:font>
          <a:latin typeface="Avenir Next LT Pro"/>
          <a:ea typeface="Avenir Next LT Pro"/>
          <a:cs typeface="Avenir Next LT Pro"/>
        </a:font>
        <a:schemeClr val="lt1"/>
      </a:tcTxStyle>
      <a:tcStyle>
        <a:tcBdr/>
        <a:fill>
          <a:solidFill>
            <a:schemeClr val="dk1"/>
          </a:solidFill>
        </a:fill>
      </a:tcStyle>
    </a:firstCol>
    <a:lastRow>
      <a:tcTxStyle b="on" i="off"/>
      <a:tcStyle>
        <a:tcBdr>
          <a:top>
            <a:ln w="50800" cap="flat" cmpd="sng">
              <a:solidFill>
                <a:schemeClr val="dk1"/>
              </a:solidFill>
              <a:prstDash val="solid"/>
              <a:round/>
              <a:headEnd type="none" w="sm" len="sm"/>
              <a:tailEnd type="none" w="sm" len="sm"/>
            </a:ln>
          </a:top>
        </a:tcBdr>
        <a:fill>
          <a:solidFill>
            <a:schemeClr val="lt1"/>
          </a:solidFill>
        </a:fill>
      </a:tcStyle>
    </a:lastRow>
    <a:seCell>
      <a:tcTxStyle b="on" i="off">
        <a:font>
          <a:latin typeface="Avenir Next LT Pro"/>
          <a:ea typeface="Avenir Next LT Pro"/>
          <a:cs typeface="Avenir Next LT Pro"/>
        </a:font>
        <a:schemeClr val="dk1"/>
      </a:tcTxStyle>
      <a:tcStyle>
        <a:tcBdr/>
      </a:tcStyle>
    </a:seCell>
    <a:swCell>
      <a:tcTxStyle b="on" i="off">
        <a:font>
          <a:latin typeface="Avenir Next LT Pro"/>
          <a:ea typeface="Avenir Next LT Pro"/>
          <a:cs typeface="Avenir Next LT Pro"/>
        </a:font>
        <a:schemeClr val="dk1"/>
      </a:tcTxStyle>
      <a:tcStyle>
        <a:tcBdr/>
      </a:tcStyle>
    </a:swCell>
    <a:firstRow>
      <a:tcTxStyle b="on" i="off">
        <a:font>
          <a:latin typeface="Avenir Next LT Pro"/>
          <a:ea typeface="Avenir Next LT Pro"/>
          <a:cs typeface="Avenir Next LT Pro"/>
        </a:font>
        <a:schemeClr val="lt1"/>
      </a:tcTxStyle>
      <a:tcStyle>
        <a:tcBdr>
          <a:bottom>
            <a:ln w="25400" cap="flat" cmpd="sng">
              <a:solidFill>
                <a:schemeClr val="dk1"/>
              </a:solidFill>
              <a:prstDash val="solid"/>
              <a:round/>
              <a:headEnd type="none" w="sm" len="sm"/>
              <a:tailEnd type="none" w="sm" len="sm"/>
            </a:ln>
          </a:bottom>
        </a:tcBdr>
        <a:fill>
          <a:solidFill>
            <a:schemeClr val="dk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9" d="100"/>
          <a:sy n="79" d="100"/>
        </p:scale>
        <p:origin x="821" y="-2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font" Target="fonts/font2.fntdata"/><Relationship Id="rId74" Type="http://customschemas.google.com/relationships/presentationmetadata" Target="metadata"/><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notesMaster" Target="notesMasters/notesMaster1.xml"/><Relationship Id="rId77"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font" Target="fonts/font1.fntdata"/><Relationship Id="rId78"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l-GR"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9" name="Google Shape;119;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0" name="Google Shape;120;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l-GR"/>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4" name="Google Shape;134;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l-GR" sz="1200" b="0" i="0" u="none" strike="noStrike" cap="none">
                <a:solidFill>
                  <a:srgbClr val="000000"/>
                </a:solidFill>
                <a:latin typeface="Arial"/>
                <a:ea typeface="Arial"/>
                <a:cs typeface="Arial"/>
                <a:sym typeface="Arial"/>
              </a:rPr>
              <a:t>2</a:t>
            </a:fld>
            <a:endParaRPr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9" name="Google Shape;149;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0" name="Google Shape;150;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l-GR" sz="1200" b="0" i="0" u="none" strike="noStrike" cap="none">
                <a:solidFill>
                  <a:srgbClr val="000000"/>
                </a:solidFill>
                <a:latin typeface="Arial"/>
                <a:ea typeface="Arial"/>
                <a:cs typeface="Arial"/>
                <a:sym typeface="Arial"/>
              </a:rPr>
              <a:t>3</a:t>
            </a:fld>
            <a:endParaRPr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1" name="Google Shape;161;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2" name="Google Shape;162;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l-GR"/>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2" name="Google Shape;172;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3" name="Google Shape;173;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l-GR"/>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2" name="Google Shape;182;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3" name="Google Shape;183;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l-GR"/>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0" name="Google Shape;190;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1" name="Google Shape;191;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l-GR"/>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7" name="Google Shape;197;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8" name="Google Shape;198;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l-GR"/>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5" name="Google Shape;205;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 name="Google Shape;206;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l-GR" sz="1200" b="0" i="0" u="none" strike="noStrike" cap="none">
                <a:solidFill>
                  <a:srgbClr val="000000"/>
                </a:solidFill>
                <a:latin typeface="Arial"/>
                <a:ea typeface="Arial"/>
                <a:cs typeface="Arial"/>
                <a:sym typeface="Arial"/>
              </a:rPr>
              <a:t>9</a:t>
            </a:fld>
            <a:endParaRPr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3" name="Google Shape;213;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4" name="Google Shape;214;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l-GR" sz="1200" b="0" i="0" u="none" strike="noStrike" cap="none">
                <a:solidFill>
                  <a:srgbClr val="000000"/>
                </a:solidFill>
                <a:latin typeface="Arial"/>
                <a:ea typeface="Arial"/>
                <a:cs typeface="Arial"/>
                <a:sym typeface="Arial"/>
              </a:rPr>
              <a:t>10</a:t>
            </a:fld>
            <a:endParaRPr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4" name="Google Shape;224;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5" name="Google Shape;225;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l-GR" sz="1200" b="0" i="0" u="none" strike="noStrike" cap="none">
                <a:solidFill>
                  <a:srgbClr val="000000"/>
                </a:solidFill>
                <a:latin typeface="Arial"/>
                <a:ea typeface="Arial"/>
                <a:cs typeface="Arial"/>
                <a:sym typeface="Arial"/>
              </a:rPr>
              <a:t>11</a:t>
            </a:fld>
            <a:endParaRPr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7" name="Google Shape;237;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8" name="Google Shape;238;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l-GR"/>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4" name="Google Shape;244;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5" name="Google Shape;245;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l-GR" sz="1200" b="0" i="0" u="none" strike="noStrike" cap="none">
                <a:solidFill>
                  <a:srgbClr val="000000"/>
                </a:solidFill>
                <a:latin typeface="Arial"/>
                <a:ea typeface="Arial"/>
                <a:cs typeface="Arial"/>
                <a:sym typeface="Arial"/>
              </a:rPr>
              <a:t>13</a:t>
            </a:fld>
            <a:endParaRPr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6" name="Google Shape;256;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7" name="Google Shape;257;p1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l-GR" sz="1200" b="0" i="0" u="none" strike="noStrike" cap="none">
                <a:solidFill>
                  <a:srgbClr val="000000"/>
                </a:solidFill>
                <a:latin typeface="Arial"/>
                <a:ea typeface="Arial"/>
                <a:cs typeface="Arial"/>
                <a:sym typeface="Arial"/>
              </a:rPr>
              <a:t>14</a:t>
            </a:fld>
            <a:endParaRPr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3" name="Google Shape;263;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4" name="Google Shape;264;p1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l-GR" sz="1200" b="0" i="0" u="none" strike="noStrike" cap="none">
                <a:solidFill>
                  <a:srgbClr val="000000"/>
                </a:solidFill>
                <a:latin typeface="Arial"/>
                <a:ea typeface="Arial"/>
                <a:cs typeface="Arial"/>
                <a:sym typeface="Arial"/>
              </a:rPr>
              <a:t>15</a:t>
            </a:fld>
            <a:endParaRPr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1" name="Google Shape;271;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2" name="Google Shape;272;p1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l-GR" sz="1200" b="0" i="0" u="none" strike="noStrike" cap="none">
                <a:solidFill>
                  <a:srgbClr val="000000"/>
                </a:solidFill>
                <a:latin typeface="Arial"/>
                <a:ea typeface="Arial"/>
                <a:cs typeface="Arial"/>
                <a:sym typeface="Arial"/>
              </a:rPr>
              <a:t>16</a:t>
            </a:fld>
            <a:endParaRPr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8" name="Google Shape;278;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9" name="Google Shape;279;p1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l-GR" sz="1200" b="0" i="0" u="none" strike="noStrike" cap="none">
                <a:solidFill>
                  <a:srgbClr val="000000"/>
                </a:solidFill>
                <a:latin typeface="Arial"/>
                <a:ea typeface="Arial"/>
                <a:cs typeface="Arial"/>
                <a:sym typeface="Arial"/>
              </a:rPr>
              <a:t>17</a:t>
            </a:fld>
            <a:endParaRPr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a:extLst>
            <a:ext uri="{FF2B5EF4-FFF2-40B4-BE49-F238E27FC236}">
              <a16:creationId xmlns:a16="http://schemas.microsoft.com/office/drawing/2014/main" id="{2D5DE73F-13DC-F3CE-5DB9-255EE729F0E5}"/>
            </a:ext>
          </a:extLst>
        </p:cNvPr>
        <p:cNvGrpSpPr/>
        <p:nvPr/>
      </p:nvGrpSpPr>
      <p:grpSpPr>
        <a:xfrm>
          <a:off x="0" y="0"/>
          <a:ext cx="0" cy="0"/>
          <a:chOff x="0" y="0"/>
          <a:chExt cx="0" cy="0"/>
        </a:xfrm>
      </p:grpSpPr>
      <p:sp>
        <p:nvSpPr>
          <p:cNvPr id="303" name="Google Shape;303;p19:notes">
            <a:extLst>
              <a:ext uri="{FF2B5EF4-FFF2-40B4-BE49-F238E27FC236}">
                <a16:creationId xmlns:a16="http://schemas.microsoft.com/office/drawing/2014/main" id="{E3C98DF3-920C-530F-AE94-C5755AF186C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4" name="Google Shape;304;p19:notes">
            <a:extLst>
              <a:ext uri="{FF2B5EF4-FFF2-40B4-BE49-F238E27FC236}">
                <a16:creationId xmlns:a16="http://schemas.microsoft.com/office/drawing/2014/main" id="{677D4199-0835-E7EC-ACDD-8A7C891FAD74}"/>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5" name="Google Shape;305;p19:notes">
            <a:extLst>
              <a:ext uri="{FF2B5EF4-FFF2-40B4-BE49-F238E27FC236}">
                <a16:creationId xmlns:a16="http://schemas.microsoft.com/office/drawing/2014/main" id="{F56CBC9E-6244-DFC9-EC5C-11B1A1601268}"/>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l-GR" sz="1200" b="0" i="0" u="none" strike="noStrike" kern="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18</a:t>
            </a:fld>
            <a:endParaRPr kumimoji="0" sz="12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202633061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0" name="Google Shape;290;p1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1" name="Google Shape;291;p1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l-GR" sz="1200" b="0" i="0" u="none" strike="noStrike" cap="none">
                <a:solidFill>
                  <a:srgbClr val="000000"/>
                </a:solidFill>
                <a:latin typeface="Arial"/>
                <a:ea typeface="Arial"/>
                <a:cs typeface="Arial"/>
                <a:sym typeface="Arial"/>
              </a:rPr>
              <a:t>19</a:t>
            </a:fld>
            <a:endParaRPr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4" name="Google Shape;304;p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5" name="Google Shape;305;p1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l-GR" sz="1200" b="0" i="0" u="none" strike="noStrike" cap="none">
                <a:solidFill>
                  <a:srgbClr val="000000"/>
                </a:solidFill>
                <a:latin typeface="Arial"/>
                <a:ea typeface="Arial"/>
                <a:cs typeface="Arial"/>
                <a:sym typeface="Arial"/>
              </a:rPr>
              <a:t>20</a:t>
            </a:fld>
            <a:endParaRPr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a:extLst>
            <a:ext uri="{FF2B5EF4-FFF2-40B4-BE49-F238E27FC236}">
              <a16:creationId xmlns:a16="http://schemas.microsoft.com/office/drawing/2014/main" id="{A754C9CC-5ED8-6653-A2E6-F36575C8F4FC}"/>
            </a:ext>
          </a:extLst>
        </p:cNvPr>
        <p:cNvGrpSpPr/>
        <p:nvPr/>
      </p:nvGrpSpPr>
      <p:grpSpPr>
        <a:xfrm>
          <a:off x="0" y="0"/>
          <a:ext cx="0" cy="0"/>
          <a:chOff x="0" y="0"/>
          <a:chExt cx="0" cy="0"/>
        </a:xfrm>
      </p:grpSpPr>
      <p:sp>
        <p:nvSpPr>
          <p:cNvPr id="303" name="Google Shape;303;p19:notes">
            <a:extLst>
              <a:ext uri="{FF2B5EF4-FFF2-40B4-BE49-F238E27FC236}">
                <a16:creationId xmlns:a16="http://schemas.microsoft.com/office/drawing/2014/main" id="{C7AF1413-A0BF-2784-218C-7BBCC6C3CE8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4" name="Google Shape;304;p19:notes">
            <a:extLst>
              <a:ext uri="{FF2B5EF4-FFF2-40B4-BE49-F238E27FC236}">
                <a16:creationId xmlns:a16="http://schemas.microsoft.com/office/drawing/2014/main" id="{82ADFA58-8A5A-9719-69FD-FD16C329709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5" name="Google Shape;305;p19:notes">
            <a:extLst>
              <a:ext uri="{FF2B5EF4-FFF2-40B4-BE49-F238E27FC236}">
                <a16:creationId xmlns:a16="http://schemas.microsoft.com/office/drawing/2014/main" id="{280A37F8-24F0-C8EC-4404-F93A392BEA9A}"/>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l-GR" sz="1200" b="0" i="0" u="none" strike="noStrike" kern="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21</a:t>
            </a:fld>
            <a:endParaRPr kumimoji="0" sz="12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347382027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5" name="Google Shape;315;p2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6" name="Google Shape;316;p2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l-GR" sz="1200" b="0" i="0" u="none" strike="noStrike" cap="none">
                <a:solidFill>
                  <a:srgbClr val="000000"/>
                </a:solidFill>
                <a:latin typeface="Arial"/>
                <a:ea typeface="Arial"/>
                <a:cs typeface="Arial"/>
                <a:sym typeface="Arial"/>
              </a:rPr>
              <a:t>22</a:t>
            </a:fld>
            <a:endParaRPr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p2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0" name="Google Shape;340;p2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l-GR" sz="1200" b="0" i="0" u="none" strike="noStrike" cap="none">
                <a:solidFill>
                  <a:srgbClr val="000000"/>
                </a:solidFill>
                <a:latin typeface="Arial"/>
                <a:ea typeface="Arial"/>
                <a:cs typeface="Arial"/>
                <a:sym typeface="Arial"/>
              </a:rPr>
              <a:t>23</a:t>
            </a:fld>
            <a:endParaRPr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8"/>
        <p:cNvGrpSpPr/>
        <p:nvPr/>
      </p:nvGrpSpPr>
      <p:grpSpPr>
        <a:xfrm>
          <a:off x="0" y="0"/>
          <a:ext cx="0" cy="0"/>
          <a:chOff x="0" y="0"/>
          <a:chExt cx="0" cy="0"/>
        </a:xfrm>
      </p:grpSpPr>
      <p:sp>
        <p:nvSpPr>
          <p:cNvPr id="349" name="Google Shape;349;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0" name="Google Shape;350;p2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1" name="Google Shape;351;p2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l-GR" sz="1200" b="0" i="0" u="none" strike="noStrike" cap="none">
                <a:solidFill>
                  <a:srgbClr val="000000"/>
                </a:solidFill>
                <a:latin typeface="Arial"/>
                <a:ea typeface="Arial"/>
                <a:cs typeface="Arial"/>
                <a:sym typeface="Arial"/>
              </a:rPr>
              <a:t>24</a:t>
            </a:fld>
            <a:endParaRPr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1" name="Google Shape;361;p2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2" name="Google Shape;362;p2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l-GR" sz="1200" b="0" i="0" u="none" strike="noStrike" cap="none">
                <a:solidFill>
                  <a:srgbClr val="000000"/>
                </a:solidFill>
                <a:latin typeface="Arial"/>
                <a:ea typeface="Arial"/>
                <a:cs typeface="Arial"/>
                <a:sym typeface="Arial"/>
              </a:rPr>
              <a:t>25</a:t>
            </a:fld>
            <a:endParaRPr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Google Shape;431;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32" name="Google Shape;432;p3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3" name="Google Shape;433;p3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l-GR" sz="1200" b="0" i="0" u="none" strike="noStrike" cap="none">
                <a:solidFill>
                  <a:srgbClr val="000000"/>
                </a:solidFill>
                <a:latin typeface="Arial"/>
                <a:ea typeface="Arial"/>
                <a:cs typeface="Arial"/>
                <a:sym typeface="Arial"/>
              </a:rPr>
              <a:t>26</a:t>
            </a:fld>
            <a:endParaRPr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2"/>
        <p:cNvGrpSpPr/>
        <p:nvPr/>
      </p:nvGrpSpPr>
      <p:grpSpPr>
        <a:xfrm>
          <a:off x="0" y="0"/>
          <a:ext cx="0" cy="0"/>
          <a:chOff x="0" y="0"/>
          <a:chExt cx="0" cy="0"/>
        </a:xfrm>
      </p:grpSpPr>
      <p:sp>
        <p:nvSpPr>
          <p:cNvPr id="443" name="Google Shape;443;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4" name="Google Shape;444;p3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5" name="Google Shape;445;p3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l-GR" sz="1200" b="0" i="0" u="none" strike="noStrike" cap="none">
                <a:solidFill>
                  <a:srgbClr val="000000"/>
                </a:solidFill>
                <a:latin typeface="Arial"/>
                <a:ea typeface="Arial"/>
                <a:cs typeface="Arial"/>
                <a:sym typeface="Arial"/>
              </a:rPr>
              <a:t>27</a:t>
            </a:fld>
            <a:endParaRPr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9"/>
        <p:cNvGrpSpPr/>
        <p:nvPr/>
      </p:nvGrpSpPr>
      <p:grpSpPr>
        <a:xfrm>
          <a:off x="0" y="0"/>
          <a:ext cx="0" cy="0"/>
          <a:chOff x="0" y="0"/>
          <a:chExt cx="0" cy="0"/>
        </a:xfrm>
      </p:grpSpPr>
      <p:sp>
        <p:nvSpPr>
          <p:cNvPr id="450" name="Google Shape;450;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1" name="Google Shape;451;p3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2" name="Google Shape;452;p3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l-GR" sz="1200" b="0" i="0" u="none" strike="noStrike" cap="none">
                <a:solidFill>
                  <a:srgbClr val="000000"/>
                </a:solidFill>
                <a:latin typeface="Arial"/>
                <a:ea typeface="Arial"/>
                <a:cs typeface="Arial"/>
                <a:sym typeface="Arial"/>
              </a:rPr>
              <a:t>28</a:t>
            </a:fld>
            <a:endParaRPr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8"/>
        <p:cNvGrpSpPr/>
        <p:nvPr/>
      </p:nvGrpSpPr>
      <p:grpSpPr>
        <a:xfrm>
          <a:off x="0" y="0"/>
          <a:ext cx="0" cy="0"/>
          <a:chOff x="0" y="0"/>
          <a:chExt cx="0" cy="0"/>
        </a:xfrm>
      </p:grpSpPr>
      <p:sp>
        <p:nvSpPr>
          <p:cNvPr id="469" name="Google Shape;469;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70" name="Google Shape;470;p3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1" name="Google Shape;471;p3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l-GR" sz="1200" b="0" i="0" u="none" strike="noStrike" cap="none">
                <a:solidFill>
                  <a:srgbClr val="000000"/>
                </a:solidFill>
                <a:latin typeface="Arial"/>
                <a:ea typeface="Arial"/>
                <a:cs typeface="Arial"/>
                <a:sym typeface="Arial"/>
              </a:rPr>
              <a:t>29</a:t>
            </a:fld>
            <a:endParaRPr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
        <p:cNvGrpSpPr/>
        <p:nvPr/>
      </p:nvGrpSpPr>
      <p:grpSpPr>
        <a:xfrm>
          <a:off x="0" y="0"/>
          <a:ext cx="0" cy="0"/>
          <a:chOff x="0" y="0"/>
          <a:chExt cx="0" cy="0"/>
        </a:xfrm>
      </p:grpSpPr>
      <p:sp>
        <p:nvSpPr>
          <p:cNvPr id="487" name="Google Shape;487;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8" name="Google Shape;488;p3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9" name="Google Shape;489;p3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l-GR" sz="1200" b="0" i="0" u="none" strike="noStrike" cap="none">
                <a:solidFill>
                  <a:srgbClr val="000000"/>
                </a:solidFill>
                <a:latin typeface="Arial"/>
                <a:ea typeface="Arial"/>
                <a:cs typeface="Arial"/>
                <a:sym typeface="Arial"/>
              </a:rPr>
              <a:t>30</a:t>
            </a:fld>
            <a:endParaRPr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7"/>
        <p:cNvGrpSpPr/>
        <p:nvPr/>
      </p:nvGrpSpPr>
      <p:grpSpPr>
        <a:xfrm>
          <a:off x="0" y="0"/>
          <a:ext cx="0" cy="0"/>
          <a:chOff x="0" y="0"/>
          <a:chExt cx="0" cy="0"/>
        </a:xfrm>
      </p:grpSpPr>
      <p:sp>
        <p:nvSpPr>
          <p:cNvPr id="498" name="Google Shape;498;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99" name="Google Shape;499;p3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0" name="Google Shape;500;p3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l-GR" sz="1200" b="0" i="0" u="none" strike="noStrike" cap="none">
                <a:solidFill>
                  <a:srgbClr val="000000"/>
                </a:solidFill>
                <a:latin typeface="Arial"/>
                <a:ea typeface="Arial"/>
                <a:cs typeface="Arial"/>
                <a:sym typeface="Arial"/>
              </a:rPr>
              <a:t>31</a:t>
            </a:fld>
            <a:endParaRPr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4"/>
        <p:cNvGrpSpPr/>
        <p:nvPr/>
      </p:nvGrpSpPr>
      <p:grpSpPr>
        <a:xfrm>
          <a:off x="0" y="0"/>
          <a:ext cx="0" cy="0"/>
          <a:chOff x="0" y="0"/>
          <a:chExt cx="0" cy="0"/>
        </a:xfrm>
      </p:grpSpPr>
      <p:sp>
        <p:nvSpPr>
          <p:cNvPr id="505" name="Google Shape;505;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6" name="Google Shape;506;p3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7" name="Google Shape;507;p3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l-GR" sz="1200" b="0" i="0" u="none" strike="noStrike" cap="none">
                <a:solidFill>
                  <a:srgbClr val="000000"/>
                </a:solidFill>
                <a:latin typeface="Arial"/>
                <a:ea typeface="Arial"/>
                <a:cs typeface="Arial"/>
                <a:sym typeface="Arial"/>
              </a:rPr>
              <a:t>32</a:t>
            </a:fld>
            <a:endParaRPr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2"/>
        <p:cNvGrpSpPr/>
        <p:nvPr/>
      </p:nvGrpSpPr>
      <p:grpSpPr>
        <a:xfrm>
          <a:off x="0" y="0"/>
          <a:ext cx="0" cy="0"/>
          <a:chOff x="0" y="0"/>
          <a:chExt cx="0" cy="0"/>
        </a:xfrm>
      </p:grpSpPr>
      <p:sp>
        <p:nvSpPr>
          <p:cNvPr id="513" name="Google Shape;513;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14" name="Google Shape;514;p3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5" name="Google Shape;515;p3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l-GR" sz="1200" b="0" i="0" u="none" strike="noStrike" cap="none">
                <a:solidFill>
                  <a:srgbClr val="000000"/>
                </a:solidFill>
                <a:latin typeface="Arial"/>
                <a:ea typeface="Arial"/>
                <a:cs typeface="Arial"/>
                <a:sym typeface="Arial"/>
              </a:rPr>
              <a:t>33</a:t>
            </a:fld>
            <a:endParaRPr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0"/>
        <p:cNvGrpSpPr/>
        <p:nvPr/>
      </p:nvGrpSpPr>
      <p:grpSpPr>
        <a:xfrm>
          <a:off x="0" y="0"/>
          <a:ext cx="0" cy="0"/>
          <a:chOff x="0" y="0"/>
          <a:chExt cx="0" cy="0"/>
        </a:xfrm>
      </p:grpSpPr>
      <p:sp>
        <p:nvSpPr>
          <p:cNvPr id="531" name="Google Shape;531;p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32" name="Google Shape;532;p4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33" name="Google Shape;533;p4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l-GR" sz="1200" b="0" i="0" u="none" strike="noStrike" cap="none">
                <a:solidFill>
                  <a:srgbClr val="000000"/>
                </a:solidFill>
                <a:latin typeface="Arial"/>
                <a:ea typeface="Arial"/>
                <a:cs typeface="Arial"/>
                <a:sym typeface="Arial"/>
              </a:rPr>
              <a:t>34</a:t>
            </a:fld>
            <a:endParaRPr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2"/>
        <p:cNvGrpSpPr/>
        <p:nvPr/>
      </p:nvGrpSpPr>
      <p:grpSpPr>
        <a:xfrm>
          <a:off x="0" y="0"/>
          <a:ext cx="0" cy="0"/>
          <a:chOff x="0" y="0"/>
          <a:chExt cx="0" cy="0"/>
        </a:xfrm>
      </p:grpSpPr>
      <p:sp>
        <p:nvSpPr>
          <p:cNvPr id="543" name="Google Shape;543;p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44" name="Google Shape;544;p4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45" name="Google Shape;545;p4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l-GR" sz="1200" b="0" i="0" u="none" strike="noStrike" cap="none">
                <a:solidFill>
                  <a:srgbClr val="000000"/>
                </a:solidFill>
                <a:latin typeface="Arial"/>
                <a:ea typeface="Arial"/>
                <a:cs typeface="Arial"/>
                <a:sym typeface="Arial"/>
              </a:rPr>
              <a:t>35</a:t>
            </a:fld>
            <a:endParaRPr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9"/>
        <p:cNvGrpSpPr/>
        <p:nvPr/>
      </p:nvGrpSpPr>
      <p:grpSpPr>
        <a:xfrm>
          <a:off x="0" y="0"/>
          <a:ext cx="0" cy="0"/>
          <a:chOff x="0" y="0"/>
          <a:chExt cx="0" cy="0"/>
        </a:xfrm>
      </p:grpSpPr>
      <p:sp>
        <p:nvSpPr>
          <p:cNvPr id="550" name="Google Shape;550;p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51" name="Google Shape;551;p4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52" name="Google Shape;552;p4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l-GR" sz="1200" b="0" i="0" u="none" strike="noStrike" cap="none">
                <a:solidFill>
                  <a:srgbClr val="000000"/>
                </a:solidFill>
                <a:latin typeface="Arial"/>
                <a:ea typeface="Arial"/>
                <a:cs typeface="Arial"/>
                <a:sym typeface="Arial"/>
              </a:rPr>
              <a:t>36</a:t>
            </a:fld>
            <a:endParaRPr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1"/>
        <p:cNvGrpSpPr/>
        <p:nvPr/>
      </p:nvGrpSpPr>
      <p:grpSpPr>
        <a:xfrm>
          <a:off x="0" y="0"/>
          <a:ext cx="0" cy="0"/>
          <a:chOff x="0" y="0"/>
          <a:chExt cx="0" cy="0"/>
        </a:xfrm>
      </p:grpSpPr>
      <p:sp>
        <p:nvSpPr>
          <p:cNvPr id="562" name="Google Shape;562;p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63" name="Google Shape;563;p4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64" name="Google Shape;564;p4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l-GR" sz="1200" b="0" i="0" u="none" strike="noStrike" cap="none">
                <a:solidFill>
                  <a:srgbClr val="000000"/>
                </a:solidFill>
                <a:latin typeface="Arial"/>
                <a:ea typeface="Arial"/>
                <a:cs typeface="Arial"/>
                <a:sym typeface="Arial"/>
              </a:rPr>
              <a:t>37</a:t>
            </a:fld>
            <a:endParaRPr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2"/>
        <p:cNvGrpSpPr/>
        <p:nvPr/>
      </p:nvGrpSpPr>
      <p:grpSpPr>
        <a:xfrm>
          <a:off x="0" y="0"/>
          <a:ext cx="0" cy="0"/>
          <a:chOff x="0" y="0"/>
          <a:chExt cx="0" cy="0"/>
        </a:xfrm>
      </p:grpSpPr>
      <p:sp>
        <p:nvSpPr>
          <p:cNvPr id="573" name="Google Shape;573;p4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74" name="Google Shape;574;p4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5" name="Google Shape;575;p4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l-GR" sz="1200" b="0" i="0" u="none" strike="noStrike" cap="none">
                <a:solidFill>
                  <a:srgbClr val="000000"/>
                </a:solidFill>
                <a:latin typeface="Arial"/>
                <a:ea typeface="Arial"/>
                <a:cs typeface="Arial"/>
                <a:sym typeface="Arial"/>
              </a:rPr>
              <a:t>38</a:t>
            </a:fld>
            <a:endParaRPr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4"/>
        <p:cNvGrpSpPr/>
        <p:nvPr/>
      </p:nvGrpSpPr>
      <p:grpSpPr>
        <a:xfrm>
          <a:off x="0" y="0"/>
          <a:ext cx="0" cy="0"/>
          <a:chOff x="0" y="0"/>
          <a:chExt cx="0" cy="0"/>
        </a:xfrm>
      </p:grpSpPr>
      <p:sp>
        <p:nvSpPr>
          <p:cNvPr id="585" name="Google Shape;585;p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86" name="Google Shape;586;p4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87" name="Google Shape;587;p4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l-GR" sz="1200" b="0" i="0" u="none" strike="noStrike" cap="none">
                <a:solidFill>
                  <a:srgbClr val="000000"/>
                </a:solidFill>
                <a:latin typeface="Arial"/>
                <a:ea typeface="Arial"/>
                <a:cs typeface="Arial"/>
                <a:sym typeface="Arial"/>
              </a:rPr>
              <a:t>39</a:t>
            </a:fld>
            <a:endParaRPr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p:cNvGrpSpPr/>
        <p:nvPr/>
      </p:nvGrpSpPr>
      <p:grpSpPr>
        <a:xfrm>
          <a:off x="0" y="0"/>
          <a:ext cx="0" cy="0"/>
          <a:chOff x="0" y="0"/>
          <a:chExt cx="0" cy="0"/>
        </a:xfrm>
      </p:grpSpPr>
      <p:sp>
        <p:nvSpPr>
          <p:cNvPr id="371" name="Google Shape;371;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2" name="Google Shape;372;p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3" name="Google Shape;373;p2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l-GR" sz="1200" b="0" i="0" u="none" strike="noStrike" cap="none">
                <a:solidFill>
                  <a:srgbClr val="000000"/>
                </a:solidFill>
                <a:latin typeface="Arial"/>
                <a:ea typeface="Arial"/>
                <a:cs typeface="Arial"/>
                <a:sym typeface="Arial"/>
              </a:rPr>
              <a:t>40</a:t>
            </a:fld>
            <a:endParaRPr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2"/>
        <p:cNvGrpSpPr/>
        <p:nvPr/>
      </p:nvGrpSpPr>
      <p:grpSpPr>
        <a:xfrm>
          <a:off x="0" y="0"/>
          <a:ext cx="0" cy="0"/>
          <a:chOff x="0" y="0"/>
          <a:chExt cx="0" cy="0"/>
        </a:xfrm>
      </p:grpSpPr>
      <p:sp>
        <p:nvSpPr>
          <p:cNvPr id="383" name="Google Shape;383;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4" name="Google Shape;384;p2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5" name="Google Shape;385;p2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l-GR" sz="1200" b="0" i="0" u="none" strike="noStrike" cap="none">
                <a:solidFill>
                  <a:srgbClr val="000000"/>
                </a:solidFill>
                <a:latin typeface="Arial"/>
                <a:ea typeface="Arial"/>
                <a:cs typeface="Arial"/>
                <a:sym typeface="Arial"/>
              </a:rPr>
              <a:t>41</a:t>
            </a:fld>
            <a:endParaRPr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4"/>
        <p:cNvGrpSpPr/>
        <p:nvPr/>
      </p:nvGrpSpPr>
      <p:grpSpPr>
        <a:xfrm>
          <a:off x="0" y="0"/>
          <a:ext cx="0" cy="0"/>
          <a:chOff x="0" y="0"/>
          <a:chExt cx="0" cy="0"/>
        </a:xfrm>
      </p:grpSpPr>
      <p:sp>
        <p:nvSpPr>
          <p:cNvPr id="395" name="Google Shape;395;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6" name="Google Shape;396;p2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7" name="Google Shape;397;p2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l-GR" sz="1200" b="0" i="0" u="none" strike="noStrike" cap="none">
                <a:solidFill>
                  <a:srgbClr val="000000"/>
                </a:solidFill>
                <a:latin typeface="Arial"/>
                <a:ea typeface="Arial"/>
                <a:cs typeface="Arial"/>
                <a:sym typeface="Arial"/>
              </a:rPr>
              <a:t>42</a:t>
            </a:fld>
            <a:endParaRPr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6"/>
        <p:cNvGrpSpPr/>
        <p:nvPr/>
      </p:nvGrpSpPr>
      <p:grpSpPr>
        <a:xfrm>
          <a:off x="0" y="0"/>
          <a:ext cx="0" cy="0"/>
          <a:chOff x="0" y="0"/>
          <a:chExt cx="0" cy="0"/>
        </a:xfrm>
      </p:grpSpPr>
      <p:sp>
        <p:nvSpPr>
          <p:cNvPr id="607" name="Google Shape;607;p4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08" name="Google Shape;608;p4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9" name="Google Shape;609;p4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l-GR" sz="1200" b="0" i="0" u="none" strike="noStrike" cap="none">
                <a:solidFill>
                  <a:srgbClr val="000000"/>
                </a:solidFill>
                <a:latin typeface="Arial"/>
                <a:ea typeface="Arial"/>
                <a:cs typeface="Arial"/>
                <a:sym typeface="Arial"/>
              </a:rPr>
              <a:t>43</a:t>
            </a:fld>
            <a:endParaRPr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6">
          <a:extLst>
            <a:ext uri="{FF2B5EF4-FFF2-40B4-BE49-F238E27FC236}">
              <a16:creationId xmlns:a16="http://schemas.microsoft.com/office/drawing/2014/main" id="{FA996CDA-8086-EF33-CB79-C0C4B3683A9B}"/>
            </a:ext>
          </a:extLst>
        </p:cNvPr>
        <p:cNvGrpSpPr/>
        <p:nvPr/>
      </p:nvGrpSpPr>
      <p:grpSpPr>
        <a:xfrm>
          <a:off x="0" y="0"/>
          <a:ext cx="0" cy="0"/>
          <a:chOff x="0" y="0"/>
          <a:chExt cx="0" cy="0"/>
        </a:xfrm>
      </p:grpSpPr>
      <p:sp>
        <p:nvSpPr>
          <p:cNvPr id="607" name="Google Shape;607;p47:notes">
            <a:extLst>
              <a:ext uri="{FF2B5EF4-FFF2-40B4-BE49-F238E27FC236}">
                <a16:creationId xmlns:a16="http://schemas.microsoft.com/office/drawing/2014/main" id="{793AE5C8-CE0B-6879-1182-8D4A7A7617A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08" name="Google Shape;608;p47:notes">
            <a:extLst>
              <a:ext uri="{FF2B5EF4-FFF2-40B4-BE49-F238E27FC236}">
                <a16:creationId xmlns:a16="http://schemas.microsoft.com/office/drawing/2014/main" id="{378A3035-B795-2ABD-C340-2D68F0F8F3A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9" name="Google Shape;609;p47:notes">
            <a:extLst>
              <a:ext uri="{FF2B5EF4-FFF2-40B4-BE49-F238E27FC236}">
                <a16:creationId xmlns:a16="http://schemas.microsoft.com/office/drawing/2014/main" id="{E6A109CB-6567-0231-CBF0-3EC9097220A7}"/>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l-GR" sz="1200" b="0" i="0" u="none" strike="noStrike" kern="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44</a:t>
            </a:fld>
            <a:endParaRPr kumimoji="0" sz="12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308435880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3"/>
        <p:cNvGrpSpPr/>
        <p:nvPr/>
      </p:nvGrpSpPr>
      <p:grpSpPr>
        <a:xfrm>
          <a:off x="0" y="0"/>
          <a:ext cx="0" cy="0"/>
          <a:chOff x="0" y="0"/>
          <a:chExt cx="0" cy="0"/>
        </a:xfrm>
      </p:grpSpPr>
      <p:sp>
        <p:nvSpPr>
          <p:cNvPr id="614" name="Google Shape;614;p4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15" name="Google Shape;615;p4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6" name="Google Shape;616;p4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l-GR" sz="1200" b="0" i="0" u="none" strike="noStrike" cap="none">
                <a:solidFill>
                  <a:srgbClr val="000000"/>
                </a:solidFill>
                <a:latin typeface="Arial"/>
                <a:ea typeface="Arial"/>
                <a:cs typeface="Arial"/>
                <a:sym typeface="Arial"/>
              </a:rPr>
              <a:t>45</a:t>
            </a:fld>
            <a:endParaRPr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5"/>
        <p:cNvGrpSpPr/>
        <p:nvPr/>
      </p:nvGrpSpPr>
      <p:grpSpPr>
        <a:xfrm>
          <a:off x="0" y="0"/>
          <a:ext cx="0" cy="0"/>
          <a:chOff x="0" y="0"/>
          <a:chExt cx="0" cy="0"/>
        </a:xfrm>
      </p:grpSpPr>
      <p:sp>
        <p:nvSpPr>
          <p:cNvPr id="626" name="Google Shape;626;p4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27" name="Google Shape;627;p4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28" name="Google Shape;628;p4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l-GR" sz="1200" b="0" i="0" u="none" strike="noStrike" cap="none">
                <a:solidFill>
                  <a:srgbClr val="000000"/>
                </a:solidFill>
                <a:latin typeface="Arial"/>
                <a:ea typeface="Arial"/>
                <a:cs typeface="Arial"/>
                <a:sym typeface="Arial"/>
              </a:rPr>
              <a:t>46</a:t>
            </a:fld>
            <a:endParaRPr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7"/>
        <p:cNvGrpSpPr/>
        <p:nvPr/>
      </p:nvGrpSpPr>
      <p:grpSpPr>
        <a:xfrm>
          <a:off x="0" y="0"/>
          <a:ext cx="0" cy="0"/>
          <a:chOff x="0" y="0"/>
          <a:chExt cx="0" cy="0"/>
        </a:xfrm>
      </p:grpSpPr>
      <p:sp>
        <p:nvSpPr>
          <p:cNvPr id="638" name="Google Shape;638;p5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39" name="Google Shape;639;p5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40" name="Google Shape;640;p5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l-GR" sz="1200" b="0" i="0" u="none" strike="noStrike" cap="none">
                <a:solidFill>
                  <a:srgbClr val="000000"/>
                </a:solidFill>
                <a:latin typeface="Arial"/>
                <a:ea typeface="Arial"/>
                <a:cs typeface="Arial"/>
                <a:sym typeface="Arial"/>
              </a:rPr>
              <a:t>47</a:t>
            </a:fld>
            <a:endParaRPr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9"/>
        <p:cNvGrpSpPr/>
        <p:nvPr/>
      </p:nvGrpSpPr>
      <p:grpSpPr>
        <a:xfrm>
          <a:off x="0" y="0"/>
          <a:ext cx="0" cy="0"/>
          <a:chOff x="0" y="0"/>
          <a:chExt cx="0" cy="0"/>
        </a:xfrm>
      </p:grpSpPr>
      <p:sp>
        <p:nvSpPr>
          <p:cNvPr id="650" name="Google Shape;650;p5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1" name="Google Shape;651;p5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52" name="Google Shape;652;p5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l-GR" sz="1200" b="0" i="0" u="none" strike="noStrike" cap="none">
                <a:solidFill>
                  <a:srgbClr val="000000"/>
                </a:solidFill>
                <a:latin typeface="Arial"/>
                <a:ea typeface="Arial"/>
                <a:cs typeface="Arial"/>
                <a:sym typeface="Arial"/>
              </a:rPr>
              <a:t>48</a:t>
            </a:fld>
            <a:endParaRPr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0"/>
        <p:cNvGrpSpPr/>
        <p:nvPr/>
      </p:nvGrpSpPr>
      <p:grpSpPr>
        <a:xfrm>
          <a:off x="0" y="0"/>
          <a:ext cx="0" cy="0"/>
          <a:chOff x="0" y="0"/>
          <a:chExt cx="0" cy="0"/>
        </a:xfrm>
      </p:grpSpPr>
      <p:sp>
        <p:nvSpPr>
          <p:cNvPr id="661" name="Google Shape;661;p5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62" name="Google Shape;662;p5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6"/>
        <p:cNvGrpSpPr/>
        <p:nvPr/>
      </p:nvGrpSpPr>
      <p:grpSpPr>
        <a:xfrm>
          <a:off x="0" y="0"/>
          <a:ext cx="0" cy="0"/>
          <a:chOff x="0" y="0"/>
          <a:chExt cx="0" cy="0"/>
        </a:xfrm>
      </p:grpSpPr>
      <p:sp>
        <p:nvSpPr>
          <p:cNvPr id="667" name="Google Shape;667;p5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68" name="Google Shape;668;p5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2"/>
        <p:cNvGrpSpPr/>
        <p:nvPr/>
      </p:nvGrpSpPr>
      <p:grpSpPr>
        <a:xfrm>
          <a:off x="0" y="0"/>
          <a:ext cx="0" cy="0"/>
          <a:chOff x="0" y="0"/>
          <a:chExt cx="0" cy="0"/>
        </a:xfrm>
      </p:grpSpPr>
      <p:sp>
        <p:nvSpPr>
          <p:cNvPr id="673" name="Google Shape;673;p5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74" name="Google Shape;674;p5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8"/>
        <p:cNvGrpSpPr/>
        <p:nvPr/>
      </p:nvGrpSpPr>
      <p:grpSpPr>
        <a:xfrm>
          <a:off x="0" y="0"/>
          <a:ext cx="0" cy="0"/>
          <a:chOff x="0" y="0"/>
          <a:chExt cx="0" cy="0"/>
        </a:xfrm>
      </p:grpSpPr>
      <p:sp>
        <p:nvSpPr>
          <p:cNvPr id="679" name="Google Shape;679;p5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80" name="Google Shape;680;p5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4"/>
        <p:cNvGrpSpPr/>
        <p:nvPr/>
      </p:nvGrpSpPr>
      <p:grpSpPr>
        <a:xfrm>
          <a:off x="0" y="0"/>
          <a:ext cx="0" cy="0"/>
          <a:chOff x="0" y="0"/>
          <a:chExt cx="0" cy="0"/>
        </a:xfrm>
      </p:grpSpPr>
      <p:sp>
        <p:nvSpPr>
          <p:cNvPr id="685" name="Google Shape;685;p5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86" name="Google Shape;686;p5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6"/>
        <p:cNvGrpSpPr/>
        <p:nvPr/>
      </p:nvGrpSpPr>
      <p:grpSpPr>
        <a:xfrm>
          <a:off x="0" y="0"/>
          <a:ext cx="0" cy="0"/>
          <a:chOff x="0" y="0"/>
          <a:chExt cx="0" cy="0"/>
        </a:xfrm>
      </p:grpSpPr>
      <p:sp>
        <p:nvSpPr>
          <p:cNvPr id="697" name="Google Shape;697;p5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8" name="Google Shape;698;p5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99" name="Google Shape;699;p5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l-GR" sz="1200" b="0" i="0" u="none" strike="noStrike" cap="none">
                <a:solidFill>
                  <a:srgbClr val="000000"/>
                </a:solidFill>
                <a:latin typeface="Arial"/>
                <a:ea typeface="Arial"/>
                <a:cs typeface="Arial"/>
                <a:sym typeface="Arial"/>
              </a:rPr>
              <a:t>54</a:t>
            </a:fld>
            <a:endParaRPr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3"/>
        <p:cNvGrpSpPr/>
        <p:nvPr/>
      </p:nvGrpSpPr>
      <p:grpSpPr>
        <a:xfrm>
          <a:off x="0" y="0"/>
          <a:ext cx="0" cy="0"/>
          <a:chOff x="0" y="0"/>
          <a:chExt cx="0" cy="0"/>
        </a:xfrm>
      </p:grpSpPr>
      <p:sp>
        <p:nvSpPr>
          <p:cNvPr id="704" name="Google Shape;704;p5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05" name="Google Shape;705;p5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06" name="Google Shape;706;p5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l-GR" sz="1200" b="0" i="0" u="none" strike="noStrike" cap="none">
                <a:solidFill>
                  <a:srgbClr val="000000"/>
                </a:solidFill>
                <a:latin typeface="Arial"/>
                <a:ea typeface="Arial"/>
                <a:cs typeface="Arial"/>
                <a:sym typeface="Arial"/>
              </a:rPr>
              <a:t>55</a:t>
            </a:fld>
            <a:endParaRPr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0"/>
        <p:cNvGrpSpPr/>
        <p:nvPr/>
      </p:nvGrpSpPr>
      <p:grpSpPr>
        <a:xfrm>
          <a:off x="0" y="0"/>
          <a:ext cx="0" cy="0"/>
          <a:chOff x="0" y="0"/>
          <a:chExt cx="0" cy="0"/>
        </a:xfrm>
      </p:grpSpPr>
      <p:sp>
        <p:nvSpPr>
          <p:cNvPr id="711" name="Google Shape;711;p5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12" name="Google Shape;712;p5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13" name="Google Shape;713;p5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l-GR" sz="1200" b="0" i="0" u="none" strike="noStrike" cap="none">
                <a:solidFill>
                  <a:srgbClr val="000000"/>
                </a:solidFill>
                <a:latin typeface="Arial"/>
                <a:ea typeface="Arial"/>
                <a:cs typeface="Arial"/>
                <a:sym typeface="Arial"/>
              </a:rPr>
              <a:t>56</a:t>
            </a:fld>
            <a:endParaRPr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1"/>
        <p:cNvGrpSpPr/>
        <p:nvPr/>
      </p:nvGrpSpPr>
      <p:grpSpPr>
        <a:xfrm>
          <a:off x="0" y="0"/>
          <a:ext cx="0" cy="0"/>
          <a:chOff x="0" y="0"/>
          <a:chExt cx="0" cy="0"/>
        </a:xfrm>
      </p:grpSpPr>
      <p:sp>
        <p:nvSpPr>
          <p:cNvPr id="722" name="Google Shape;722;p6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3" name="Google Shape;723;p6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24" name="Google Shape;724;p6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l-GR" sz="1200" b="0" i="0" u="none" strike="noStrike" cap="none">
                <a:solidFill>
                  <a:srgbClr val="000000"/>
                </a:solidFill>
                <a:latin typeface="Arial"/>
                <a:ea typeface="Arial"/>
                <a:cs typeface="Arial"/>
                <a:sym typeface="Arial"/>
              </a:rPr>
              <a:t>57</a:t>
            </a:fld>
            <a:endParaRPr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3"/>
        <p:cNvGrpSpPr/>
        <p:nvPr/>
      </p:nvGrpSpPr>
      <p:grpSpPr>
        <a:xfrm>
          <a:off x="0" y="0"/>
          <a:ext cx="0" cy="0"/>
          <a:chOff x="0" y="0"/>
          <a:chExt cx="0" cy="0"/>
        </a:xfrm>
      </p:grpSpPr>
      <p:sp>
        <p:nvSpPr>
          <p:cNvPr id="734" name="Google Shape;734;p6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35" name="Google Shape;735;p6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3">
          <a:extLst>
            <a:ext uri="{FF2B5EF4-FFF2-40B4-BE49-F238E27FC236}">
              <a16:creationId xmlns:a16="http://schemas.microsoft.com/office/drawing/2014/main" id="{1B3B0E61-F07E-1E2E-B63D-FC8F4A961946}"/>
            </a:ext>
          </a:extLst>
        </p:cNvPr>
        <p:cNvGrpSpPr/>
        <p:nvPr/>
      </p:nvGrpSpPr>
      <p:grpSpPr>
        <a:xfrm>
          <a:off x="0" y="0"/>
          <a:ext cx="0" cy="0"/>
          <a:chOff x="0" y="0"/>
          <a:chExt cx="0" cy="0"/>
        </a:xfrm>
      </p:grpSpPr>
      <p:sp>
        <p:nvSpPr>
          <p:cNvPr id="734" name="Google Shape;734;p61:notes">
            <a:extLst>
              <a:ext uri="{FF2B5EF4-FFF2-40B4-BE49-F238E27FC236}">
                <a16:creationId xmlns:a16="http://schemas.microsoft.com/office/drawing/2014/main" id="{5BDFF7F2-EEED-6E0B-02A5-DD875E3A6084}"/>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35" name="Google Shape;735;p61:notes">
            <a:extLst>
              <a:ext uri="{FF2B5EF4-FFF2-40B4-BE49-F238E27FC236}">
                <a16:creationId xmlns:a16="http://schemas.microsoft.com/office/drawing/2014/main" id="{F0C87FE0-9AF5-DCE9-CE86-5300CA9AB05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842609"/>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9"/>
        <p:cNvGrpSpPr/>
        <p:nvPr/>
      </p:nvGrpSpPr>
      <p:grpSpPr>
        <a:xfrm>
          <a:off x="0" y="0"/>
          <a:ext cx="0" cy="0"/>
          <a:chOff x="0" y="0"/>
          <a:chExt cx="0" cy="0"/>
        </a:xfrm>
      </p:grpSpPr>
      <p:sp>
        <p:nvSpPr>
          <p:cNvPr id="740" name="Google Shape;740;p6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41" name="Google Shape;741;p6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4"/>
        <p:cNvGrpSpPr/>
        <p:nvPr/>
      </p:nvGrpSpPr>
      <p:grpSpPr>
        <a:xfrm>
          <a:off x="0" y="0"/>
          <a:ext cx="0" cy="0"/>
          <a:chOff x="0" y="0"/>
          <a:chExt cx="0" cy="0"/>
        </a:xfrm>
      </p:grpSpPr>
      <p:sp>
        <p:nvSpPr>
          <p:cNvPr id="755" name="Google Shape;755;p6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6" name="Google Shape;756;p6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57" name="Google Shape;757;p6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l-GR" sz="1200" b="0" i="0" u="none" strike="noStrike" cap="none">
                <a:solidFill>
                  <a:srgbClr val="000000"/>
                </a:solidFill>
                <a:latin typeface="Arial"/>
                <a:ea typeface="Arial"/>
                <a:cs typeface="Arial"/>
                <a:sym typeface="Arial"/>
              </a:rPr>
              <a:t>61</a:t>
            </a:fld>
            <a:endParaRPr sz="1200" b="0" i="0" u="none" strike="noStrike" cap="non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68"/>
          <p:cNvSpPr txBox="1">
            <a:spLocks noGrp="1"/>
          </p:cNvSpPr>
          <p:nvPr>
            <p:ph type="ctrTitle"/>
          </p:nvPr>
        </p:nvSpPr>
        <p:spPr>
          <a:xfrm>
            <a:off x="576072" y="1124712"/>
            <a:ext cx="11036808" cy="3172968"/>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8000"/>
              <a:buFont typeface="Avenir"/>
              <a:buNone/>
              <a:defRPr sz="8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68"/>
          <p:cNvSpPr txBox="1">
            <a:spLocks noGrp="1"/>
          </p:cNvSpPr>
          <p:nvPr>
            <p:ph type="subTitle" idx="1"/>
          </p:nvPr>
        </p:nvSpPr>
        <p:spPr>
          <a:xfrm>
            <a:off x="576072" y="4727448"/>
            <a:ext cx="11036808" cy="1481328"/>
          </a:xfrm>
          <a:prstGeom prst="rect">
            <a:avLst/>
          </a:prstGeom>
          <a:noFill/>
          <a:ln>
            <a:noFill/>
          </a:ln>
        </p:spPr>
        <p:txBody>
          <a:bodyPr spcFirstLastPara="1" wrap="square" lIns="91425" tIns="45700" rIns="91425" bIns="45700" anchor="t" anchorCtr="0">
            <a:normAutofit/>
          </a:bodyPr>
          <a:lstStyle>
            <a:lvl1pPr lvl="0" algn="l">
              <a:lnSpc>
                <a:spcPct val="110000"/>
              </a:lnSpc>
              <a:spcBef>
                <a:spcPts val="1000"/>
              </a:spcBef>
              <a:spcAft>
                <a:spcPts val="0"/>
              </a:spcAft>
              <a:buClr>
                <a:schemeClr val="lt1"/>
              </a:buClr>
              <a:buSzPts val="2800"/>
              <a:buNone/>
              <a:defRPr sz="2800"/>
            </a:lvl1pPr>
            <a:lvl2pPr lvl="1" algn="ctr">
              <a:lnSpc>
                <a:spcPct val="110000"/>
              </a:lnSpc>
              <a:spcBef>
                <a:spcPts val="500"/>
              </a:spcBef>
              <a:spcAft>
                <a:spcPts val="0"/>
              </a:spcAft>
              <a:buClr>
                <a:schemeClr val="lt1"/>
              </a:buClr>
              <a:buSzPts val="2000"/>
              <a:buNone/>
              <a:defRPr sz="2000"/>
            </a:lvl2pPr>
            <a:lvl3pPr lvl="2" algn="ctr">
              <a:lnSpc>
                <a:spcPct val="110000"/>
              </a:lnSpc>
              <a:spcBef>
                <a:spcPts val="500"/>
              </a:spcBef>
              <a:spcAft>
                <a:spcPts val="0"/>
              </a:spcAft>
              <a:buClr>
                <a:schemeClr val="lt1"/>
              </a:buClr>
              <a:buSzPts val="1800"/>
              <a:buNone/>
              <a:defRPr sz="1800"/>
            </a:lvl3pPr>
            <a:lvl4pPr lvl="3" algn="ctr">
              <a:lnSpc>
                <a:spcPct val="110000"/>
              </a:lnSpc>
              <a:spcBef>
                <a:spcPts val="500"/>
              </a:spcBef>
              <a:spcAft>
                <a:spcPts val="0"/>
              </a:spcAft>
              <a:buClr>
                <a:schemeClr val="lt1"/>
              </a:buClr>
              <a:buSzPts val="1600"/>
              <a:buNone/>
              <a:defRPr sz="1600"/>
            </a:lvl4pPr>
            <a:lvl5pPr lvl="4" algn="ctr">
              <a:lnSpc>
                <a:spcPct val="110000"/>
              </a:lnSpc>
              <a:spcBef>
                <a:spcPts val="500"/>
              </a:spcBef>
              <a:spcAft>
                <a:spcPts val="0"/>
              </a:spcAft>
              <a:buClr>
                <a:schemeClr val="lt1"/>
              </a:buClr>
              <a:buSzPts val="160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a:endParaRPr/>
          </a:p>
        </p:txBody>
      </p:sp>
      <p:sp>
        <p:nvSpPr>
          <p:cNvPr id="18" name="Google Shape;18;p68"/>
          <p:cNvSpPr txBox="1">
            <a:spLocks noGrp="1"/>
          </p:cNvSpPr>
          <p:nvPr>
            <p:ph type="dt" idx="10"/>
          </p:nvPr>
        </p:nvSpPr>
        <p:spPr>
          <a:xfrm>
            <a:off x="576072"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6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68"/>
          <p:cNvSpPr txBox="1">
            <a:spLocks noGrp="1"/>
          </p:cNvSpPr>
          <p:nvPr>
            <p:ph type="sldNum" idx="12"/>
          </p:nvPr>
        </p:nvSpPr>
        <p:spPr>
          <a:xfrm>
            <a:off x="886968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l-GR"/>
              <a:t>‹#›</a:t>
            </a:fld>
            <a:endParaRPr/>
          </a:p>
        </p:txBody>
      </p:sp>
      <p:sp>
        <p:nvSpPr>
          <p:cNvPr id="21" name="Google Shape;21;p68"/>
          <p:cNvSpPr/>
          <p:nvPr/>
        </p:nvSpPr>
        <p:spPr>
          <a:xfrm rot="5400000">
            <a:off x="857544" y="346791"/>
            <a:ext cx="146304" cy="704088"/>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FFFFFF"/>
              </a:solidFill>
              <a:latin typeface="Calibri"/>
              <a:ea typeface="Calibri"/>
              <a:cs typeface="Calibri"/>
              <a:sym typeface="Calibri"/>
            </a:endParaRPr>
          </a:p>
        </p:txBody>
      </p:sp>
      <p:sp>
        <p:nvSpPr>
          <p:cNvPr id="22" name="Google Shape;22;p68"/>
          <p:cNvSpPr/>
          <p:nvPr/>
        </p:nvSpPr>
        <p:spPr>
          <a:xfrm rot="10800000" flipH="1">
            <a:off x="578652" y="4501201"/>
            <a:ext cx="11034696" cy="18288"/>
          </a:xfrm>
          <a:prstGeom prst="rect">
            <a:avLst/>
          </a:prstGeom>
          <a:solidFill>
            <a:srgbClr val="F8F8F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FFFFFF"/>
              </a:solidFill>
              <a:latin typeface="Calibri"/>
              <a:ea typeface="Calibri"/>
              <a:cs typeface="Calibri"/>
              <a:sym typeface="Calibri"/>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9"/>
        <p:cNvGrpSpPr/>
        <p:nvPr/>
      </p:nvGrpSpPr>
      <p:grpSpPr>
        <a:xfrm>
          <a:off x="0" y="0"/>
          <a:ext cx="0" cy="0"/>
          <a:chOff x="0" y="0"/>
          <a:chExt cx="0" cy="0"/>
        </a:xfrm>
      </p:grpSpPr>
      <p:sp>
        <p:nvSpPr>
          <p:cNvPr id="30" name="Google Shape;30;p69"/>
          <p:cNvSpPr/>
          <p:nvPr/>
        </p:nvSpPr>
        <p:spPr>
          <a:xfrm>
            <a:off x="558209" y="0"/>
            <a:ext cx="11167447" cy="2018806"/>
          </a:xfrm>
          <a:prstGeom prst="rect">
            <a:avLst/>
          </a:prstGeom>
          <a:solidFill>
            <a:schemeClr val="lt1"/>
          </a:solidFill>
          <a:ln w="9525" cap="flat" cmpd="sng">
            <a:solidFill>
              <a:srgbClr val="F1E3F1"/>
            </a:solidFill>
            <a:prstDash val="solid"/>
            <a:miter lim="800000"/>
            <a:headEnd type="none" w="sm" len="sm"/>
            <a:tailEnd type="none" w="sm" len="sm"/>
          </a:ln>
          <a:effectLst>
            <a:outerShdw blurRad="50800" dist="38100" dir="2700000" algn="tl" rotWithShape="0">
              <a:srgbClr val="D8D8D8">
                <a:alpha val="29803"/>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FFFFFF"/>
              </a:solidFill>
              <a:latin typeface="Calibri"/>
              <a:ea typeface="Calibri"/>
              <a:cs typeface="Calibri"/>
              <a:sym typeface="Calibri"/>
            </a:endParaRPr>
          </a:p>
        </p:txBody>
      </p:sp>
      <p:sp>
        <p:nvSpPr>
          <p:cNvPr id="31" name="Google Shape;31;p69"/>
          <p:cNvSpPr/>
          <p:nvPr/>
        </p:nvSpPr>
        <p:spPr>
          <a:xfrm>
            <a:off x="566928" y="0"/>
            <a:ext cx="11155680" cy="201168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FFFFFF"/>
              </a:solidFill>
              <a:latin typeface="Calibri"/>
              <a:ea typeface="Calibri"/>
              <a:cs typeface="Calibri"/>
              <a:sym typeface="Calibri"/>
            </a:endParaRPr>
          </a:p>
        </p:txBody>
      </p:sp>
      <p:sp>
        <p:nvSpPr>
          <p:cNvPr id="32" name="Google Shape;32;p69"/>
          <p:cNvSpPr/>
          <p:nvPr/>
        </p:nvSpPr>
        <p:spPr>
          <a:xfrm>
            <a:off x="498834" y="787352"/>
            <a:ext cx="128016" cy="704088"/>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FFFFFF"/>
              </a:solidFill>
              <a:latin typeface="Calibri"/>
              <a:ea typeface="Calibri"/>
              <a:cs typeface="Calibri"/>
              <a:sym typeface="Calibri"/>
            </a:endParaRPr>
          </a:p>
        </p:txBody>
      </p:sp>
      <p:sp>
        <p:nvSpPr>
          <p:cNvPr id="33" name="Google Shape;33;p69"/>
          <p:cNvSpPr txBox="1">
            <a:spLocks noGrp="1"/>
          </p:cNvSpPr>
          <p:nvPr>
            <p:ph type="title"/>
          </p:nvPr>
        </p:nvSpPr>
        <p:spPr>
          <a:xfrm>
            <a:off x="1115568" y="548640"/>
            <a:ext cx="10168128" cy="1179576"/>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4000"/>
              <a:buFont typeface="Avenir"/>
              <a:buNone/>
              <a:defRPr sz="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 name="Google Shape;34;p69"/>
          <p:cNvSpPr txBox="1">
            <a:spLocks noGrp="1"/>
          </p:cNvSpPr>
          <p:nvPr>
            <p:ph type="body" idx="1"/>
          </p:nvPr>
        </p:nvSpPr>
        <p:spPr>
          <a:xfrm>
            <a:off x="1115568" y="2478024"/>
            <a:ext cx="10168128" cy="3694176"/>
          </a:xfrm>
          <a:prstGeom prst="rect">
            <a:avLst/>
          </a:prstGeom>
          <a:noFill/>
          <a:ln>
            <a:noFill/>
          </a:ln>
        </p:spPr>
        <p:txBody>
          <a:bodyPr spcFirstLastPara="1" wrap="square" lIns="91425" tIns="45700" rIns="91425" bIns="45700" anchor="t" anchorCtr="0">
            <a:normAutofit/>
          </a:bodyPr>
          <a:lstStyle>
            <a:lvl1pPr marL="457200" lvl="0" indent="-342900" algn="l">
              <a:lnSpc>
                <a:spcPct val="110000"/>
              </a:lnSpc>
              <a:spcBef>
                <a:spcPts val="1000"/>
              </a:spcBef>
              <a:spcAft>
                <a:spcPts val="0"/>
              </a:spcAft>
              <a:buClr>
                <a:schemeClr val="dk1"/>
              </a:buClr>
              <a:buSzPts val="1800"/>
              <a:buChar char="•"/>
              <a:defRPr/>
            </a:lvl1pPr>
            <a:lvl2pPr marL="914400" lvl="1" indent="-342900" algn="l">
              <a:lnSpc>
                <a:spcPct val="110000"/>
              </a:lnSpc>
              <a:spcBef>
                <a:spcPts val="500"/>
              </a:spcBef>
              <a:spcAft>
                <a:spcPts val="0"/>
              </a:spcAft>
              <a:buClr>
                <a:schemeClr val="dk1"/>
              </a:buClr>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110000"/>
              </a:lnSpc>
              <a:spcBef>
                <a:spcPts val="500"/>
              </a:spcBef>
              <a:spcAft>
                <a:spcPts val="0"/>
              </a:spcAft>
              <a:buClr>
                <a:schemeClr val="dk1"/>
              </a:buClr>
              <a:buSzPts val="1800"/>
              <a:buChar char="•"/>
              <a:defRPr/>
            </a:lvl4pPr>
            <a:lvl5pPr marL="2286000" lvl="4" indent="-342900" algn="l">
              <a:lnSpc>
                <a:spcPct val="11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5" name="Google Shape;35;p69"/>
          <p:cNvSpPr txBox="1">
            <a:spLocks noGrp="1"/>
          </p:cNvSpPr>
          <p:nvPr>
            <p:ph type="dt" idx="10"/>
          </p:nvPr>
        </p:nvSpPr>
        <p:spPr>
          <a:xfrm>
            <a:off x="1115568"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6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69"/>
          <p:cNvSpPr txBox="1">
            <a:spLocks noGrp="1"/>
          </p:cNvSpPr>
          <p:nvPr>
            <p:ph type="sldNum" idx="12"/>
          </p:nvPr>
        </p:nvSpPr>
        <p:spPr>
          <a:xfrm>
            <a:off x="8540496"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l-G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8"/>
        <p:cNvGrpSpPr/>
        <p:nvPr/>
      </p:nvGrpSpPr>
      <p:grpSpPr>
        <a:xfrm>
          <a:off x="0" y="0"/>
          <a:ext cx="0" cy="0"/>
          <a:chOff x="0" y="0"/>
          <a:chExt cx="0" cy="0"/>
        </a:xfrm>
      </p:grpSpPr>
      <p:sp>
        <p:nvSpPr>
          <p:cNvPr id="39" name="Google Shape;39;p67"/>
          <p:cNvSpPr txBox="1">
            <a:spLocks noGrp="1"/>
          </p:cNvSpPr>
          <p:nvPr>
            <p:ph type="ctrTitle"/>
          </p:nvPr>
        </p:nvSpPr>
        <p:spPr>
          <a:xfrm>
            <a:off x="576072" y="1124712"/>
            <a:ext cx="11036808" cy="3172968"/>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8000"/>
              <a:buFont typeface="Avenir"/>
              <a:buNone/>
              <a:defRPr sz="8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0" name="Google Shape;40;p67"/>
          <p:cNvSpPr txBox="1">
            <a:spLocks noGrp="1"/>
          </p:cNvSpPr>
          <p:nvPr>
            <p:ph type="subTitle" idx="1"/>
          </p:nvPr>
        </p:nvSpPr>
        <p:spPr>
          <a:xfrm>
            <a:off x="576072" y="4727448"/>
            <a:ext cx="11036808" cy="1481328"/>
          </a:xfrm>
          <a:prstGeom prst="rect">
            <a:avLst/>
          </a:prstGeom>
          <a:noFill/>
          <a:ln>
            <a:noFill/>
          </a:ln>
        </p:spPr>
        <p:txBody>
          <a:bodyPr spcFirstLastPara="1" wrap="square" lIns="91425" tIns="45700" rIns="91425" bIns="45700" anchor="t" anchorCtr="0">
            <a:normAutofit/>
          </a:bodyPr>
          <a:lstStyle>
            <a:lvl1pPr lvl="0" algn="l">
              <a:lnSpc>
                <a:spcPct val="110000"/>
              </a:lnSpc>
              <a:spcBef>
                <a:spcPts val="1000"/>
              </a:spcBef>
              <a:spcAft>
                <a:spcPts val="0"/>
              </a:spcAft>
              <a:buClr>
                <a:schemeClr val="dk1"/>
              </a:buClr>
              <a:buSzPts val="2800"/>
              <a:buNone/>
              <a:defRPr sz="2800"/>
            </a:lvl1pPr>
            <a:lvl2pPr lvl="1" algn="ctr">
              <a:lnSpc>
                <a:spcPct val="110000"/>
              </a:lnSpc>
              <a:spcBef>
                <a:spcPts val="500"/>
              </a:spcBef>
              <a:spcAft>
                <a:spcPts val="0"/>
              </a:spcAft>
              <a:buClr>
                <a:schemeClr val="dk1"/>
              </a:buClr>
              <a:buSzPts val="2000"/>
              <a:buNone/>
              <a:defRPr sz="2000"/>
            </a:lvl2pPr>
            <a:lvl3pPr lvl="2" algn="ctr">
              <a:lnSpc>
                <a:spcPct val="110000"/>
              </a:lnSpc>
              <a:spcBef>
                <a:spcPts val="500"/>
              </a:spcBef>
              <a:spcAft>
                <a:spcPts val="0"/>
              </a:spcAft>
              <a:buClr>
                <a:schemeClr val="dk1"/>
              </a:buClr>
              <a:buSzPts val="1800"/>
              <a:buNone/>
              <a:defRPr sz="1800"/>
            </a:lvl3pPr>
            <a:lvl4pPr lvl="3" algn="ctr">
              <a:lnSpc>
                <a:spcPct val="110000"/>
              </a:lnSpc>
              <a:spcBef>
                <a:spcPts val="500"/>
              </a:spcBef>
              <a:spcAft>
                <a:spcPts val="0"/>
              </a:spcAft>
              <a:buClr>
                <a:schemeClr val="dk1"/>
              </a:buClr>
              <a:buSzPts val="1600"/>
              <a:buNone/>
              <a:defRPr sz="1600"/>
            </a:lvl4pPr>
            <a:lvl5pPr lvl="4" algn="ctr">
              <a:lnSpc>
                <a:spcPct val="11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41" name="Google Shape;41;p67"/>
          <p:cNvSpPr txBox="1">
            <a:spLocks noGrp="1"/>
          </p:cNvSpPr>
          <p:nvPr>
            <p:ph type="dt" idx="10"/>
          </p:nvPr>
        </p:nvSpPr>
        <p:spPr>
          <a:xfrm>
            <a:off x="576072"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6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67"/>
          <p:cNvSpPr txBox="1">
            <a:spLocks noGrp="1"/>
          </p:cNvSpPr>
          <p:nvPr>
            <p:ph type="sldNum" idx="12"/>
          </p:nvPr>
        </p:nvSpPr>
        <p:spPr>
          <a:xfrm>
            <a:off x="886968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l-GR"/>
              <a:t>‹#›</a:t>
            </a:fld>
            <a:endParaRPr/>
          </a:p>
        </p:txBody>
      </p:sp>
      <p:sp>
        <p:nvSpPr>
          <p:cNvPr id="44" name="Google Shape;44;p67"/>
          <p:cNvSpPr/>
          <p:nvPr/>
        </p:nvSpPr>
        <p:spPr>
          <a:xfrm rot="5400000">
            <a:off x="857544" y="346791"/>
            <a:ext cx="146304" cy="704088"/>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Avenir"/>
              <a:buNone/>
            </a:pPr>
            <a:endParaRPr sz="1800" b="0" i="0" u="none" strike="noStrike" cap="none">
              <a:solidFill>
                <a:srgbClr val="FFFFFF"/>
              </a:solidFill>
              <a:latin typeface="Calibri"/>
              <a:ea typeface="Calibri"/>
              <a:cs typeface="Calibri"/>
              <a:sym typeface="Calibri"/>
            </a:endParaRPr>
          </a:p>
        </p:txBody>
      </p:sp>
      <p:sp>
        <p:nvSpPr>
          <p:cNvPr id="45" name="Google Shape;45;p67"/>
          <p:cNvSpPr/>
          <p:nvPr/>
        </p:nvSpPr>
        <p:spPr>
          <a:xfrm rot="10800000" flipH="1">
            <a:off x="578652" y="4501201"/>
            <a:ext cx="11034696" cy="18288"/>
          </a:xfrm>
          <a:prstGeom prst="rect">
            <a:avLst/>
          </a:prstGeom>
          <a:solidFill>
            <a:srgbClr val="D6BDD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Avenir"/>
              <a:buNone/>
            </a:pPr>
            <a:endParaRPr sz="1800" b="0" i="0" u="none" strike="noStrike" cap="none">
              <a:solidFill>
                <a:srgbClr val="FFFFFF"/>
              </a:solidFill>
              <a:latin typeface="Calibri"/>
              <a:ea typeface="Calibri"/>
              <a:cs typeface="Calibri"/>
              <a:sym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6"/>
        <p:cNvGrpSpPr/>
        <p:nvPr/>
      </p:nvGrpSpPr>
      <p:grpSpPr>
        <a:xfrm>
          <a:off x="0" y="0"/>
          <a:ext cx="0" cy="0"/>
          <a:chOff x="0" y="0"/>
          <a:chExt cx="0" cy="0"/>
        </a:xfrm>
      </p:grpSpPr>
      <p:sp>
        <p:nvSpPr>
          <p:cNvPr id="47" name="Google Shape;47;p70"/>
          <p:cNvSpPr/>
          <p:nvPr/>
        </p:nvSpPr>
        <p:spPr>
          <a:xfrm>
            <a:off x="558210" y="4981421"/>
            <a:ext cx="11134956" cy="822960"/>
          </a:xfrm>
          <a:prstGeom prst="rect">
            <a:avLst/>
          </a:prstGeom>
          <a:solidFill>
            <a:schemeClr val="lt1"/>
          </a:solidFill>
          <a:ln w="12700" cap="flat" cmpd="sng">
            <a:solidFill>
              <a:srgbClr val="F1E3F1"/>
            </a:solidFill>
            <a:prstDash val="solid"/>
            <a:miter lim="800000"/>
            <a:headEnd type="none" w="sm" len="sm"/>
            <a:tailEnd type="none" w="sm" len="sm"/>
          </a:ln>
          <a:effectLst>
            <a:outerShdw blurRad="50800" dist="38100" dir="2700000" algn="tl" rotWithShape="0">
              <a:srgbClr val="D8D8D8">
                <a:alpha val="29803"/>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FFFFFF"/>
              </a:solidFill>
              <a:latin typeface="Calibri"/>
              <a:ea typeface="Calibri"/>
              <a:cs typeface="Calibri"/>
              <a:sym typeface="Calibri"/>
            </a:endParaRPr>
          </a:p>
        </p:txBody>
      </p:sp>
      <p:sp>
        <p:nvSpPr>
          <p:cNvPr id="48" name="Google Shape;48;p70"/>
          <p:cNvSpPr/>
          <p:nvPr/>
        </p:nvSpPr>
        <p:spPr>
          <a:xfrm>
            <a:off x="498834" y="5118581"/>
            <a:ext cx="146304" cy="54864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FFFFFF"/>
              </a:solidFill>
              <a:latin typeface="Calibri"/>
              <a:ea typeface="Calibri"/>
              <a:cs typeface="Calibri"/>
              <a:sym typeface="Calibri"/>
            </a:endParaRPr>
          </a:p>
        </p:txBody>
      </p:sp>
      <p:sp>
        <p:nvSpPr>
          <p:cNvPr id="49" name="Google Shape;49;p70"/>
          <p:cNvSpPr txBox="1">
            <a:spLocks noGrp="1"/>
          </p:cNvSpPr>
          <p:nvPr>
            <p:ph type="title"/>
          </p:nvPr>
        </p:nvSpPr>
        <p:spPr>
          <a:xfrm>
            <a:off x="557784" y="640080"/>
            <a:ext cx="10890504" cy="41148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600"/>
              <a:buFont typeface="Avenir"/>
              <a:buNone/>
              <a:defRPr sz="6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0" name="Google Shape;50;p70"/>
          <p:cNvSpPr txBox="1">
            <a:spLocks noGrp="1"/>
          </p:cNvSpPr>
          <p:nvPr>
            <p:ph type="body" idx="1"/>
          </p:nvPr>
        </p:nvSpPr>
        <p:spPr>
          <a:xfrm>
            <a:off x="841248" y="5102352"/>
            <a:ext cx="10607040" cy="585216"/>
          </a:xfrm>
          <a:prstGeom prst="rect">
            <a:avLst/>
          </a:prstGeom>
          <a:noFill/>
          <a:ln>
            <a:noFill/>
          </a:ln>
        </p:spPr>
        <p:txBody>
          <a:bodyPr spcFirstLastPara="1" wrap="square" lIns="91425" tIns="45700" rIns="91425" bIns="45700" anchor="ctr" anchorCtr="0">
            <a:normAutofit/>
          </a:bodyPr>
          <a:lstStyle>
            <a:lvl1pPr marL="457200" lvl="0" indent="-228600" algn="l">
              <a:lnSpc>
                <a:spcPct val="110000"/>
              </a:lnSpc>
              <a:spcBef>
                <a:spcPts val="1000"/>
              </a:spcBef>
              <a:spcAft>
                <a:spcPts val="0"/>
              </a:spcAft>
              <a:buClr>
                <a:schemeClr val="dk1"/>
              </a:buClr>
              <a:buSzPts val="2000"/>
              <a:buNone/>
              <a:defRPr sz="2000">
                <a:solidFill>
                  <a:schemeClr val="dk1"/>
                </a:solidFill>
              </a:defRPr>
            </a:lvl1pPr>
            <a:lvl2pPr marL="914400" lvl="1" indent="-228600" algn="l">
              <a:lnSpc>
                <a:spcPct val="110000"/>
              </a:lnSpc>
              <a:spcBef>
                <a:spcPts val="500"/>
              </a:spcBef>
              <a:spcAft>
                <a:spcPts val="0"/>
              </a:spcAft>
              <a:buClr>
                <a:srgbClr val="888888"/>
              </a:buClr>
              <a:buSzPts val="2000"/>
              <a:buNone/>
              <a:defRPr sz="2000">
                <a:solidFill>
                  <a:srgbClr val="888888"/>
                </a:solidFill>
              </a:defRPr>
            </a:lvl2pPr>
            <a:lvl3pPr marL="1371600" lvl="2" indent="-228600" algn="l">
              <a:lnSpc>
                <a:spcPct val="110000"/>
              </a:lnSpc>
              <a:spcBef>
                <a:spcPts val="500"/>
              </a:spcBef>
              <a:spcAft>
                <a:spcPts val="0"/>
              </a:spcAft>
              <a:buClr>
                <a:srgbClr val="888888"/>
              </a:buClr>
              <a:buSzPts val="1800"/>
              <a:buNone/>
              <a:defRPr sz="1800">
                <a:solidFill>
                  <a:srgbClr val="888888"/>
                </a:solidFill>
              </a:defRPr>
            </a:lvl3pPr>
            <a:lvl4pPr marL="1828800" lvl="3" indent="-228600" algn="l">
              <a:lnSpc>
                <a:spcPct val="110000"/>
              </a:lnSpc>
              <a:spcBef>
                <a:spcPts val="500"/>
              </a:spcBef>
              <a:spcAft>
                <a:spcPts val="0"/>
              </a:spcAft>
              <a:buClr>
                <a:srgbClr val="888888"/>
              </a:buClr>
              <a:buSzPts val="1600"/>
              <a:buNone/>
              <a:defRPr sz="1600">
                <a:solidFill>
                  <a:srgbClr val="888888"/>
                </a:solidFill>
              </a:defRPr>
            </a:lvl4pPr>
            <a:lvl5pPr marL="2286000" lvl="4" indent="-228600" algn="l">
              <a:lnSpc>
                <a:spcPct val="11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51" name="Google Shape;51;p7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7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7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l-G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54"/>
        <p:cNvGrpSpPr/>
        <p:nvPr/>
      </p:nvGrpSpPr>
      <p:grpSpPr>
        <a:xfrm>
          <a:off x="0" y="0"/>
          <a:ext cx="0" cy="0"/>
          <a:chOff x="0" y="0"/>
          <a:chExt cx="0" cy="0"/>
        </a:xfrm>
      </p:grpSpPr>
      <p:sp>
        <p:nvSpPr>
          <p:cNvPr id="55" name="Google Shape;55;p71"/>
          <p:cNvSpPr/>
          <p:nvPr/>
        </p:nvSpPr>
        <p:spPr>
          <a:xfrm>
            <a:off x="558209" y="0"/>
            <a:ext cx="11167447" cy="2018806"/>
          </a:xfrm>
          <a:prstGeom prst="rect">
            <a:avLst/>
          </a:prstGeom>
          <a:solidFill>
            <a:schemeClr val="lt1"/>
          </a:solidFill>
          <a:ln w="9525" cap="flat" cmpd="sng">
            <a:solidFill>
              <a:srgbClr val="F1E3F1"/>
            </a:solidFill>
            <a:prstDash val="solid"/>
            <a:miter lim="800000"/>
            <a:headEnd type="none" w="sm" len="sm"/>
            <a:tailEnd type="none" w="sm" len="sm"/>
          </a:ln>
          <a:effectLst>
            <a:outerShdw blurRad="50800" dist="38100" dir="2700000" algn="tl" rotWithShape="0">
              <a:srgbClr val="D8D8D8">
                <a:alpha val="29803"/>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FFFFFF"/>
              </a:solidFill>
              <a:latin typeface="Calibri"/>
              <a:ea typeface="Calibri"/>
              <a:cs typeface="Calibri"/>
              <a:sym typeface="Calibri"/>
            </a:endParaRPr>
          </a:p>
        </p:txBody>
      </p:sp>
      <p:sp>
        <p:nvSpPr>
          <p:cNvPr id="56" name="Google Shape;56;p71"/>
          <p:cNvSpPr/>
          <p:nvPr/>
        </p:nvSpPr>
        <p:spPr>
          <a:xfrm>
            <a:off x="566928" y="0"/>
            <a:ext cx="11155680" cy="201168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FFFFFF"/>
              </a:solidFill>
              <a:latin typeface="Calibri"/>
              <a:ea typeface="Calibri"/>
              <a:cs typeface="Calibri"/>
              <a:sym typeface="Calibri"/>
            </a:endParaRPr>
          </a:p>
        </p:txBody>
      </p:sp>
      <p:sp>
        <p:nvSpPr>
          <p:cNvPr id="57" name="Google Shape;57;p71"/>
          <p:cNvSpPr/>
          <p:nvPr/>
        </p:nvSpPr>
        <p:spPr>
          <a:xfrm>
            <a:off x="498834" y="787352"/>
            <a:ext cx="128016" cy="704088"/>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FFFFFF"/>
              </a:solidFill>
              <a:latin typeface="Calibri"/>
              <a:ea typeface="Calibri"/>
              <a:cs typeface="Calibri"/>
              <a:sym typeface="Calibri"/>
            </a:endParaRPr>
          </a:p>
        </p:txBody>
      </p:sp>
      <p:sp>
        <p:nvSpPr>
          <p:cNvPr id="58" name="Google Shape;58;p71"/>
          <p:cNvSpPr txBox="1">
            <a:spLocks noGrp="1"/>
          </p:cNvSpPr>
          <p:nvPr>
            <p:ph type="title"/>
          </p:nvPr>
        </p:nvSpPr>
        <p:spPr>
          <a:xfrm>
            <a:off x="1115568" y="548640"/>
            <a:ext cx="10168128" cy="1179576"/>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4000"/>
              <a:buFont typeface="Avenir"/>
              <a:buNone/>
              <a:defRPr sz="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9" name="Google Shape;59;p71"/>
          <p:cNvSpPr txBox="1">
            <a:spLocks noGrp="1"/>
          </p:cNvSpPr>
          <p:nvPr>
            <p:ph type="body" idx="1"/>
          </p:nvPr>
        </p:nvSpPr>
        <p:spPr>
          <a:xfrm>
            <a:off x="1115568" y="2478024"/>
            <a:ext cx="4937760" cy="3694176"/>
          </a:xfrm>
          <a:prstGeom prst="rect">
            <a:avLst/>
          </a:prstGeom>
          <a:noFill/>
          <a:ln>
            <a:noFill/>
          </a:ln>
        </p:spPr>
        <p:txBody>
          <a:bodyPr spcFirstLastPara="1" wrap="square" lIns="91425" tIns="45700" rIns="91425" bIns="45700" anchor="t" anchorCtr="0">
            <a:normAutofit/>
          </a:bodyPr>
          <a:lstStyle>
            <a:lvl1pPr marL="457200" lvl="0" indent="-342900" algn="l">
              <a:lnSpc>
                <a:spcPct val="110000"/>
              </a:lnSpc>
              <a:spcBef>
                <a:spcPts val="1000"/>
              </a:spcBef>
              <a:spcAft>
                <a:spcPts val="0"/>
              </a:spcAft>
              <a:buClr>
                <a:schemeClr val="dk1"/>
              </a:buClr>
              <a:buSzPts val="1800"/>
              <a:buChar char="•"/>
              <a:defRPr/>
            </a:lvl1pPr>
            <a:lvl2pPr marL="914400" lvl="1" indent="-342900" algn="l">
              <a:lnSpc>
                <a:spcPct val="110000"/>
              </a:lnSpc>
              <a:spcBef>
                <a:spcPts val="500"/>
              </a:spcBef>
              <a:spcAft>
                <a:spcPts val="0"/>
              </a:spcAft>
              <a:buClr>
                <a:schemeClr val="dk1"/>
              </a:buClr>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110000"/>
              </a:lnSpc>
              <a:spcBef>
                <a:spcPts val="500"/>
              </a:spcBef>
              <a:spcAft>
                <a:spcPts val="0"/>
              </a:spcAft>
              <a:buClr>
                <a:schemeClr val="dk1"/>
              </a:buClr>
              <a:buSzPts val="1800"/>
              <a:buChar char="•"/>
              <a:defRPr/>
            </a:lvl4pPr>
            <a:lvl5pPr marL="2286000" lvl="4" indent="-342900" algn="l">
              <a:lnSpc>
                <a:spcPct val="11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0" name="Google Shape;60;p71"/>
          <p:cNvSpPr txBox="1">
            <a:spLocks noGrp="1"/>
          </p:cNvSpPr>
          <p:nvPr>
            <p:ph type="body" idx="2"/>
          </p:nvPr>
        </p:nvSpPr>
        <p:spPr>
          <a:xfrm>
            <a:off x="6345936" y="2478024"/>
            <a:ext cx="4937760" cy="3694176"/>
          </a:xfrm>
          <a:prstGeom prst="rect">
            <a:avLst/>
          </a:prstGeom>
          <a:noFill/>
          <a:ln>
            <a:noFill/>
          </a:ln>
        </p:spPr>
        <p:txBody>
          <a:bodyPr spcFirstLastPara="1" wrap="square" lIns="91425" tIns="45700" rIns="91425" bIns="45700" anchor="t" anchorCtr="0">
            <a:normAutofit/>
          </a:bodyPr>
          <a:lstStyle>
            <a:lvl1pPr marL="457200" lvl="0" indent="-342900" algn="l">
              <a:lnSpc>
                <a:spcPct val="110000"/>
              </a:lnSpc>
              <a:spcBef>
                <a:spcPts val="1000"/>
              </a:spcBef>
              <a:spcAft>
                <a:spcPts val="0"/>
              </a:spcAft>
              <a:buClr>
                <a:schemeClr val="dk1"/>
              </a:buClr>
              <a:buSzPts val="1800"/>
              <a:buChar char="•"/>
              <a:defRPr/>
            </a:lvl1pPr>
            <a:lvl2pPr marL="914400" lvl="1" indent="-342900" algn="l">
              <a:lnSpc>
                <a:spcPct val="110000"/>
              </a:lnSpc>
              <a:spcBef>
                <a:spcPts val="500"/>
              </a:spcBef>
              <a:spcAft>
                <a:spcPts val="0"/>
              </a:spcAft>
              <a:buClr>
                <a:schemeClr val="dk1"/>
              </a:buClr>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110000"/>
              </a:lnSpc>
              <a:spcBef>
                <a:spcPts val="500"/>
              </a:spcBef>
              <a:spcAft>
                <a:spcPts val="0"/>
              </a:spcAft>
              <a:buClr>
                <a:schemeClr val="dk1"/>
              </a:buClr>
              <a:buSzPts val="1800"/>
              <a:buChar char="•"/>
              <a:defRPr/>
            </a:lvl4pPr>
            <a:lvl5pPr marL="2286000" lvl="4" indent="-342900" algn="l">
              <a:lnSpc>
                <a:spcPct val="11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71"/>
          <p:cNvSpPr txBox="1">
            <a:spLocks noGrp="1"/>
          </p:cNvSpPr>
          <p:nvPr>
            <p:ph type="dt" idx="10"/>
          </p:nvPr>
        </p:nvSpPr>
        <p:spPr>
          <a:xfrm>
            <a:off x="1115568"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2" name="Google Shape;62;p7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71"/>
          <p:cNvSpPr txBox="1">
            <a:spLocks noGrp="1"/>
          </p:cNvSpPr>
          <p:nvPr>
            <p:ph type="sldNum" idx="12"/>
          </p:nvPr>
        </p:nvSpPr>
        <p:spPr>
          <a:xfrm>
            <a:off x="8540496"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l-G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64"/>
        <p:cNvGrpSpPr/>
        <p:nvPr/>
      </p:nvGrpSpPr>
      <p:grpSpPr>
        <a:xfrm>
          <a:off x="0" y="0"/>
          <a:ext cx="0" cy="0"/>
          <a:chOff x="0" y="0"/>
          <a:chExt cx="0" cy="0"/>
        </a:xfrm>
      </p:grpSpPr>
      <p:sp>
        <p:nvSpPr>
          <p:cNvPr id="65" name="Google Shape;65;p72"/>
          <p:cNvSpPr/>
          <p:nvPr/>
        </p:nvSpPr>
        <p:spPr>
          <a:xfrm>
            <a:off x="558209" y="0"/>
            <a:ext cx="11167447" cy="2018806"/>
          </a:xfrm>
          <a:prstGeom prst="rect">
            <a:avLst/>
          </a:prstGeom>
          <a:solidFill>
            <a:schemeClr val="lt1"/>
          </a:solidFill>
          <a:ln w="9525" cap="flat" cmpd="sng">
            <a:solidFill>
              <a:srgbClr val="F1E3F1"/>
            </a:solidFill>
            <a:prstDash val="solid"/>
            <a:miter lim="800000"/>
            <a:headEnd type="none" w="sm" len="sm"/>
            <a:tailEnd type="none" w="sm" len="sm"/>
          </a:ln>
          <a:effectLst>
            <a:outerShdw blurRad="50800" dist="38100" dir="2700000" algn="tl" rotWithShape="0">
              <a:srgbClr val="D8D8D8">
                <a:alpha val="29803"/>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FFFFFF"/>
              </a:solidFill>
              <a:latin typeface="Calibri"/>
              <a:ea typeface="Calibri"/>
              <a:cs typeface="Calibri"/>
              <a:sym typeface="Calibri"/>
            </a:endParaRPr>
          </a:p>
        </p:txBody>
      </p:sp>
      <p:sp>
        <p:nvSpPr>
          <p:cNvPr id="66" name="Google Shape;66;p72"/>
          <p:cNvSpPr/>
          <p:nvPr/>
        </p:nvSpPr>
        <p:spPr>
          <a:xfrm>
            <a:off x="566928" y="0"/>
            <a:ext cx="11155680" cy="201168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FFFFFF"/>
              </a:solidFill>
              <a:latin typeface="Calibri"/>
              <a:ea typeface="Calibri"/>
              <a:cs typeface="Calibri"/>
              <a:sym typeface="Calibri"/>
            </a:endParaRPr>
          </a:p>
        </p:txBody>
      </p:sp>
      <p:sp>
        <p:nvSpPr>
          <p:cNvPr id="67" name="Google Shape;67;p72"/>
          <p:cNvSpPr/>
          <p:nvPr/>
        </p:nvSpPr>
        <p:spPr>
          <a:xfrm>
            <a:off x="498834" y="787352"/>
            <a:ext cx="128016" cy="704088"/>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FFFFFF"/>
              </a:solidFill>
              <a:latin typeface="Calibri"/>
              <a:ea typeface="Calibri"/>
              <a:cs typeface="Calibri"/>
              <a:sym typeface="Calibri"/>
            </a:endParaRPr>
          </a:p>
        </p:txBody>
      </p:sp>
      <p:sp>
        <p:nvSpPr>
          <p:cNvPr id="68" name="Google Shape;68;p72"/>
          <p:cNvSpPr txBox="1">
            <a:spLocks noGrp="1"/>
          </p:cNvSpPr>
          <p:nvPr>
            <p:ph type="title"/>
          </p:nvPr>
        </p:nvSpPr>
        <p:spPr>
          <a:xfrm>
            <a:off x="1115568" y="548640"/>
            <a:ext cx="10168128" cy="1179576"/>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4000"/>
              <a:buFont typeface="Avenir"/>
              <a:buNone/>
              <a:defRPr sz="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9" name="Google Shape;69;p72"/>
          <p:cNvSpPr txBox="1">
            <a:spLocks noGrp="1"/>
          </p:cNvSpPr>
          <p:nvPr>
            <p:ph type="body" idx="1"/>
          </p:nvPr>
        </p:nvSpPr>
        <p:spPr>
          <a:xfrm>
            <a:off x="1115568" y="2372650"/>
            <a:ext cx="4937760" cy="823912"/>
          </a:xfrm>
          <a:prstGeom prst="rect">
            <a:avLst/>
          </a:prstGeom>
          <a:noFill/>
          <a:ln>
            <a:noFill/>
          </a:ln>
        </p:spPr>
        <p:txBody>
          <a:bodyPr spcFirstLastPara="1" wrap="square" lIns="91425" tIns="45700" rIns="91425" bIns="45700" anchor="b" anchorCtr="0">
            <a:normAutofit/>
          </a:bodyPr>
          <a:lstStyle>
            <a:lvl1pPr marL="457200" lvl="0" indent="-228600" algn="l">
              <a:lnSpc>
                <a:spcPct val="110000"/>
              </a:lnSpc>
              <a:spcBef>
                <a:spcPts val="1000"/>
              </a:spcBef>
              <a:spcAft>
                <a:spcPts val="0"/>
              </a:spcAft>
              <a:buClr>
                <a:schemeClr val="dk1"/>
              </a:buClr>
              <a:buSzPts val="2400"/>
              <a:buNone/>
              <a:defRPr sz="2400" b="1" cap="none"/>
            </a:lvl1pPr>
            <a:lvl2pPr marL="914400" lvl="1" indent="-228600" algn="l">
              <a:lnSpc>
                <a:spcPct val="110000"/>
              </a:lnSpc>
              <a:spcBef>
                <a:spcPts val="500"/>
              </a:spcBef>
              <a:spcAft>
                <a:spcPts val="0"/>
              </a:spcAft>
              <a:buClr>
                <a:schemeClr val="dk1"/>
              </a:buClr>
              <a:buSzPts val="2000"/>
              <a:buNone/>
              <a:defRPr sz="2000" b="1"/>
            </a:lvl2pPr>
            <a:lvl3pPr marL="1371600" lvl="2" indent="-228600" algn="l">
              <a:lnSpc>
                <a:spcPct val="110000"/>
              </a:lnSpc>
              <a:spcBef>
                <a:spcPts val="500"/>
              </a:spcBef>
              <a:spcAft>
                <a:spcPts val="0"/>
              </a:spcAft>
              <a:buClr>
                <a:schemeClr val="dk1"/>
              </a:buClr>
              <a:buSzPts val="1800"/>
              <a:buNone/>
              <a:defRPr sz="1800" b="1"/>
            </a:lvl3pPr>
            <a:lvl4pPr marL="1828800" lvl="3" indent="-228600" algn="l">
              <a:lnSpc>
                <a:spcPct val="110000"/>
              </a:lnSpc>
              <a:spcBef>
                <a:spcPts val="500"/>
              </a:spcBef>
              <a:spcAft>
                <a:spcPts val="0"/>
              </a:spcAft>
              <a:buClr>
                <a:schemeClr val="dk1"/>
              </a:buClr>
              <a:buSzPts val="1600"/>
              <a:buNone/>
              <a:defRPr sz="1600" b="1"/>
            </a:lvl4pPr>
            <a:lvl5pPr marL="2286000" lvl="4" indent="-228600" algn="l">
              <a:lnSpc>
                <a:spcPct val="11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70" name="Google Shape;70;p72"/>
          <p:cNvSpPr txBox="1">
            <a:spLocks noGrp="1"/>
          </p:cNvSpPr>
          <p:nvPr>
            <p:ph type="body" idx="2"/>
          </p:nvPr>
        </p:nvSpPr>
        <p:spPr>
          <a:xfrm>
            <a:off x="1115568" y="3203688"/>
            <a:ext cx="4937760" cy="2968512"/>
          </a:xfrm>
          <a:prstGeom prst="rect">
            <a:avLst/>
          </a:prstGeom>
          <a:noFill/>
          <a:ln>
            <a:noFill/>
          </a:ln>
        </p:spPr>
        <p:txBody>
          <a:bodyPr spcFirstLastPara="1" wrap="square" lIns="91425" tIns="45700" rIns="91425" bIns="45700" anchor="t" anchorCtr="0">
            <a:normAutofit/>
          </a:bodyPr>
          <a:lstStyle>
            <a:lvl1pPr marL="457200" lvl="0" indent="-381000" algn="l">
              <a:lnSpc>
                <a:spcPct val="110000"/>
              </a:lnSpc>
              <a:spcBef>
                <a:spcPts val="1000"/>
              </a:spcBef>
              <a:spcAft>
                <a:spcPts val="0"/>
              </a:spcAft>
              <a:buClr>
                <a:schemeClr val="dk1"/>
              </a:buClr>
              <a:buSzPts val="2400"/>
              <a:buChar char="•"/>
              <a:defRPr sz="2400"/>
            </a:lvl1pPr>
            <a:lvl2pPr marL="914400" lvl="1" indent="-355600" algn="l">
              <a:lnSpc>
                <a:spcPct val="110000"/>
              </a:lnSpc>
              <a:spcBef>
                <a:spcPts val="500"/>
              </a:spcBef>
              <a:spcAft>
                <a:spcPts val="0"/>
              </a:spcAft>
              <a:buClr>
                <a:schemeClr val="dk1"/>
              </a:buClr>
              <a:buSzPts val="2000"/>
              <a:buChar char="•"/>
              <a:defRPr sz="2000"/>
            </a:lvl2pPr>
            <a:lvl3pPr marL="1371600" lvl="2" indent="-342900" algn="l">
              <a:lnSpc>
                <a:spcPct val="110000"/>
              </a:lnSpc>
              <a:spcBef>
                <a:spcPts val="500"/>
              </a:spcBef>
              <a:spcAft>
                <a:spcPts val="0"/>
              </a:spcAft>
              <a:buClr>
                <a:schemeClr val="dk1"/>
              </a:buClr>
              <a:buSzPts val="1800"/>
              <a:buChar char="•"/>
              <a:defRPr sz="1800"/>
            </a:lvl3pPr>
            <a:lvl4pPr marL="1828800" lvl="3" indent="-342900" algn="l">
              <a:lnSpc>
                <a:spcPct val="110000"/>
              </a:lnSpc>
              <a:spcBef>
                <a:spcPts val="500"/>
              </a:spcBef>
              <a:spcAft>
                <a:spcPts val="0"/>
              </a:spcAft>
              <a:buClr>
                <a:schemeClr val="dk1"/>
              </a:buClr>
              <a:buSzPts val="1800"/>
              <a:buChar char="•"/>
              <a:defRPr/>
            </a:lvl4pPr>
            <a:lvl5pPr marL="2286000" lvl="4" indent="-342900" algn="l">
              <a:lnSpc>
                <a:spcPct val="11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72"/>
          <p:cNvSpPr txBox="1">
            <a:spLocks noGrp="1"/>
          </p:cNvSpPr>
          <p:nvPr>
            <p:ph type="body" idx="3"/>
          </p:nvPr>
        </p:nvSpPr>
        <p:spPr>
          <a:xfrm>
            <a:off x="6345936" y="2372650"/>
            <a:ext cx="4937760" cy="823912"/>
          </a:xfrm>
          <a:prstGeom prst="rect">
            <a:avLst/>
          </a:prstGeom>
          <a:noFill/>
          <a:ln>
            <a:noFill/>
          </a:ln>
        </p:spPr>
        <p:txBody>
          <a:bodyPr spcFirstLastPara="1" wrap="square" lIns="91425" tIns="45700" rIns="91425" bIns="45700" anchor="b" anchorCtr="0">
            <a:normAutofit/>
          </a:bodyPr>
          <a:lstStyle>
            <a:lvl1pPr marL="457200" lvl="0" indent="-228600" algn="l">
              <a:lnSpc>
                <a:spcPct val="110000"/>
              </a:lnSpc>
              <a:spcBef>
                <a:spcPts val="1000"/>
              </a:spcBef>
              <a:spcAft>
                <a:spcPts val="0"/>
              </a:spcAft>
              <a:buClr>
                <a:schemeClr val="dk1"/>
              </a:buClr>
              <a:buSzPts val="2400"/>
              <a:buNone/>
              <a:defRPr sz="2400" b="1" cap="none"/>
            </a:lvl1pPr>
            <a:lvl2pPr marL="914400" lvl="1" indent="-228600" algn="l">
              <a:lnSpc>
                <a:spcPct val="110000"/>
              </a:lnSpc>
              <a:spcBef>
                <a:spcPts val="500"/>
              </a:spcBef>
              <a:spcAft>
                <a:spcPts val="0"/>
              </a:spcAft>
              <a:buClr>
                <a:schemeClr val="dk1"/>
              </a:buClr>
              <a:buSzPts val="2000"/>
              <a:buNone/>
              <a:defRPr sz="2000" b="1"/>
            </a:lvl2pPr>
            <a:lvl3pPr marL="1371600" lvl="2" indent="-228600" algn="l">
              <a:lnSpc>
                <a:spcPct val="110000"/>
              </a:lnSpc>
              <a:spcBef>
                <a:spcPts val="500"/>
              </a:spcBef>
              <a:spcAft>
                <a:spcPts val="0"/>
              </a:spcAft>
              <a:buClr>
                <a:schemeClr val="dk1"/>
              </a:buClr>
              <a:buSzPts val="1800"/>
              <a:buNone/>
              <a:defRPr sz="1800" b="1"/>
            </a:lvl3pPr>
            <a:lvl4pPr marL="1828800" lvl="3" indent="-228600" algn="l">
              <a:lnSpc>
                <a:spcPct val="110000"/>
              </a:lnSpc>
              <a:spcBef>
                <a:spcPts val="500"/>
              </a:spcBef>
              <a:spcAft>
                <a:spcPts val="0"/>
              </a:spcAft>
              <a:buClr>
                <a:schemeClr val="dk1"/>
              </a:buClr>
              <a:buSzPts val="1600"/>
              <a:buNone/>
              <a:defRPr sz="1600" b="1"/>
            </a:lvl4pPr>
            <a:lvl5pPr marL="2286000" lvl="4" indent="-228600" algn="l">
              <a:lnSpc>
                <a:spcPct val="11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72" name="Google Shape;72;p72"/>
          <p:cNvSpPr txBox="1">
            <a:spLocks noGrp="1"/>
          </p:cNvSpPr>
          <p:nvPr>
            <p:ph type="body" idx="4"/>
          </p:nvPr>
        </p:nvSpPr>
        <p:spPr>
          <a:xfrm>
            <a:off x="6345936" y="3203687"/>
            <a:ext cx="4937760" cy="2968511"/>
          </a:xfrm>
          <a:prstGeom prst="rect">
            <a:avLst/>
          </a:prstGeom>
          <a:noFill/>
          <a:ln>
            <a:noFill/>
          </a:ln>
        </p:spPr>
        <p:txBody>
          <a:bodyPr spcFirstLastPara="1" wrap="square" lIns="91425" tIns="45700" rIns="91425" bIns="45700" anchor="t" anchorCtr="0">
            <a:normAutofit/>
          </a:bodyPr>
          <a:lstStyle>
            <a:lvl1pPr marL="457200" lvl="0" indent="-381000" algn="l">
              <a:lnSpc>
                <a:spcPct val="110000"/>
              </a:lnSpc>
              <a:spcBef>
                <a:spcPts val="1000"/>
              </a:spcBef>
              <a:spcAft>
                <a:spcPts val="0"/>
              </a:spcAft>
              <a:buClr>
                <a:schemeClr val="dk1"/>
              </a:buClr>
              <a:buSzPts val="2400"/>
              <a:buChar char="•"/>
              <a:defRPr sz="2400"/>
            </a:lvl1pPr>
            <a:lvl2pPr marL="914400" lvl="1" indent="-355600" algn="l">
              <a:lnSpc>
                <a:spcPct val="110000"/>
              </a:lnSpc>
              <a:spcBef>
                <a:spcPts val="500"/>
              </a:spcBef>
              <a:spcAft>
                <a:spcPts val="0"/>
              </a:spcAft>
              <a:buClr>
                <a:schemeClr val="dk1"/>
              </a:buClr>
              <a:buSzPts val="2000"/>
              <a:buChar char="•"/>
              <a:defRPr sz="2000"/>
            </a:lvl2pPr>
            <a:lvl3pPr marL="1371600" lvl="2" indent="-342900" algn="l">
              <a:lnSpc>
                <a:spcPct val="110000"/>
              </a:lnSpc>
              <a:spcBef>
                <a:spcPts val="500"/>
              </a:spcBef>
              <a:spcAft>
                <a:spcPts val="0"/>
              </a:spcAft>
              <a:buClr>
                <a:schemeClr val="dk1"/>
              </a:buClr>
              <a:buSzPts val="1800"/>
              <a:buChar char="•"/>
              <a:defRPr sz="1800"/>
            </a:lvl3pPr>
            <a:lvl4pPr marL="1828800" lvl="3" indent="-342900" algn="l">
              <a:lnSpc>
                <a:spcPct val="110000"/>
              </a:lnSpc>
              <a:spcBef>
                <a:spcPts val="500"/>
              </a:spcBef>
              <a:spcAft>
                <a:spcPts val="0"/>
              </a:spcAft>
              <a:buClr>
                <a:schemeClr val="dk1"/>
              </a:buClr>
              <a:buSzPts val="1800"/>
              <a:buChar char="•"/>
              <a:defRPr/>
            </a:lvl4pPr>
            <a:lvl5pPr marL="2286000" lvl="4" indent="-342900" algn="l">
              <a:lnSpc>
                <a:spcPct val="11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3" name="Google Shape;73;p72"/>
          <p:cNvSpPr txBox="1">
            <a:spLocks noGrp="1"/>
          </p:cNvSpPr>
          <p:nvPr>
            <p:ph type="dt" idx="10"/>
          </p:nvPr>
        </p:nvSpPr>
        <p:spPr>
          <a:xfrm>
            <a:off x="1115568"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4" name="Google Shape;74;p7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5" name="Google Shape;75;p72"/>
          <p:cNvSpPr txBox="1">
            <a:spLocks noGrp="1"/>
          </p:cNvSpPr>
          <p:nvPr>
            <p:ph type="sldNum" idx="12"/>
          </p:nvPr>
        </p:nvSpPr>
        <p:spPr>
          <a:xfrm>
            <a:off x="8540496"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l-G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6"/>
        <p:cNvGrpSpPr/>
        <p:nvPr/>
      </p:nvGrpSpPr>
      <p:grpSpPr>
        <a:xfrm>
          <a:off x="0" y="0"/>
          <a:ext cx="0" cy="0"/>
          <a:chOff x="0" y="0"/>
          <a:chExt cx="0" cy="0"/>
        </a:xfrm>
      </p:grpSpPr>
      <p:sp>
        <p:nvSpPr>
          <p:cNvPr id="77" name="Google Shape;77;p73"/>
          <p:cNvSpPr/>
          <p:nvPr/>
        </p:nvSpPr>
        <p:spPr>
          <a:xfrm>
            <a:off x="665853" y="1533525"/>
            <a:ext cx="10917063" cy="3790950"/>
          </a:xfrm>
          <a:prstGeom prst="rect">
            <a:avLst/>
          </a:prstGeom>
          <a:solidFill>
            <a:schemeClr val="lt1"/>
          </a:solidFill>
          <a:ln w="12700" cap="flat" cmpd="sng">
            <a:solidFill>
              <a:srgbClr val="F1E3F1"/>
            </a:solidFill>
            <a:prstDash val="solid"/>
            <a:miter lim="800000"/>
            <a:headEnd type="none" w="sm" len="sm"/>
            <a:tailEnd type="none" w="sm" len="sm"/>
          </a:ln>
          <a:effectLst>
            <a:outerShdw blurRad="50800" dist="38100" dir="2700000" algn="tl" rotWithShape="0">
              <a:srgbClr val="C9C4BB">
                <a:alpha val="29803"/>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FFFFFF"/>
              </a:solidFill>
              <a:latin typeface="Calibri"/>
              <a:ea typeface="Calibri"/>
              <a:cs typeface="Calibri"/>
              <a:sym typeface="Calibri"/>
            </a:endParaRPr>
          </a:p>
        </p:txBody>
      </p:sp>
      <p:sp>
        <p:nvSpPr>
          <p:cNvPr id="78" name="Google Shape;78;p73"/>
          <p:cNvSpPr/>
          <p:nvPr/>
        </p:nvSpPr>
        <p:spPr>
          <a:xfrm>
            <a:off x="609084" y="2971798"/>
            <a:ext cx="128016" cy="9144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FFFFFF"/>
              </a:solidFill>
              <a:latin typeface="Calibri"/>
              <a:ea typeface="Calibri"/>
              <a:cs typeface="Calibri"/>
              <a:sym typeface="Calibri"/>
            </a:endParaRPr>
          </a:p>
        </p:txBody>
      </p:sp>
      <p:sp>
        <p:nvSpPr>
          <p:cNvPr id="79" name="Google Shape;79;p73"/>
          <p:cNvSpPr txBox="1">
            <a:spLocks noGrp="1"/>
          </p:cNvSpPr>
          <p:nvPr>
            <p:ph type="title"/>
          </p:nvPr>
        </p:nvSpPr>
        <p:spPr>
          <a:xfrm>
            <a:off x="1078992" y="1938528"/>
            <a:ext cx="10177272" cy="2990088"/>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5400"/>
              <a:buFont typeface="Avenir"/>
              <a:buNone/>
              <a:defRPr sz="5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7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1" name="Google Shape;81;p7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7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l-G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3"/>
        <p:cNvGrpSpPr/>
        <p:nvPr/>
      </p:nvGrpSpPr>
      <p:grpSpPr>
        <a:xfrm>
          <a:off x="0" y="0"/>
          <a:ext cx="0" cy="0"/>
          <a:chOff x="0" y="0"/>
          <a:chExt cx="0" cy="0"/>
        </a:xfrm>
      </p:grpSpPr>
      <p:sp>
        <p:nvSpPr>
          <p:cNvPr id="84" name="Google Shape;84;p7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7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7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l-G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87"/>
        <p:cNvGrpSpPr/>
        <p:nvPr/>
      </p:nvGrpSpPr>
      <p:grpSpPr>
        <a:xfrm>
          <a:off x="0" y="0"/>
          <a:ext cx="0" cy="0"/>
          <a:chOff x="0" y="0"/>
          <a:chExt cx="0" cy="0"/>
        </a:xfrm>
      </p:grpSpPr>
      <p:sp>
        <p:nvSpPr>
          <p:cNvPr id="88" name="Google Shape;88;p75"/>
          <p:cNvSpPr/>
          <p:nvPr/>
        </p:nvSpPr>
        <p:spPr>
          <a:xfrm>
            <a:off x="558210" y="1162033"/>
            <a:ext cx="3740740" cy="4643344"/>
          </a:xfrm>
          <a:prstGeom prst="rect">
            <a:avLst/>
          </a:prstGeom>
          <a:solidFill>
            <a:schemeClr val="lt1"/>
          </a:solidFill>
          <a:ln w="12700" cap="flat" cmpd="sng">
            <a:solidFill>
              <a:srgbClr val="F1E3F1"/>
            </a:solidFill>
            <a:prstDash val="solid"/>
            <a:miter lim="800000"/>
            <a:headEnd type="none" w="sm" len="sm"/>
            <a:tailEnd type="none" w="sm" len="sm"/>
          </a:ln>
          <a:effectLst>
            <a:outerShdw blurRad="50800" dist="38100" dir="2700000" algn="tl" rotWithShape="0">
              <a:srgbClr val="D8D8D8">
                <a:alpha val="29803"/>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FFFFFF"/>
              </a:solidFill>
              <a:latin typeface="Calibri"/>
              <a:ea typeface="Calibri"/>
              <a:cs typeface="Calibri"/>
              <a:sym typeface="Calibri"/>
            </a:endParaRPr>
          </a:p>
        </p:txBody>
      </p:sp>
      <p:sp>
        <p:nvSpPr>
          <p:cNvPr id="89" name="Google Shape;89;p75"/>
          <p:cNvSpPr/>
          <p:nvPr/>
        </p:nvSpPr>
        <p:spPr>
          <a:xfrm>
            <a:off x="498834" y="1618375"/>
            <a:ext cx="146304" cy="82296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FFFFFF"/>
              </a:solidFill>
              <a:latin typeface="Calibri"/>
              <a:ea typeface="Calibri"/>
              <a:cs typeface="Calibri"/>
              <a:sym typeface="Calibri"/>
            </a:endParaRPr>
          </a:p>
        </p:txBody>
      </p:sp>
      <p:sp>
        <p:nvSpPr>
          <p:cNvPr id="90" name="Google Shape;90;p75"/>
          <p:cNvSpPr txBox="1">
            <a:spLocks noGrp="1"/>
          </p:cNvSpPr>
          <p:nvPr>
            <p:ph type="title"/>
          </p:nvPr>
        </p:nvSpPr>
        <p:spPr>
          <a:xfrm>
            <a:off x="868680" y="1709928"/>
            <a:ext cx="3099816" cy="1709928"/>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dk1"/>
              </a:buClr>
              <a:buSzPts val="3400"/>
              <a:buFont typeface="Avenir"/>
              <a:buNone/>
              <a:defRPr sz="3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1" name="Google Shape;91;p75"/>
          <p:cNvSpPr txBox="1">
            <a:spLocks noGrp="1"/>
          </p:cNvSpPr>
          <p:nvPr>
            <p:ph type="body" idx="1"/>
          </p:nvPr>
        </p:nvSpPr>
        <p:spPr>
          <a:xfrm>
            <a:off x="4965192" y="1709928"/>
            <a:ext cx="6729984" cy="4096512"/>
          </a:xfrm>
          <a:prstGeom prst="rect">
            <a:avLst/>
          </a:prstGeom>
          <a:noFill/>
          <a:ln>
            <a:noFill/>
          </a:ln>
        </p:spPr>
        <p:txBody>
          <a:bodyPr spcFirstLastPara="1" wrap="square" lIns="91425" tIns="45700" rIns="91425" bIns="45700" anchor="t" anchorCtr="0">
            <a:normAutofit/>
          </a:bodyPr>
          <a:lstStyle>
            <a:lvl1pPr marL="457200" lvl="0" indent="-406400" algn="l">
              <a:lnSpc>
                <a:spcPct val="110000"/>
              </a:lnSpc>
              <a:spcBef>
                <a:spcPts val="1000"/>
              </a:spcBef>
              <a:spcAft>
                <a:spcPts val="0"/>
              </a:spcAft>
              <a:buClr>
                <a:schemeClr val="dk1"/>
              </a:buClr>
              <a:buSzPts val="2800"/>
              <a:buChar char="•"/>
              <a:defRPr sz="2800"/>
            </a:lvl1pPr>
            <a:lvl2pPr marL="914400" lvl="1" indent="-381000" algn="l">
              <a:lnSpc>
                <a:spcPct val="110000"/>
              </a:lnSpc>
              <a:spcBef>
                <a:spcPts val="500"/>
              </a:spcBef>
              <a:spcAft>
                <a:spcPts val="0"/>
              </a:spcAft>
              <a:buClr>
                <a:schemeClr val="dk1"/>
              </a:buClr>
              <a:buSzPts val="2400"/>
              <a:buChar char="•"/>
              <a:defRPr sz="2400"/>
            </a:lvl2pPr>
            <a:lvl3pPr marL="1371600" lvl="2" indent="-355600" algn="l">
              <a:lnSpc>
                <a:spcPct val="110000"/>
              </a:lnSpc>
              <a:spcBef>
                <a:spcPts val="500"/>
              </a:spcBef>
              <a:spcAft>
                <a:spcPts val="0"/>
              </a:spcAft>
              <a:buClr>
                <a:schemeClr val="dk1"/>
              </a:buClr>
              <a:buSzPts val="2000"/>
              <a:buChar char="•"/>
              <a:defRPr sz="2000"/>
            </a:lvl3pPr>
            <a:lvl4pPr marL="1828800" lvl="3" indent="-355600" algn="l">
              <a:lnSpc>
                <a:spcPct val="110000"/>
              </a:lnSpc>
              <a:spcBef>
                <a:spcPts val="500"/>
              </a:spcBef>
              <a:spcAft>
                <a:spcPts val="0"/>
              </a:spcAft>
              <a:buClr>
                <a:schemeClr val="dk1"/>
              </a:buClr>
              <a:buSzPts val="2000"/>
              <a:buChar char="•"/>
              <a:defRPr sz="2000"/>
            </a:lvl4pPr>
            <a:lvl5pPr marL="2286000" lvl="4" indent="-355600" algn="l">
              <a:lnSpc>
                <a:spcPct val="11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92" name="Google Shape;92;p75"/>
          <p:cNvSpPr txBox="1">
            <a:spLocks noGrp="1"/>
          </p:cNvSpPr>
          <p:nvPr>
            <p:ph type="body" idx="2"/>
          </p:nvPr>
        </p:nvSpPr>
        <p:spPr>
          <a:xfrm>
            <a:off x="868680" y="3429000"/>
            <a:ext cx="3099816" cy="2066544"/>
          </a:xfrm>
          <a:prstGeom prst="rect">
            <a:avLst/>
          </a:prstGeom>
          <a:noFill/>
          <a:ln>
            <a:noFill/>
          </a:ln>
        </p:spPr>
        <p:txBody>
          <a:bodyPr spcFirstLastPara="1" wrap="square" lIns="91425" tIns="45700" rIns="91425" bIns="45700" anchor="t" anchorCtr="0">
            <a:normAutofit/>
          </a:bodyPr>
          <a:lstStyle>
            <a:lvl1pPr marL="457200" lvl="0" indent="-228600" algn="l">
              <a:lnSpc>
                <a:spcPct val="110000"/>
              </a:lnSpc>
              <a:spcBef>
                <a:spcPts val="1000"/>
              </a:spcBef>
              <a:spcAft>
                <a:spcPts val="0"/>
              </a:spcAft>
              <a:buClr>
                <a:schemeClr val="dk1"/>
              </a:buClr>
              <a:buSzPts val="1800"/>
              <a:buNone/>
              <a:defRPr sz="1800"/>
            </a:lvl1pPr>
            <a:lvl2pPr marL="914400" lvl="1" indent="-228600" algn="l">
              <a:lnSpc>
                <a:spcPct val="110000"/>
              </a:lnSpc>
              <a:spcBef>
                <a:spcPts val="500"/>
              </a:spcBef>
              <a:spcAft>
                <a:spcPts val="0"/>
              </a:spcAft>
              <a:buClr>
                <a:schemeClr val="dk1"/>
              </a:buClr>
              <a:buSzPts val="1400"/>
              <a:buNone/>
              <a:defRPr sz="1400"/>
            </a:lvl2pPr>
            <a:lvl3pPr marL="1371600" lvl="2" indent="-228600" algn="l">
              <a:lnSpc>
                <a:spcPct val="110000"/>
              </a:lnSpc>
              <a:spcBef>
                <a:spcPts val="500"/>
              </a:spcBef>
              <a:spcAft>
                <a:spcPts val="0"/>
              </a:spcAft>
              <a:buClr>
                <a:schemeClr val="dk1"/>
              </a:buClr>
              <a:buSzPts val="1200"/>
              <a:buNone/>
              <a:defRPr sz="1200"/>
            </a:lvl3pPr>
            <a:lvl4pPr marL="1828800" lvl="3" indent="-228600" algn="l">
              <a:lnSpc>
                <a:spcPct val="110000"/>
              </a:lnSpc>
              <a:spcBef>
                <a:spcPts val="500"/>
              </a:spcBef>
              <a:spcAft>
                <a:spcPts val="0"/>
              </a:spcAft>
              <a:buClr>
                <a:schemeClr val="dk1"/>
              </a:buClr>
              <a:buSzPts val="1000"/>
              <a:buNone/>
              <a:defRPr sz="1000"/>
            </a:lvl4pPr>
            <a:lvl5pPr marL="2286000" lvl="4" indent="-228600" algn="l">
              <a:lnSpc>
                <a:spcPct val="11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93" name="Google Shape;93;p75"/>
          <p:cNvSpPr txBox="1">
            <a:spLocks noGrp="1"/>
          </p:cNvSpPr>
          <p:nvPr>
            <p:ph type="dt" idx="10"/>
          </p:nvPr>
        </p:nvSpPr>
        <p:spPr>
          <a:xfrm>
            <a:off x="86868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4" name="Google Shape;94;p7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7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l-G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96"/>
        <p:cNvGrpSpPr/>
        <p:nvPr/>
      </p:nvGrpSpPr>
      <p:grpSpPr>
        <a:xfrm>
          <a:off x="0" y="0"/>
          <a:ext cx="0" cy="0"/>
          <a:chOff x="0" y="0"/>
          <a:chExt cx="0" cy="0"/>
        </a:xfrm>
      </p:grpSpPr>
      <p:sp>
        <p:nvSpPr>
          <p:cNvPr id="97" name="Google Shape;97;p76"/>
          <p:cNvSpPr/>
          <p:nvPr/>
        </p:nvSpPr>
        <p:spPr>
          <a:xfrm>
            <a:off x="558210" y="1162033"/>
            <a:ext cx="3740740" cy="4643344"/>
          </a:xfrm>
          <a:prstGeom prst="rect">
            <a:avLst/>
          </a:prstGeom>
          <a:solidFill>
            <a:schemeClr val="lt1"/>
          </a:solidFill>
          <a:ln w="12700" cap="flat" cmpd="sng">
            <a:solidFill>
              <a:srgbClr val="F1E3F1"/>
            </a:solidFill>
            <a:prstDash val="solid"/>
            <a:miter lim="800000"/>
            <a:headEnd type="none" w="sm" len="sm"/>
            <a:tailEnd type="none" w="sm" len="sm"/>
          </a:ln>
          <a:effectLst>
            <a:outerShdw blurRad="50800" dist="38100" dir="2700000" algn="tl" rotWithShape="0">
              <a:srgbClr val="D8D8D8">
                <a:alpha val="29803"/>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FFFFFF"/>
              </a:solidFill>
              <a:latin typeface="Calibri"/>
              <a:ea typeface="Calibri"/>
              <a:cs typeface="Calibri"/>
              <a:sym typeface="Calibri"/>
            </a:endParaRPr>
          </a:p>
        </p:txBody>
      </p:sp>
      <p:sp>
        <p:nvSpPr>
          <p:cNvPr id="98" name="Google Shape;98;p76"/>
          <p:cNvSpPr/>
          <p:nvPr/>
        </p:nvSpPr>
        <p:spPr>
          <a:xfrm>
            <a:off x="498834" y="1618375"/>
            <a:ext cx="146304" cy="82296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FFFFFF"/>
              </a:solidFill>
              <a:latin typeface="Calibri"/>
              <a:ea typeface="Calibri"/>
              <a:cs typeface="Calibri"/>
              <a:sym typeface="Calibri"/>
            </a:endParaRPr>
          </a:p>
        </p:txBody>
      </p:sp>
      <p:sp>
        <p:nvSpPr>
          <p:cNvPr id="99" name="Google Shape;99;p76"/>
          <p:cNvSpPr txBox="1">
            <a:spLocks noGrp="1"/>
          </p:cNvSpPr>
          <p:nvPr>
            <p:ph type="title"/>
          </p:nvPr>
        </p:nvSpPr>
        <p:spPr>
          <a:xfrm>
            <a:off x="868680" y="1709928"/>
            <a:ext cx="3099816" cy="1709928"/>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dk1"/>
              </a:buClr>
              <a:buSzPts val="3400"/>
              <a:buFont typeface="Avenir"/>
              <a:buNone/>
              <a:defRPr sz="3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0" name="Google Shape;100;p76"/>
          <p:cNvSpPr>
            <a:spLocks noGrp="1"/>
          </p:cNvSpPr>
          <p:nvPr>
            <p:ph type="pic" idx="2"/>
          </p:nvPr>
        </p:nvSpPr>
        <p:spPr>
          <a:xfrm>
            <a:off x="4965192" y="1161288"/>
            <a:ext cx="6729984" cy="4645152"/>
          </a:xfrm>
          <a:prstGeom prst="rect">
            <a:avLst/>
          </a:prstGeom>
          <a:noFill/>
          <a:ln>
            <a:noFill/>
          </a:ln>
        </p:spPr>
      </p:sp>
      <p:sp>
        <p:nvSpPr>
          <p:cNvPr id="101" name="Google Shape;101;p76"/>
          <p:cNvSpPr txBox="1">
            <a:spLocks noGrp="1"/>
          </p:cNvSpPr>
          <p:nvPr>
            <p:ph type="body" idx="1"/>
          </p:nvPr>
        </p:nvSpPr>
        <p:spPr>
          <a:xfrm>
            <a:off x="868680" y="3438144"/>
            <a:ext cx="3099816" cy="2057400"/>
          </a:xfrm>
          <a:prstGeom prst="rect">
            <a:avLst/>
          </a:prstGeom>
          <a:noFill/>
          <a:ln>
            <a:noFill/>
          </a:ln>
        </p:spPr>
        <p:txBody>
          <a:bodyPr spcFirstLastPara="1" wrap="square" lIns="91425" tIns="45700" rIns="91425" bIns="45700" anchor="t" anchorCtr="0">
            <a:normAutofit/>
          </a:bodyPr>
          <a:lstStyle>
            <a:lvl1pPr marL="457200" lvl="0" indent="-228600" algn="l">
              <a:lnSpc>
                <a:spcPct val="110000"/>
              </a:lnSpc>
              <a:spcBef>
                <a:spcPts val="1000"/>
              </a:spcBef>
              <a:spcAft>
                <a:spcPts val="0"/>
              </a:spcAft>
              <a:buClr>
                <a:schemeClr val="dk1"/>
              </a:buClr>
              <a:buSzPts val="1800"/>
              <a:buNone/>
              <a:defRPr sz="1800"/>
            </a:lvl1pPr>
            <a:lvl2pPr marL="914400" lvl="1" indent="-228600" algn="l">
              <a:lnSpc>
                <a:spcPct val="110000"/>
              </a:lnSpc>
              <a:spcBef>
                <a:spcPts val="500"/>
              </a:spcBef>
              <a:spcAft>
                <a:spcPts val="0"/>
              </a:spcAft>
              <a:buClr>
                <a:schemeClr val="dk1"/>
              </a:buClr>
              <a:buSzPts val="1400"/>
              <a:buNone/>
              <a:defRPr sz="1400"/>
            </a:lvl2pPr>
            <a:lvl3pPr marL="1371600" lvl="2" indent="-228600" algn="l">
              <a:lnSpc>
                <a:spcPct val="110000"/>
              </a:lnSpc>
              <a:spcBef>
                <a:spcPts val="500"/>
              </a:spcBef>
              <a:spcAft>
                <a:spcPts val="0"/>
              </a:spcAft>
              <a:buClr>
                <a:schemeClr val="dk1"/>
              </a:buClr>
              <a:buSzPts val="1200"/>
              <a:buNone/>
              <a:defRPr sz="1200"/>
            </a:lvl3pPr>
            <a:lvl4pPr marL="1828800" lvl="3" indent="-228600" algn="l">
              <a:lnSpc>
                <a:spcPct val="110000"/>
              </a:lnSpc>
              <a:spcBef>
                <a:spcPts val="500"/>
              </a:spcBef>
              <a:spcAft>
                <a:spcPts val="0"/>
              </a:spcAft>
              <a:buClr>
                <a:schemeClr val="dk1"/>
              </a:buClr>
              <a:buSzPts val="1000"/>
              <a:buNone/>
              <a:defRPr sz="1000"/>
            </a:lvl4pPr>
            <a:lvl5pPr marL="2286000" lvl="4" indent="-228600" algn="l">
              <a:lnSpc>
                <a:spcPct val="11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02" name="Google Shape;102;p76"/>
          <p:cNvSpPr txBox="1">
            <a:spLocks noGrp="1"/>
          </p:cNvSpPr>
          <p:nvPr>
            <p:ph type="dt" idx="10"/>
          </p:nvPr>
        </p:nvSpPr>
        <p:spPr>
          <a:xfrm>
            <a:off x="86868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3" name="Google Shape;103;p7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4" name="Google Shape;104;p7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l-G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05"/>
        <p:cNvGrpSpPr/>
        <p:nvPr/>
      </p:nvGrpSpPr>
      <p:grpSpPr>
        <a:xfrm>
          <a:off x="0" y="0"/>
          <a:ext cx="0" cy="0"/>
          <a:chOff x="0" y="0"/>
          <a:chExt cx="0" cy="0"/>
        </a:xfrm>
      </p:grpSpPr>
      <p:sp>
        <p:nvSpPr>
          <p:cNvPr id="106" name="Google Shape;106;p7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7" name="Google Shape;107;p77"/>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110000"/>
              </a:lnSpc>
              <a:spcBef>
                <a:spcPts val="1000"/>
              </a:spcBef>
              <a:spcAft>
                <a:spcPts val="0"/>
              </a:spcAft>
              <a:buClr>
                <a:schemeClr val="dk1"/>
              </a:buClr>
              <a:buSzPts val="1800"/>
              <a:buChar char="•"/>
              <a:defRPr/>
            </a:lvl1pPr>
            <a:lvl2pPr marL="914400" lvl="1" indent="-342900" algn="l">
              <a:lnSpc>
                <a:spcPct val="110000"/>
              </a:lnSpc>
              <a:spcBef>
                <a:spcPts val="500"/>
              </a:spcBef>
              <a:spcAft>
                <a:spcPts val="0"/>
              </a:spcAft>
              <a:buClr>
                <a:schemeClr val="dk1"/>
              </a:buClr>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110000"/>
              </a:lnSpc>
              <a:spcBef>
                <a:spcPts val="500"/>
              </a:spcBef>
              <a:spcAft>
                <a:spcPts val="0"/>
              </a:spcAft>
              <a:buClr>
                <a:schemeClr val="dk1"/>
              </a:buClr>
              <a:buSzPts val="1800"/>
              <a:buChar char="•"/>
              <a:defRPr/>
            </a:lvl4pPr>
            <a:lvl5pPr marL="2286000" lvl="4" indent="-342900" algn="l">
              <a:lnSpc>
                <a:spcPct val="11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8" name="Google Shape;108;p7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9" name="Google Shape;109;p7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0" name="Google Shape;110;p7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l-G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11"/>
        <p:cNvGrpSpPr/>
        <p:nvPr/>
      </p:nvGrpSpPr>
      <p:grpSpPr>
        <a:xfrm>
          <a:off x="0" y="0"/>
          <a:ext cx="0" cy="0"/>
          <a:chOff x="0" y="0"/>
          <a:chExt cx="0" cy="0"/>
        </a:xfrm>
      </p:grpSpPr>
      <p:sp>
        <p:nvSpPr>
          <p:cNvPr id="112" name="Google Shape;112;p78"/>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3" name="Google Shape;113;p78"/>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110000"/>
              </a:lnSpc>
              <a:spcBef>
                <a:spcPts val="1000"/>
              </a:spcBef>
              <a:spcAft>
                <a:spcPts val="0"/>
              </a:spcAft>
              <a:buClr>
                <a:schemeClr val="dk1"/>
              </a:buClr>
              <a:buSzPts val="1800"/>
              <a:buChar char="•"/>
              <a:defRPr/>
            </a:lvl1pPr>
            <a:lvl2pPr marL="914400" lvl="1" indent="-342900" algn="l">
              <a:lnSpc>
                <a:spcPct val="110000"/>
              </a:lnSpc>
              <a:spcBef>
                <a:spcPts val="500"/>
              </a:spcBef>
              <a:spcAft>
                <a:spcPts val="0"/>
              </a:spcAft>
              <a:buClr>
                <a:schemeClr val="dk1"/>
              </a:buClr>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110000"/>
              </a:lnSpc>
              <a:spcBef>
                <a:spcPts val="500"/>
              </a:spcBef>
              <a:spcAft>
                <a:spcPts val="0"/>
              </a:spcAft>
              <a:buClr>
                <a:schemeClr val="dk1"/>
              </a:buClr>
              <a:buSzPts val="1800"/>
              <a:buChar char="•"/>
              <a:defRPr/>
            </a:lvl4pPr>
            <a:lvl5pPr marL="2286000" lvl="4" indent="-342900" algn="l">
              <a:lnSpc>
                <a:spcPct val="11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4" name="Google Shape;114;p7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5" name="Google Shape;115;p7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6" name="Google Shape;116;p7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l-G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9"/>
        <p:cNvGrpSpPr/>
        <p:nvPr/>
      </p:nvGrpSpPr>
      <p:grpSpPr>
        <a:xfrm>
          <a:off x="0" y="0"/>
          <a:ext cx="0" cy="0"/>
          <a:chOff x="0" y="0"/>
          <a:chExt cx="0" cy="0"/>
        </a:xfrm>
      </p:grpSpPr>
      <p:sp>
        <p:nvSpPr>
          <p:cNvPr id="10" name="Google Shape;10;p6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lt1"/>
              </a:buClr>
              <a:buSzPts val="4400"/>
              <a:buFont typeface="Avenir"/>
              <a:buNone/>
              <a:defRPr sz="4400" b="0" i="0" u="none" strike="noStrike" cap="none">
                <a:solidFill>
                  <a:schemeClr val="lt1"/>
                </a:solidFill>
                <a:latin typeface="Avenir"/>
                <a:ea typeface="Avenir"/>
                <a:cs typeface="Avenir"/>
                <a:sym typeface="Avenir"/>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6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110000"/>
              </a:lnSpc>
              <a:spcBef>
                <a:spcPts val="1000"/>
              </a:spcBef>
              <a:spcAft>
                <a:spcPts val="0"/>
              </a:spcAft>
              <a:buClr>
                <a:schemeClr val="lt1"/>
              </a:buClr>
              <a:buSzPts val="2800"/>
              <a:buFont typeface="Arial"/>
              <a:buChar char="•"/>
              <a:defRPr sz="2800" b="0" i="0" u="none" strike="noStrike" cap="none">
                <a:solidFill>
                  <a:schemeClr val="lt1"/>
                </a:solidFill>
                <a:latin typeface="Avenir"/>
                <a:ea typeface="Avenir"/>
                <a:cs typeface="Avenir"/>
                <a:sym typeface="Avenir"/>
              </a:defRPr>
            </a:lvl1pPr>
            <a:lvl2pPr marL="914400" marR="0" lvl="1" indent="-381000" algn="l" rtl="0">
              <a:lnSpc>
                <a:spcPct val="110000"/>
              </a:lnSpc>
              <a:spcBef>
                <a:spcPts val="500"/>
              </a:spcBef>
              <a:spcAft>
                <a:spcPts val="0"/>
              </a:spcAft>
              <a:buClr>
                <a:schemeClr val="lt1"/>
              </a:buClr>
              <a:buSzPts val="2400"/>
              <a:buFont typeface="Arial"/>
              <a:buChar char="•"/>
              <a:defRPr sz="2400" b="0" i="0" u="none" strike="noStrike" cap="none">
                <a:solidFill>
                  <a:schemeClr val="lt1"/>
                </a:solidFill>
                <a:latin typeface="Avenir"/>
                <a:ea typeface="Avenir"/>
                <a:cs typeface="Avenir"/>
                <a:sym typeface="Avenir"/>
              </a:defRPr>
            </a:lvl2pPr>
            <a:lvl3pPr marL="1371600" marR="0" lvl="2" indent="-355600" algn="l" rtl="0">
              <a:lnSpc>
                <a:spcPct val="110000"/>
              </a:lnSpc>
              <a:spcBef>
                <a:spcPts val="500"/>
              </a:spcBef>
              <a:spcAft>
                <a:spcPts val="0"/>
              </a:spcAft>
              <a:buClr>
                <a:schemeClr val="lt1"/>
              </a:buClr>
              <a:buSzPts val="2000"/>
              <a:buFont typeface="Arial"/>
              <a:buChar char="•"/>
              <a:defRPr sz="2000" b="0" i="0" u="none" strike="noStrike" cap="none">
                <a:solidFill>
                  <a:schemeClr val="lt1"/>
                </a:solidFill>
                <a:latin typeface="Avenir"/>
                <a:ea typeface="Avenir"/>
                <a:cs typeface="Avenir"/>
                <a:sym typeface="Avenir"/>
              </a:defRPr>
            </a:lvl3pPr>
            <a:lvl4pPr marL="1828800" marR="0" lvl="3" indent="-342900" algn="l" rtl="0">
              <a:lnSpc>
                <a:spcPct val="110000"/>
              </a:lnSpc>
              <a:spcBef>
                <a:spcPts val="500"/>
              </a:spcBef>
              <a:spcAft>
                <a:spcPts val="0"/>
              </a:spcAft>
              <a:buClr>
                <a:schemeClr val="lt1"/>
              </a:buClr>
              <a:buSzPts val="1800"/>
              <a:buFont typeface="Arial"/>
              <a:buChar char="•"/>
              <a:defRPr sz="1800" b="0" i="0" u="none" strike="noStrike" cap="none">
                <a:solidFill>
                  <a:schemeClr val="lt1"/>
                </a:solidFill>
                <a:latin typeface="Avenir"/>
                <a:ea typeface="Avenir"/>
                <a:cs typeface="Avenir"/>
                <a:sym typeface="Avenir"/>
              </a:defRPr>
            </a:lvl4pPr>
            <a:lvl5pPr marL="2286000" marR="0" lvl="4" indent="-342900" algn="l" rtl="0">
              <a:lnSpc>
                <a:spcPct val="110000"/>
              </a:lnSpc>
              <a:spcBef>
                <a:spcPts val="500"/>
              </a:spcBef>
              <a:spcAft>
                <a:spcPts val="0"/>
              </a:spcAft>
              <a:buClr>
                <a:schemeClr val="lt1"/>
              </a:buClr>
              <a:buSzPts val="1800"/>
              <a:buFont typeface="Arial"/>
              <a:buChar char="•"/>
              <a:defRPr sz="1800" b="0" i="0" u="none" strike="noStrike" cap="none">
                <a:solidFill>
                  <a:schemeClr val="lt1"/>
                </a:solidFill>
                <a:latin typeface="Avenir"/>
                <a:ea typeface="Avenir"/>
                <a:cs typeface="Avenir"/>
                <a:sym typeface="Avenir"/>
              </a:defRPr>
            </a:lvl5pPr>
            <a:lvl6pPr marL="2743200" marR="0" lvl="5"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venir"/>
                <a:ea typeface="Avenir"/>
                <a:cs typeface="Avenir"/>
                <a:sym typeface="Avenir"/>
              </a:defRPr>
            </a:lvl6pPr>
            <a:lvl7pPr marL="3200400" marR="0" lvl="6"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venir"/>
                <a:ea typeface="Avenir"/>
                <a:cs typeface="Avenir"/>
                <a:sym typeface="Avenir"/>
              </a:defRPr>
            </a:lvl7pPr>
            <a:lvl8pPr marL="3657600" marR="0" lvl="7"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venir"/>
                <a:ea typeface="Avenir"/>
                <a:cs typeface="Avenir"/>
                <a:sym typeface="Avenir"/>
              </a:defRPr>
            </a:lvl8pPr>
            <a:lvl9pPr marL="4114800" marR="0" lvl="8"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venir"/>
                <a:ea typeface="Avenir"/>
                <a:cs typeface="Avenir"/>
                <a:sym typeface="Avenir"/>
              </a:defRPr>
            </a:lvl9pPr>
          </a:lstStyle>
          <a:p>
            <a:endParaRPr/>
          </a:p>
        </p:txBody>
      </p:sp>
      <p:sp>
        <p:nvSpPr>
          <p:cNvPr id="12" name="Google Shape;12;p6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chemeClr val="lt1"/>
                </a:solidFill>
                <a:latin typeface="Avenir"/>
                <a:ea typeface="Avenir"/>
                <a:cs typeface="Avenir"/>
                <a:sym typeface="Avenir"/>
              </a:defRPr>
            </a:lvl1pPr>
            <a:lvl2pPr marR="0" lvl="1" algn="l" rtl="0">
              <a:spcBef>
                <a:spcPts val="0"/>
              </a:spcBef>
              <a:spcAft>
                <a:spcPts val="0"/>
              </a:spcAft>
              <a:buSzPts val="1400"/>
              <a:buNone/>
              <a:defRPr sz="1800" b="0" i="0" u="none" strike="noStrike" cap="none">
                <a:solidFill>
                  <a:schemeClr val="lt1"/>
                </a:solidFill>
                <a:latin typeface="Avenir"/>
                <a:ea typeface="Avenir"/>
                <a:cs typeface="Avenir"/>
                <a:sym typeface="Avenir"/>
              </a:defRPr>
            </a:lvl2pPr>
            <a:lvl3pPr marR="0" lvl="2" algn="l" rtl="0">
              <a:spcBef>
                <a:spcPts val="0"/>
              </a:spcBef>
              <a:spcAft>
                <a:spcPts val="0"/>
              </a:spcAft>
              <a:buSzPts val="1400"/>
              <a:buNone/>
              <a:defRPr sz="1800" b="0" i="0" u="none" strike="noStrike" cap="none">
                <a:solidFill>
                  <a:schemeClr val="lt1"/>
                </a:solidFill>
                <a:latin typeface="Avenir"/>
                <a:ea typeface="Avenir"/>
                <a:cs typeface="Avenir"/>
                <a:sym typeface="Avenir"/>
              </a:defRPr>
            </a:lvl3pPr>
            <a:lvl4pPr marR="0" lvl="3" algn="l" rtl="0">
              <a:spcBef>
                <a:spcPts val="0"/>
              </a:spcBef>
              <a:spcAft>
                <a:spcPts val="0"/>
              </a:spcAft>
              <a:buSzPts val="1400"/>
              <a:buNone/>
              <a:defRPr sz="1800" b="0" i="0" u="none" strike="noStrike" cap="none">
                <a:solidFill>
                  <a:schemeClr val="lt1"/>
                </a:solidFill>
                <a:latin typeface="Avenir"/>
                <a:ea typeface="Avenir"/>
                <a:cs typeface="Avenir"/>
                <a:sym typeface="Avenir"/>
              </a:defRPr>
            </a:lvl4pPr>
            <a:lvl5pPr marR="0" lvl="4" algn="l" rtl="0">
              <a:spcBef>
                <a:spcPts val="0"/>
              </a:spcBef>
              <a:spcAft>
                <a:spcPts val="0"/>
              </a:spcAft>
              <a:buSzPts val="1400"/>
              <a:buNone/>
              <a:defRPr sz="1800" b="0" i="0" u="none" strike="noStrike" cap="none">
                <a:solidFill>
                  <a:schemeClr val="lt1"/>
                </a:solidFill>
                <a:latin typeface="Avenir"/>
                <a:ea typeface="Avenir"/>
                <a:cs typeface="Avenir"/>
                <a:sym typeface="Avenir"/>
              </a:defRPr>
            </a:lvl5pPr>
            <a:lvl6pPr marR="0" lvl="5" algn="l" rtl="0">
              <a:spcBef>
                <a:spcPts val="0"/>
              </a:spcBef>
              <a:spcAft>
                <a:spcPts val="0"/>
              </a:spcAft>
              <a:buSzPts val="1400"/>
              <a:buNone/>
              <a:defRPr sz="1800" b="0" i="0" u="none" strike="noStrike" cap="none">
                <a:solidFill>
                  <a:schemeClr val="lt1"/>
                </a:solidFill>
                <a:latin typeface="Avenir"/>
                <a:ea typeface="Avenir"/>
                <a:cs typeface="Avenir"/>
                <a:sym typeface="Avenir"/>
              </a:defRPr>
            </a:lvl6pPr>
            <a:lvl7pPr marR="0" lvl="6" algn="l" rtl="0">
              <a:spcBef>
                <a:spcPts val="0"/>
              </a:spcBef>
              <a:spcAft>
                <a:spcPts val="0"/>
              </a:spcAft>
              <a:buSzPts val="1400"/>
              <a:buNone/>
              <a:defRPr sz="1800" b="0" i="0" u="none" strike="noStrike" cap="none">
                <a:solidFill>
                  <a:schemeClr val="lt1"/>
                </a:solidFill>
                <a:latin typeface="Avenir"/>
                <a:ea typeface="Avenir"/>
                <a:cs typeface="Avenir"/>
                <a:sym typeface="Avenir"/>
              </a:defRPr>
            </a:lvl7pPr>
            <a:lvl8pPr marR="0" lvl="7" algn="l" rtl="0">
              <a:spcBef>
                <a:spcPts val="0"/>
              </a:spcBef>
              <a:spcAft>
                <a:spcPts val="0"/>
              </a:spcAft>
              <a:buSzPts val="1400"/>
              <a:buNone/>
              <a:defRPr sz="1800" b="0" i="0" u="none" strike="noStrike" cap="none">
                <a:solidFill>
                  <a:schemeClr val="lt1"/>
                </a:solidFill>
                <a:latin typeface="Avenir"/>
                <a:ea typeface="Avenir"/>
                <a:cs typeface="Avenir"/>
                <a:sym typeface="Avenir"/>
              </a:defRPr>
            </a:lvl8pPr>
            <a:lvl9pPr marR="0" lvl="8" algn="l" rtl="0">
              <a:spcBef>
                <a:spcPts val="0"/>
              </a:spcBef>
              <a:spcAft>
                <a:spcPts val="0"/>
              </a:spcAft>
              <a:buSzPts val="1400"/>
              <a:buNone/>
              <a:defRPr sz="1800" b="0" i="0" u="none" strike="noStrike" cap="none">
                <a:solidFill>
                  <a:schemeClr val="lt1"/>
                </a:solidFill>
                <a:latin typeface="Avenir"/>
                <a:ea typeface="Avenir"/>
                <a:cs typeface="Avenir"/>
                <a:sym typeface="Avenir"/>
              </a:defRPr>
            </a:lvl9pPr>
          </a:lstStyle>
          <a:p>
            <a:endParaRPr/>
          </a:p>
        </p:txBody>
      </p:sp>
      <p:sp>
        <p:nvSpPr>
          <p:cNvPr id="13" name="Google Shape;13;p6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chemeClr val="lt1"/>
                </a:solidFill>
                <a:latin typeface="Avenir"/>
                <a:ea typeface="Avenir"/>
                <a:cs typeface="Avenir"/>
                <a:sym typeface="Avenir"/>
              </a:defRPr>
            </a:lvl1pPr>
            <a:lvl2pPr marR="0" lvl="1" algn="l" rtl="0">
              <a:spcBef>
                <a:spcPts val="0"/>
              </a:spcBef>
              <a:spcAft>
                <a:spcPts val="0"/>
              </a:spcAft>
              <a:buSzPts val="1400"/>
              <a:buNone/>
              <a:defRPr sz="1800" b="0" i="0" u="none" strike="noStrike" cap="none">
                <a:solidFill>
                  <a:schemeClr val="lt1"/>
                </a:solidFill>
                <a:latin typeface="Avenir"/>
                <a:ea typeface="Avenir"/>
                <a:cs typeface="Avenir"/>
                <a:sym typeface="Avenir"/>
              </a:defRPr>
            </a:lvl2pPr>
            <a:lvl3pPr marR="0" lvl="2" algn="l" rtl="0">
              <a:spcBef>
                <a:spcPts val="0"/>
              </a:spcBef>
              <a:spcAft>
                <a:spcPts val="0"/>
              </a:spcAft>
              <a:buSzPts val="1400"/>
              <a:buNone/>
              <a:defRPr sz="1800" b="0" i="0" u="none" strike="noStrike" cap="none">
                <a:solidFill>
                  <a:schemeClr val="lt1"/>
                </a:solidFill>
                <a:latin typeface="Avenir"/>
                <a:ea typeface="Avenir"/>
                <a:cs typeface="Avenir"/>
                <a:sym typeface="Avenir"/>
              </a:defRPr>
            </a:lvl3pPr>
            <a:lvl4pPr marR="0" lvl="3" algn="l" rtl="0">
              <a:spcBef>
                <a:spcPts val="0"/>
              </a:spcBef>
              <a:spcAft>
                <a:spcPts val="0"/>
              </a:spcAft>
              <a:buSzPts val="1400"/>
              <a:buNone/>
              <a:defRPr sz="1800" b="0" i="0" u="none" strike="noStrike" cap="none">
                <a:solidFill>
                  <a:schemeClr val="lt1"/>
                </a:solidFill>
                <a:latin typeface="Avenir"/>
                <a:ea typeface="Avenir"/>
                <a:cs typeface="Avenir"/>
                <a:sym typeface="Avenir"/>
              </a:defRPr>
            </a:lvl4pPr>
            <a:lvl5pPr marR="0" lvl="4" algn="l" rtl="0">
              <a:spcBef>
                <a:spcPts val="0"/>
              </a:spcBef>
              <a:spcAft>
                <a:spcPts val="0"/>
              </a:spcAft>
              <a:buSzPts val="1400"/>
              <a:buNone/>
              <a:defRPr sz="1800" b="0" i="0" u="none" strike="noStrike" cap="none">
                <a:solidFill>
                  <a:schemeClr val="lt1"/>
                </a:solidFill>
                <a:latin typeface="Avenir"/>
                <a:ea typeface="Avenir"/>
                <a:cs typeface="Avenir"/>
                <a:sym typeface="Avenir"/>
              </a:defRPr>
            </a:lvl5pPr>
            <a:lvl6pPr marR="0" lvl="5" algn="l" rtl="0">
              <a:spcBef>
                <a:spcPts val="0"/>
              </a:spcBef>
              <a:spcAft>
                <a:spcPts val="0"/>
              </a:spcAft>
              <a:buSzPts val="1400"/>
              <a:buNone/>
              <a:defRPr sz="1800" b="0" i="0" u="none" strike="noStrike" cap="none">
                <a:solidFill>
                  <a:schemeClr val="lt1"/>
                </a:solidFill>
                <a:latin typeface="Avenir"/>
                <a:ea typeface="Avenir"/>
                <a:cs typeface="Avenir"/>
                <a:sym typeface="Avenir"/>
              </a:defRPr>
            </a:lvl6pPr>
            <a:lvl7pPr marR="0" lvl="6" algn="l" rtl="0">
              <a:spcBef>
                <a:spcPts val="0"/>
              </a:spcBef>
              <a:spcAft>
                <a:spcPts val="0"/>
              </a:spcAft>
              <a:buSzPts val="1400"/>
              <a:buNone/>
              <a:defRPr sz="1800" b="0" i="0" u="none" strike="noStrike" cap="none">
                <a:solidFill>
                  <a:schemeClr val="lt1"/>
                </a:solidFill>
                <a:latin typeface="Avenir"/>
                <a:ea typeface="Avenir"/>
                <a:cs typeface="Avenir"/>
                <a:sym typeface="Avenir"/>
              </a:defRPr>
            </a:lvl7pPr>
            <a:lvl8pPr marR="0" lvl="7" algn="l" rtl="0">
              <a:spcBef>
                <a:spcPts val="0"/>
              </a:spcBef>
              <a:spcAft>
                <a:spcPts val="0"/>
              </a:spcAft>
              <a:buSzPts val="1400"/>
              <a:buNone/>
              <a:defRPr sz="1800" b="0" i="0" u="none" strike="noStrike" cap="none">
                <a:solidFill>
                  <a:schemeClr val="lt1"/>
                </a:solidFill>
                <a:latin typeface="Avenir"/>
                <a:ea typeface="Avenir"/>
                <a:cs typeface="Avenir"/>
                <a:sym typeface="Avenir"/>
              </a:defRPr>
            </a:lvl8pPr>
            <a:lvl9pPr marR="0" lvl="8" algn="l" rtl="0">
              <a:spcBef>
                <a:spcPts val="0"/>
              </a:spcBef>
              <a:spcAft>
                <a:spcPts val="0"/>
              </a:spcAft>
              <a:buSzPts val="1400"/>
              <a:buNone/>
              <a:defRPr sz="1800" b="0" i="0" u="none" strike="noStrike" cap="none">
                <a:solidFill>
                  <a:schemeClr val="lt1"/>
                </a:solidFill>
                <a:latin typeface="Avenir"/>
                <a:ea typeface="Avenir"/>
                <a:cs typeface="Avenir"/>
                <a:sym typeface="Avenir"/>
              </a:defRPr>
            </a:lvl9pPr>
          </a:lstStyle>
          <a:p>
            <a:endParaRPr/>
          </a:p>
        </p:txBody>
      </p:sp>
      <p:sp>
        <p:nvSpPr>
          <p:cNvPr id="14" name="Google Shape;14;p6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chemeClr val="lt1"/>
                </a:solidFill>
                <a:latin typeface="Avenir"/>
                <a:ea typeface="Avenir"/>
                <a:cs typeface="Avenir"/>
                <a:sym typeface="Avenir"/>
              </a:defRPr>
            </a:lvl1pPr>
            <a:lvl2pPr marL="0" marR="0" lvl="1" indent="0" algn="r" rtl="0">
              <a:spcBef>
                <a:spcPts val="0"/>
              </a:spcBef>
              <a:buNone/>
              <a:defRPr sz="1200" b="0" i="0" u="none" strike="noStrike" cap="none">
                <a:solidFill>
                  <a:schemeClr val="lt1"/>
                </a:solidFill>
                <a:latin typeface="Avenir"/>
                <a:ea typeface="Avenir"/>
                <a:cs typeface="Avenir"/>
                <a:sym typeface="Avenir"/>
              </a:defRPr>
            </a:lvl2pPr>
            <a:lvl3pPr marL="0" marR="0" lvl="2" indent="0" algn="r" rtl="0">
              <a:spcBef>
                <a:spcPts val="0"/>
              </a:spcBef>
              <a:buNone/>
              <a:defRPr sz="1200" b="0" i="0" u="none" strike="noStrike" cap="none">
                <a:solidFill>
                  <a:schemeClr val="lt1"/>
                </a:solidFill>
                <a:latin typeface="Avenir"/>
                <a:ea typeface="Avenir"/>
                <a:cs typeface="Avenir"/>
                <a:sym typeface="Avenir"/>
              </a:defRPr>
            </a:lvl3pPr>
            <a:lvl4pPr marL="0" marR="0" lvl="3" indent="0" algn="r" rtl="0">
              <a:spcBef>
                <a:spcPts val="0"/>
              </a:spcBef>
              <a:buNone/>
              <a:defRPr sz="1200" b="0" i="0" u="none" strike="noStrike" cap="none">
                <a:solidFill>
                  <a:schemeClr val="lt1"/>
                </a:solidFill>
                <a:latin typeface="Avenir"/>
                <a:ea typeface="Avenir"/>
                <a:cs typeface="Avenir"/>
                <a:sym typeface="Avenir"/>
              </a:defRPr>
            </a:lvl4pPr>
            <a:lvl5pPr marL="0" marR="0" lvl="4" indent="0" algn="r" rtl="0">
              <a:spcBef>
                <a:spcPts val="0"/>
              </a:spcBef>
              <a:buNone/>
              <a:defRPr sz="1200" b="0" i="0" u="none" strike="noStrike" cap="none">
                <a:solidFill>
                  <a:schemeClr val="lt1"/>
                </a:solidFill>
                <a:latin typeface="Avenir"/>
                <a:ea typeface="Avenir"/>
                <a:cs typeface="Avenir"/>
                <a:sym typeface="Avenir"/>
              </a:defRPr>
            </a:lvl5pPr>
            <a:lvl6pPr marL="0" marR="0" lvl="5" indent="0" algn="r" rtl="0">
              <a:spcBef>
                <a:spcPts val="0"/>
              </a:spcBef>
              <a:buNone/>
              <a:defRPr sz="1200" b="0" i="0" u="none" strike="noStrike" cap="none">
                <a:solidFill>
                  <a:schemeClr val="lt1"/>
                </a:solidFill>
                <a:latin typeface="Avenir"/>
                <a:ea typeface="Avenir"/>
                <a:cs typeface="Avenir"/>
                <a:sym typeface="Avenir"/>
              </a:defRPr>
            </a:lvl6pPr>
            <a:lvl7pPr marL="0" marR="0" lvl="6" indent="0" algn="r" rtl="0">
              <a:spcBef>
                <a:spcPts val="0"/>
              </a:spcBef>
              <a:buNone/>
              <a:defRPr sz="1200" b="0" i="0" u="none" strike="noStrike" cap="none">
                <a:solidFill>
                  <a:schemeClr val="lt1"/>
                </a:solidFill>
                <a:latin typeface="Avenir"/>
                <a:ea typeface="Avenir"/>
                <a:cs typeface="Avenir"/>
                <a:sym typeface="Avenir"/>
              </a:defRPr>
            </a:lvl7pPr>
            <a:lvl8pPr marL="0" marR="0" lvl="7" indent="0" algn="r" rtl="0">
              <a:spcBef>
                <a:spcPts val="0"/>
              </a:spcBef>
              <a:buNone/>
              <a:defRPr sz="1200" b="0" i="0" u="none" strike="noStrike" cap="none">
                <a:solidFill>
                  <a:schemeClr val="lt1"/>
                </a:solidFill>
                <a:latin typeface="Avenir"/>
                <a:ea typeface="Avenir"/>
                <a:cs typeface="Avenir"/>
                <a:sym typeface="Avenir"/>
              </a:defRPr>
            </a:lvl8pPr>
            <a:lvl9pPr marL="0" marR="0" lvl="8" indent="0" algn="r" rtl="0">
              <a:spcBef>
                <a:spcPts val="0"/>
              </a:spcBef>
              <a:buNone/>
              <a:defRPr sz="1200" b="0" i="0" u="none" strike="noStrike" cap="none">
                <a:solidFill>
                  <a:schemeClr val="lt1"/>
                </a:solidFill>
                <a:latin typeface="Avenir"/>
                <a:ea typeface="Avenir"/>
                <a:cs typeface="Avenir"/>
                <a:sym typeface="Avenir"/>
              </a:defRPr>
            </a:lvl9pPr>
          </a:lstStyle>
          <a:p>
            <a:pPr marL="0" lvl="0" indent="0" algn="r" rtl="0">
              <a:spcBef>
                <a:spcPts val="0"/>
              </a:spcBef>
              <a:spcAft>
                <a:spcPts val="0"/>
              </a:spcAft>
              <a:buNone/>
            </a:pPr>
            <a:fld id="{00000000-1234-1234-1234-123412341234}" type="slidenum">
              <a:rPr lang="el-GR"/>
              <a:t>‹#›</a:t>
            </a:fld>
            <a:endParaRPr/>
          </a:p>
        </p:txBody>
      </p:sp>
    </p:spTree>
  </p:cSld>
  <p:clrMap bg1="lt1" tx1="dk1" bg2="dk2" tx2="lt2" accent1="accent1" accent2="accent2" accent3="accent3" accent4="accent4" accent5="accent5" accent6="accent6" hlink="hlink" folHlink="folHlink"/>
  <p:sldLayoutIdLst>
    <p:sldLayoutId id="214748364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3"/>
        <p:cNvGrpSpPr/>
        <p:nvPr/>
      </p:nvGrpSpPr>
      <p:grpSpPr>
        <a:xfrm>
          <a:off x="0" y="0"/>
          <a:ext cx="0" cy="0"/>
          <a:chOff x="0" y="0"/>
          <a:chExt cx="0" cy="0"/>
        </a:xfrm>
      </p:grpSpPr>
      <p:sp>
        <p:nvSpPr>
          <p:cNvPr id="24" name="Google Shape;24;p6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Avenir"/>
              <a:buNone/>
              <a:defRPr sz="4400" b="0" i="0" u="none" strike="noStrike" cap="none">
                <a:solidFill>
                  <a:schemeClr val="dk1"/>
                </a:solidFill>
                <a:latin typeface="Avenir"/>
                <a:ea typeface="Avenir"/>
                <a:cs typeface="Avenir"/>
                <a:sym typeface="Avenir"/>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5" name="Google Shape;25;p6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110000"/>
              </a:lnSpc>
              <a:spcBef>
                <a:spcPts val="1000"/>
              </a:spcBef>
              <a:spcAft>
                <a:spcPts val="0"/>
              </a:spcAft>
              <a:buClr>
                <a:schemeClr val="dk1"/>
              </a:buClr>
              <a:buSzPts val="2800"/>
              <a:buFont typeface="Arial"/>
              <a:buChar char="•"/>
              <a:defRPr sz="2800" b="0" i="0" u="none" strike="noStrike" cap="none">
                <a:solidFill>
                  <a:schemeClr val="dk1"/>
                </a:solidFill>
                <a:latin typeface="Avenir"/>
                <a:ea typeface="Avenir"/>
                <a:cs typeface="Avenir"/>
                <a:sym typeface="Avenir"/>
              </a:defRPr>
            </a:lvl1pPr>
            <a:lvl2pPr marL="914400" marR="0" lvl="1" indent="-381000" algn="l" rtl="0">
              <a:lnSpc>
                <a:spcPct val="110000"/>
              </a:lnSpc>
              <a:spcBef>
                <a:spcPts val="500"/>
              </a:spcBef>
              <a:spcAft>
                <a:spcPts val="0"/>
              </a:spcAft>
              <a:buClr>
                <a:schemeClr val="dk1"/>
              </a:buClr>
              <a:buSzPts val="2400"/>
              <a:buFont typeface="Arial"/>
              <a:buChar char="•"/>
              <a:defRPr sz="2400" b="0" i="0" u="none" strike="noStrike" cap="none">
                <a:solidFill>
                  <a:schemeClr val="dk1"/>
                </a:solidFill>
                <a:latin typeface="Avenir"/>
                <a:ea typeface="Avenir"/>
                <a:cs typeface="Avenir"/>
                <a:sym typeface="Avenir"/>
              </a:defRPr>
            </a:lvl2pPr>
            <a:lvl3pPr marL="1371600" marR="0" lvl="2" indent="-355600" algn="l" rtl="0">
              <a:lnSpc>
                <a:spcPct val="110000"/>
              </a:lnSpc>
              <a:spcBef>
                <a:spcPts val="500"/>
              </a:spcBef>
              <a:spcAft>
                <a:spcPts val="0"/>
              </a:spcAft>
              <a:buClr>
                <a:schemeClr val="dk1"/>
              </a:buClr>
              <a:buSzPts val="2000"/>
              <a:buFont typeface="Arial"/>
              <a:buChar char="•"/>
              <a:defRPr sz="2000" b="0" i="0" u="none" strike="noStrike" cap="none">
                <a:solidFill>
                  <a:schemeClr val="dk1"/>
                </a:solidFill>
                <a:latin typeface="Avenir"/>
                <a:ea typeface="Avenir"/>
                <a:cs typeface="Avenir"/>
                <a:sym typeface="Avenir"/>
              </a:defRPr>
            </a:lvl3pPr>
            <a:lvl4pPr marL="1828800" marR="0" lvl="3" indent="-342900" algn="l" rtl="0">
              <a:lnSpc>
                <a:spcPct val="11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4pPr>
            <a:lvl5pPr marL="2286000" marR="0" lvl="4" indent="-342900" algn="l" rtl="0">
              <a:lnSpc>
                <a:spcPct val="11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9pPr>
          </a:lstStyle>
          <a:p>
            <a:endParaRPr/>
          </a:p>
        </p:txBody>
      </p:sp>
      <p:sp>
        <p:nvSpPr>
          <p:cNvPr id="26" name="Google Shape;26;p6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Avenir"/>
                <a:ea typeface="Avenir"/>
                <a:cs typeface="Avenir"/>
                <a:sym typeface="Avenir"/>
              </a:defRPr>
            </a:lvl1pPr>
            <a:lvl2pPr marR="0" lvl="1" algn="l" rtl="0">
              <a:spcBef>
                <a:spcPts val="0"/>
              </a:spcBef>
              <a:spcAft>
                <a:spcPts val="0"/>
              </a:spcAft>
              <a:buSzPts val="1400"/>
              <a:buNone/>
              <a:defRPr sz="1800" b="0" i="0" u="none" strike="noStrike" cap="none">
                <a:solidFill>
                  <a:schemeClr val="dk1"/>
                </a:solidFill>
                <a:latin typeface="Avenir"/>
                <a:ea typeface="Avenir"/>
                <a:cs typeface="Avenir"/>
                <a:sym typeface="Avenir"/>
              </a:defRPr>
            </a:lvl2pPr>
            <a:lvl3pPr marR="0" lvl="2" algn="l" rtl="0">
              <a:spcBef>
                <a:spcPts val="0"/>
              </a:spcBef>
              <a:spcAft>
                <a:spcPts val="0"/>
              </a:spcAft>
              <a:buSzPts val="1400"/>
              <a:buNone/>
              <a:defRPr sz="1800" b="0" i="0" u="none" strike="noStrike" cap="none">
                <a:solidFill>
                  <a:schemeClr val="dk1"/>
                </a:solidFill>
                <a:latin typeface="Avenir"/>
                <a:ea typeface="Avenir"/>
                <a:cs typeface="Avenir"/>
                <a:sym typeface="Avenir"/>
              </a:defRPr>
            </a:lvl3pPr>
            <a:lvl4pPr marR="0" lvl="3" algn="l" rtl="0">
              <a:spcBef>
                <a:spcPts val="0"/>
              </a:spcBef>
              <a:spcAft>
                <a:spcPts val="0"/>
              </a:spcAft>
              <a:buSzPts val="1400"/>
              <a:buNone/>
              <a:defRPr sz="1800" b="0" i="0" u="none" strike="noStrike" cap="none">
                <a:solidFill>
                  <a:schemeClr val="dk1"/>
                </a:solidFill>
                <a:latin typeface="Avenir"/>
                <a:ea typeface="Avenir"/>
                <a:cs typeface="Avenir"/>
                <a:sym typeface="Avenir"/>
              </a:defRPr>
            </a:lvl4pPr>
            <a:lvl5pPr marR="0" lvl="4" algn="l" rtl="0">
              <a:spcBef>
                <a:spcPts val="0"/>
              </a:spcBef>
              <a:spcAft>
                <a:spcPts val="0"/>
              </a:spcAft>
              <a:buSzPts val="1400"/>
              <a:buNone/>
              <a:defRPr sz="1800" b="0" i="0" u="none" strike="noStrike" cap="none">
                <a:solidFill>
                  <a:schemeClr val="dk1"/>
                </a:solidFill>
                <a:latin typeface="Avenir"/>
                <a:ea typeface="Avenir"/>
                <a:cs typeface="Avenir"/>
                <a:sym typeface="Avenir"/>
              </a:defRPr>
            </a:lvl5pPr>
            <a:lvl6pPr marR="0" lvl="5" algn="l" rtl="0">
              <a:spcBef>
                <a:spcPts val="0"/>
              </a:spcBef>
              <a:spcAft>
                <a:spcPts val="0"/>
              </a:spcAft>
              <a:buSzPts val="1400"/>
              <a:buNone/>
              <a:defRPr sz="1800" b="0" i="0" u="none" strike="noStrike" cap="none">
                <a:solidFill>
                  <a:schemeClr val="dk1"/>
                </a:solidFill>
                <a:latin typeface="Avenir"/>
                <a:ea typeface="Avenir"/>
                <a:cs typeface="Avenir"/>
                <a:sym typeface="Avenir"/>
              </a:defRPr>
            </a:lvl6pPr>
            <a:lvl7pPr marR="0" lvl="6" algn="l" rtl="0">
              <a:spcBef>
                <a:spcPts val="0"/>
              </a:spcBef>
              <a:spcAft>
                <a:spcPts val="0"/>
              </a:spcAft>
              <a:buSzPts val="1400"/>
              <a:buNone/>
              <a:defRPr sz="1800" b="0" i="0" u="none" strike="noStrike" cap="none">
                <a:solidFill>
                  <a:schemeClr val="dk1"/>
                </a:solidFill>
                <a:latin typeface="Avenir"/>
                <a:ea typeface="Avenir"/>
                <a:cs typeface="Avenir"/>
                <a:sym typeface="Avenir"/>
              </a:defRPr>
            </a:lvl7pPr>
            <a:lvl8pPr marR="0" lvl="7" algn="l" rtl="0">
              <a:spcBef>
                <a:spcPts val="0"/>
              </a:spcBef>
              <a:spcAft>
                <a:spcPts val="0"/>
              </a:spcAft>
              <a:buSzPts val="1400"/>
              <a:buNone/>
              <a:defRPr sz="1800" b="0" i="0" u="none" strike="noStrike" cap="none">
                <a:solidFill>
                  <a:schemeClr val="dk1"/>
                </a:solidFill>
                <a:latin typeface="Avenir"/>
                <a:ea typeface="Avenir"/>
                <a:cs typeface="Avenir"/>
                <a:sym typeface="Avenir"/>
              </a:defRPr>
            </a:lvl8pPr>
            <a:lvl9pPr marR="0" lvl="8" algn="l" rtl="0">
              <a:spcBef>
                <a:spcPts val="0"/>
              </a:spcBef>
              <a:spcAft>
                <a:spcPts val="0"/>
              </a:spcAft>
              <a:buSzPts val="1400"/>
              <a:buNone/>
              <a:defRPr sz="1800" b="0" i="0" u="none" strike="noStrike" cap="none">
                <a:solidFill>
                  <a:schemeClr val="dk1"/>
                </a:solidFill>
                <a:latin typeface="Avenir"/>
                <a:ea typeface="Avenir"/>
                <a:cs typeface="Avenir"/>
                <a:sym typeface="Avenir"/>
              </a:defRPr>
            </a:lvl9pPr>
          </a:lstStyle>
          <a:p>
            <a:endParaRPr/>
          </a:p>
        </p:txBody>
      </p:sp>
      <p:sp>
        <p:nvSpPr>
          <p:cNvPr id="27" name="Google Shape;27;p6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Avenir"/>
                <a:ea typeface="Avenir"/>
                <a:cs typeface="Avenir"/>
                <a:sym typeface="Avenir"/>
              </a:defRPr>
            </a:lvl1pPr>
            <a:lvl2pPr marR="0" lvl="1" algn="l" rtl="0">
              <a:spcBef>
                <a:spcPts val="0"/>
              </a:spcBef>
              <a:spcAft>
                <a:spcPts val="0"/>
              </a:spcAft>
              <a:buSzPts val="1400"/>
              <a:buNone/>
              <a:defRPr sz="1800" b="0" i="0" u="none" strike="noStrike" cap="none">
                <a:solidFill>
                  <a:schemeClr val="dk1"/>
                </a:solidFill>
                <a:latin typeface="Avenir"/>
                <a:ea typeface="Avenir"/>
                <a:cs typeface="Avenir"/>
                <a:sym typeface="Avenir"/>
              </a:defRPr>
            </a:lvl2pPr>
            <a:lvl3pPr marR="0" lvl="2" algn="l" rtl="0">
              <a:spcBef>
                <a:spcPts val="0"/>
              </a:spcBef>
              <a:spcAft>
                <a:spcPts val="0"/>
              </a:spcAft>
              <a:buSzPts val="1400"/>
              <a:buNone/>
              <a:defRPr sz="1800" b="0" i="0" u="none" strike="noStrike" cap="none">
                <a:solidFill>
                  <a:schemeClr val="dk1"/>
                </a:solidFill>
                <a:latin typeface="Avenir"/>
                <a:ea typeface="Avenir"/>
                <a:cs typeface="Avenir"/>
                <a:sym typeface="Avenir"/>
              </a:defRPr>
            </a:lvl3pPr>
            <a:lvl4pPr marR="0" lvl="3" algn="l" rtl="0">
              <a:spcBef>
                <a:spcPts val="0"/>
              </a:spcBef>
              <a:spcAft>
                <a:spcPts val="0"/>
              </a:spcAft>
              <a:buSzPts val="1400"/>
              <a:buNone/>
              <a:defRPr sz="1800" b="0" i="0" u="none" strike="noStrike" cap="none">
                <a:solidFill>
                  <a:schemeClr val="dk1"/>
                </a:solidFill>
                <a:latin typeface="Avenir"/>
                <a:ea typeface="Avenir"/>
                <a:cs typeface="Avenir"/>
                <a:sym typeface="Avenir"/>
              </a:defRPr>
            </a:lvl4pPr>
            <a:lvl5pPr marR="0" lvl="4" algn="l" rtl="0">
              <a:spcBef>
                <a:spcPts val="0"/>
              </a:spcBef>
              <a:spcAft>
                <a:spcPts val="0"/>
              </a:spcAft>
              <a:buSzPts val="1400"/>
              <a:buNone/>
              <a:defRPr sz="1800" b="0" i="0" u="none" strike="noStrike" cap="none">
                <a:solidFill>
                  <a:schemeClr val="dk1"/>
                </a:solidFill>
                <a:latin typeface="Avenir"/>
                <a:ea typeface="Avenir"/>
                <a:cs typeface="Avenir"/>
                <a:sym typeface="Avenir"/>
              </a:defRPr>
            </a:lvl5pPr>
            <a:lvl6pPr marR="0" lvl="5" algn="l" rtl="0">
              <a:spcBef>
                <a:spcPts val="0"/>
              </a:spcBef>
              <a:spcAft>
                <a:spcPts val="0"/>
              </a:spcAft>
              <a:buSzPts val="1400"/>
              <a:buNone/>
              <a:defRPr sz="1800" b="0" i="0" u="none" strike="noStrike" cap="none">
                <a:solidFill>
                  <a:schemeClr val="dk1"/>
                </a:solidFill>
                <a:latin typeface="Avenir"/>
                <a:ea typeface="Avenir"/>
                <a:cs typeface="Avenir"/>
                <a:sym typeface="Avenir"/>
              </a:defRPr>
            </a:lvl6pPr>
            <a:lvl7pPr marR="0" lvl="6" algn="l" rtl="0">
              <a:spcBef>
                <a:spcPts val="0"/>
              </a:spcBef>
              <a:spcAft>
                <a:spcPts val="0"/>
              </a:spcAft>
              <a:buSzPts val="1400"/>
              <a:buNone/>
              <a:defRPr sz="1800" b="0" i="0" u="none" strike="noStrike" cap="none">
                <a:solidFill>
                  <a:schemeClr val="dk1"/>
                </a:solidFill>
                <a:latin typeface="Avenir"/>
                <a:ea typeface="Avenir"/>
                <a:cs typeface="Avenir"/>
                <a:sym typeface="Avenir"/>
              </a:defRPr>
            </a:lvl7pPr>
            <a:lvl8pPr marR="0" lvl="7" algn="l" rtl="0">
              <a:spcBef>
                <a:spcPts val="0"/>
              </a:spcBef>
              <a:spcAft>
                <a:spcPts val="0"/>
              </a:spcAft>
              <a:buSzPts val="1400"/>
              <a:buNone/>
              <a:defRPr sz="1800" b="0" i="0" u="none" strike="noStrike" cap="none">
                <a:solidFill>
                  <a:schemeClr val="dk1"/>
                </a:solidFill>
                <a:latin typeface="Avenir"/>
                <a:ea typeface="Avenir"/>
                <a:cs typeface="Avenir"/>
                <a:sym typeface="Avenir"/>
              </a:defRPr>
            </a:lvl8pPr>
            <a:lvl9pPr marR="0" lvl="8" algn="l" rtl="0">
              <a:spcBef>
                <a:spcPts val="0"/>
              </a:spcBef>
              <a:spcAft>
                <a:spcPts val="0"/>
              </a:spcAft>
              <a:buSzPts val="1400"/>
              <a:buNone/>
              <a:defRPr sz="1800" b="0" i="0" u="none" strike="noStrike" cap="none">
                <a:solidFill>
                  <a:schemeClr val="dk1"/>
                </a:solidFill>
                <a:latin typeface="Avenir"/>
                <a:ea typeface="Avenir"/>
                <a:cs typeface="Avenir"/>
                <a:sym typeface="Avenir"/>
              </a:defRPr>
            </a:lvl9pPr>
          </a:lstStyle>
          <a:p>
            <a:endParaRPr/>
          </a:p>
        </p:txBody>
      </p:sp>
      <p:sp>
        <p:nvSpPr>
          <p:cNvPr id="28" name="Google Shape;28;p6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Avenir"/>
                <a:ea typeface="Avenir"/>
                <a:cs typeface="Avenir"/>
                <a:sym typeface="Avenir"/>
              </a:defRPr>
            </a:lvl1pPr>
            <a:lvl2pPr marL="0" marR="0" lvl="1" indent="0" algn="r" rtl="0">
              <a:spcBef>
                <a:spcPts val="0"/>
              </a:spcBef>
              <a:buNone/>
              <a:defRPr sz="1200" b="0" i="0" u="none" strike="noStrike" cap="none">
                <a:solidFill>
                  <a:srgbClr val="888888"/>
                </a:solidFill>
                <a:latin typeface="Avenir"/>
                <a:ea typeface="Avenir"/>
                <a:cs typeface="Avenir"/>
                <a:sym typeface="Avenir"/>
              </a:defRPr>
            </a:lvl2pPr>
            <a:lvl3pPr marL="0" marR="0" lvl="2" indent="0" algn="r" rtl="0">
              <a:spcBef>
                <a:spcPts val="0"/>
              </a:spcBef>
              <a:buNone/>
              <a:defRPr sz="1200" b="0" i="0" u="none" strike="noStrike" cap="none">
                <a:solidFill>
                  <a:srgbClr val="888888"/>
                </a:solidFill>
                <a:latin typeface="Avenir"/>
                <a:ea typeface="Avenir"/>
                <a:cs typeface="Avenir"/>
                <a:sym typeface="Avenir"/>
              </a:defRPr>
            </a:lvl3pPr>
            <a:lvl4pPr marL="0" marR="0" lvl="3" indent="0" algn="r" rtl="0">
              <a:spcBef>
                <a:spcPts val="0"/>
              </a:spcBef>
              <a:buNone/>
              <a:defRPr sz="1200" b="0" i="0" u="none" strike="noStrike" cap="none">
                <a:solidFill>
                  <a:srgbClr val="888888"/>
                </a:solidFill>
                <a:latin typeface="Avenir"/>
                <a:ea typeface="Avenir"/>
                <a:cs typeface="Avenir"/>
                <a:sym typeface="Avenir"/>
              </a:defRPr>
            </a:lvl4pPr>
            <a:lvl5pPr marL="0" marR="0" lvl="4" indent="0" algn="r" rtl="0">
              <a:spcBef>
                <a:spcPts val="0"/>
              </a:spcBef>
              <a:buNone/>
              <a:defRPr sz="1200" b="0" i="0" u="none" strike="noStrike" cap="none">
                <a:solidFill>
                  <a:srgbClr val="888888"/>
                </a:solidFill>
                <a:latin typeface="Avenir"/>
                <a:ea typeface="Avenir"/>
                <a:cs typeface="Avenir"/>
                <a:sym typeface="Avenir"/>
              </a:defRPr>
            </a:lvl5pPr>
            <a:lvl6pPr marL="0" marR="0" lvl="5" indent="0" algn="r" rtl="0">
              <a:spcBef>
                <a:spcPts val="0"/>
              </a:spcBef>
              <a:buNone/>
              <a:defRPr sz="1200" b="0" i="0" u="none" strike="noStrike" cap="none">
                <a:solidFill>
                  <a:srgbClr val="888888"/>
                </a:solidFill>
                <a:latin typeface="Avenir"/>
                <a:ea typeface="Avenir"/>
                <a:cs typeface="Avenir"/>
                <a:sym typeface="Avenir"/>
              </a:defRPr>
            </a:lvl6pPr>
            <a:lvl7pPr marL="0" marR="0" lvl="6" indent="0" algn="r" rtl="0">
              <a:spcBef>
                <a:spcPts val="0"/>
              </a:spcBef>
              <a:buNone/>
              <a:defRPr sz="1200" b="0" i="0" u="none" strike="noStrike" cap="none">
                <a:solidFill>
                  <a:srgbClr val="888888"/>
                </a:solidFill>
                <a:latin typeface="Avenir"/>
                <a:ea typeface="Avenir"/>
                <a:cs typeface="Avenir"/>
                <a:sym typeface="Avenir"/>
              </a:defRPr>
            </a:lvl7pPr>
            <a:lvl8pPr marL="0" marR="0" lvl="7" indent="0" algn="r" rtl="0">
              <a:spcBef>
                <a:spcPts val="0"/>
              </a:spcBef>
              <a:buNone/>
              <a:defRPr sz="1200" b="0" i="0" u="none" strike="noStrike" cap="none">
                <a:solidFill>
                  <a:srgbClr val="888888"/>
                </a:solidFill>
                <a:latin typeface="Avenir"/>
                <a:ea typeface="Avenir"/>
                <a:cs typeface="Avenir"/>
                <a:sym typeface="Avenir"/>
              </a:defRPr>
            </a:lvl8pPr>
            <a:lvl9pPr marL="0" marR="0" lvl="8" indent="0" algn="r" rtl="0">
              <a:spcBef>
                <a:spcPts val="0"/>
              </a:spcBef>
              <a:buNone/>
              <a:defRPr sz="1200" b="0" i="0" u="none" strike="noStrike" cap="none">
                <a:solidFill>
                  <a:srgbClr val="888888"/>
                </a:solidFill>
                <a:latin typeface="Avenir"/>
                <a:ea typeface="Avenir"/>
                <a:cs typeface="Avenir"/>
                <a:sym typeface="Avenir"/>
              </a:defRPr>
            </a:lvl9pPr>
          </a:lstStyle>
          <a:p>
            <a:pPr marL="0" lvl="0" indent="0" algn="r" rtl="0">
              <a:spcBef>
                <a:spcPts val="0"/>
              </a:spcBef>
              <a:spcAft>
                <a:spcPts val="0"/>
              </a:spcAft>
              <a:buNone/>
            </a:pPr>
            <a:fld id="{00000000-1234-1234-1234-123412341234}" type="slidenum">
              <a:rPr lang="el-GR"/>
              <a:t>‹#›</a:t>
            </a:fld>
            <a:endParaRPr/>
          </a:p>
        </p:txBody>
      </p:sp>
    </p:spTree>
  </p:cSld>
  <p:clrMap bg1="lt1" tx1="dk1" bg2="dk2" tx2="lt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5.jpg"/></Relationships>
</file>

<file path=ppt/slides/_rels/slide20.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3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4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7.jp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39.jpg"/><Relationship Id="rId2" Type="http://schemas.openxmlformats.org/officeDocument/2006/relationships/notesSlide" Target="../notesSlides/notesSlide60.xml"/><Relationship Id="rId1" Type="http://schemas.openxmlformats.org/officeDocument/2006/relationships/slideLayout" Target="../slideLayouts/slideLayout2.xml"/><Relationship Id="rId5" Type="http://schemas.openxmlformats.org/officeDocument/2006/relationships/image" Target="../media/image41.png"/><Relationship Id="rId4" Type="http://schemas.openxmlformats.org/officeDocument/2006/relationships/image" Target="../media/image40.png"/></Relationships>
</file>

<file path=ppt/slides/_rels/slide6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121"/>
        <p:cNvGrpSpPr/>
        <p:nvPr/>
      </p:nvGrpSpPr>
      <p:grpSpPr>
        <a:xfrm>
          <a:off x="0" y="0"/>
          <a:ext cx="0" cy="0"/>
          <a:chOff x="0" y="0"/>
          <a:chExt cx="0" cy="0"/>
        </a:xfrm>
      </p:grpSpPr>
      <p:sp>
        <p:nvSpPr>
          <p:cNvPr id="122" name="Google Shape;122;p1"/>
          <p:cNvSpPr/>
          <p:nvPr/>
        </p:nvSpPr>
        <p:spPr>
          <a:xfrm>
            <a:off x="0" y="0"/>
            <a:ext cx="12192000" cy="68580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FFFFFF"/>
              </a:solidFill>
              <a:latin typeface="Avenir"/>
              <a:ea typeface="Avenir"/>
              <a:cs typeface="Avenir"/>
              <a:sym typeface="Avenir"/>
            </a:endParaRPr>
          </a:p>
        </p:txBody>
      </p:sp>
      <p:cxnSp>
        <p:nvCxnSpPr>
          <p:cNvPr id="123" name="Google Shape;123;p1"/>
          <p:cNvCxnSpPr/>
          <p:nvPr/>
        </p:nvCxnSpPr>
        <p:spPr>
          <a:xfrm>
            <a:off x="800100" y="723900"/>
            <a:ext cx="1638300" cy="0"/>
          </a:xfrm>
          <a:prstGeom prst="straightConnector1">
            <a:avLst/>
          </a:prstGeom>
          <a:noFill/>
          <a:ln w="44450" cap="flat" cmpd="sng">
            <a:solidFill>
              <a:schemeClr val="lt1"/>
            </a:solidFill>
            <a:prstDash val="solid"/>
            <a:miter lim="800000"/>
            <a:headEnd type="none" w="sm" len="sm"/>
            <a:tailEnd type="none" w="sm" len="sm"/>
          </a:ln>
        </p:spPr>
      </p:cxnSp>
      <p:pic>
        <p:nvPicPr>
          <p:cNvPr id="124" name="Google Shape;124;p1" descr="Topview of mint green workspace with laptop, coffee, notebook, pen, glasses, and mouse"/>
          <p:cNvPicPr preferRelativeResize="0"/>
          <p:nvPr/>
        </p:nvPicPr>
        <p:blipFill rotWithShape="1">
          <a:blip r:embed="rId3">
            <a:alphaModFix/>
          </a:blip>
          <a:srcRect b="15730"/>
          <a:stretch/>
        </p:blipFill>
        <p:spPr>
          <a:xfrm>
            <a:off x="21" y="-3"/>
            <a:ext cx="12191979" cy="6857990"/>
          </a:xfrm>
          <a:prstGeom prst="rect">
            <a:avLst/>
          </a:prstGeom>
          <a:noFill/>
          <a:ln>
            <a:noFill/>
          </a:ln>
        </p:spPr>
      </p:pic>
      <p:sp>
        <p:nvSpPr>
          <p:cNvPr id="125" name="Google Shape;125;p1"/>
          <p:cNvSpPr/>
          <p:nvPr/>
        </p:nvSpPr>
        <p:spPr>
          <a:xfrm rot="-5400000" flipH="1">
            <a:off x="5167042" y="-166956"/>
            <a:ext cx="6858002" cy="7191913"/>
          </a:xfrm>
          <a:prstGeom prst="rect">
            <a:avLst/>
          </a:prstGeom>
          <a:gradFill>
            <a:gsLst>
              <a:gs pos="0">
                <a:srgbClr val="000000">
                  <a:alpha val="0"/>
                </a:srgbClr>
              </a:gs>
              <a:gs pos="25000">
                <a:srgbClr val="000000">
                  <a:alpha val="37647"/>
                </a:srgbClr>
              </a:gs>
              <a:gs pos="46000">
                <a:srgbClr val="000000">
                  <a:alpha val="54901"/>
                </a:srgbClr>
              </a:gs>
              <a:gs pos="100000">
                <a:srgbClr val="000000">
                  <a:alpha val="60000"/>
                </a:srgbClr>
              </a:gs>
            </a:gsLst>
            <a:lin ang="5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FFFFFF"/>
              </a:solidFill>
              <a:latin typeface="Avenir"/>
              <a:ea typeface="Avenir"/>
              <a:cs typeface="Avenir"/>
              <a:sym typeface="Avenir"/>
            </a:endParaRPr>
          </a:p>
        </p:txBody>
      </p:sp>
      <p:sp>
        <p:nvSpPr>
          <p:cNvPr id="126" name="Google Shape;126;p1"/>
          <p:cNvSpPr txBox="1">
            <a:spLocks noGrp="1"/>
          </p:cNvSpPr>
          <p:nvPr>
            <p:ph type="ctrTitle"/>
          </p:nvPr>
        </p:nvSpPr>
        <p:spPr>
          <a:xfrm>
            <a:off x="7756183" y="1124712"/>
            <a:ext cx="4023360" cy="3200400"/>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Clr>
                <a:schemeClr val="lt1"/>
              </a:buClr>
              <a:buSzPts val="4000"/>
              <a:buFont typeface="Tahoma"/>
              <a:buNone/>
            </a:pPr>
            <a:r>
              <a:rPr lang="el-GR" sz="4000">
                <a:latin typeface="Tahoma"/>
                <a:ea typeface="Tahoma"/>
                <a:cs typeface="Tahoma"/>
                <a:sym typeface="Tahoma"/>
              </a:rPr>
              <a:t>Παραγωγή Συνθετικών Δεδομένων Ροής Κυκλοφορίας Με GANs</a:t>
            </a:r>
            <a:endParaRPr/>
          </a:p>
        </p:txBody>
      </p:sp>
      <p:sp>
        <p:nvSpPr>
          <p:cNvPr id="127" name="Google Shape;127;p1"/>
          <p:cNvSpPr/>
          <p:nvPr/>
        </p:nvSpPr>
        <p:spPr>
          <a:xfrm rot="5400000">
            <a:off x="8040616" y="346791"/>
            <a:ext cx="146304" cy="704088"/>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FFFFFF"/>
              </a:solidFill>
              <a:latin typeface="Calibri"/>
              <a:ea typeface="Calibri"/>
              <a:cs typeface="Calibri"/>
              <a:sym typeface="Calibri"/>
            </a:endParaRPr>
          </a:p>
        </p:txBody>
      </p:sp>
      <p:sp>
        <p:nvSpPr>
          <p:cNvPr id="128" name="Google Shape;128;p1"/>
          <p:cNvSpPr/>
          <p:nvPr/>
        </p:nvSpPr>
        <p:spPr>
          <a:xfrm>
            <a:off x="7761724" y="4546920"/>
            <a:ext cx="3977640" cy="18288"/>
          </a:xfrm>
          <a:prstGeom prst="rect">
            <a:avLst/>
          </a:prstGeom>
          <a:solidFill>
            <a:srgbClr val="F8F8F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FFFFFF"/>
              </a:solidFill>
              <a:latin typeface="Calibri"/>
              <a:ea typeface="Calibri"/>
              <a:cs typeface="Calibri"/>
              <a:sym typeface="Calibri"/>
            </a:endParaRPr>
          </a:p>
        </p:txBody>
      </p:sp>
      <p:sp>
        <p:nvSpPr>
          <p:cNvPr id="129" name="Google Shape;129;p1"/>
          <p:cNvSpPr txBox="1"/>
          <p:nvPr/>
        </p:nvSpPr>
        <p:spPr>
          <a:xfrm>
            <a:off x="7673056" y="4677836"/>
            <a:ext cx="2533126" cy="913713"/>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chemeClr val="lt1"/>
              </a:buClr>
              <a:buSzPts val="1400"/>
              <a:buFont typeface="Tahoma"/>
              <a:buNone/>
            </a:pPr>
            <a:r>
              <a:rPr lang="el-GR" sz="1400" b="0" i="0" u="none" strike="noStrike" cap="none">
                <a:solidFill>
                  <a:schemeClr val="lt1"/>
                </a:solidFill>
                <a:latin typeface="Tahoma"/>
                <a:ea typeface="Tahoma"/>
                <a:cs typeface="Tahoma"/>
                <a:sym typeface="Tahoma"/>
              </a:rPr>
              <a:t>Φίλιππος-Παρασκευάς Ζυγούρης</a:t>
            </a:r>
            <a:endParaRPr sz="1400" b="0" i="0" u="none" strike="noStrike" cap="none">
              <a:solidFill>
                <a:schemeClr val="lt1"/>
              </a:solidFill>
              <a:latin typeface="Tahoma"/>
              <a:ea typeface="Tahoma"/>
              <a:cs typeface="Tahoma"/>
              <a:sym typeface="Tahoma"/>
            </a:endParaRPr>
          </a:p>
          <a:p>
            <a:pPr marL="0" marR="0" lvl="0" indent="0" algn="l" rtl="0">
              <a:lnSpc>
                <a:spcPct val="90000"/>
              </a:lnSpc>
              <a:spcBef>
                <a:spcPts val="0"/>
              </a:spcBef>
              <a:spcAft>
                <a:spcPts val="0"/>
              </a:spcAft>
              <a:buClr>
                <a:schemeClr val="lt1"/>
              </a:buClr>
              <a:buSzPts val="1400"/>
              <a:buFont typeface="Avenir"/>
              <a:buNone/>
            </a:pPr>
            <a:endParaRPr sz="1400" b="0" i="0" u="none" strike="noStrike" cap="none">
              <a:solidFill>
                <a:schemeClr val="lt1"/>
              </a:solidFill>
              <a:latin typeface="Tahoma"/>
              <a:ea typeface="Tahoma"/>
              <a:cs typeface="Tahoma"/>
              <a:sym typeface="Tahoma"/>
            </a:endParaRPr>
          </a:p>
          <a:p>
            <a:pPr marL="0" marR="0" lvl="0" indent="0" algn="l" rtl="0">
              <a:lnSpc>
                <a:spcPct val="90000"/>
              </a:lnSpc>
              <a:spcBef>
                <a:spcPts val="0"/>
              </a:spcBef>
              <a:spcAft>
                <a:spcPts val="0"/>
              </a:spcAft>
              <a:buClr>
                <a:schemeClr val="lt1"/>
              </a:buClr>
              <a:buSzPts val="1400"/>
              <a:buFont typeface="Tahoma"/>
              <a:buNone/>
            </a:pPr>
            <a:r>
              <a:rPr lang="el-GR" sz="1400" b="0" i="0" u="none" strike="noStrike" cap="none">
                <a:solidFill>
                  <a:schemeClr val="lt1"/>
                </a:solidFill>
                <a:latin typeface="Tahoma"/>
                <a:ea typeface="Tahoma"/>
                <a:cs typeface="Tahoma"/>
                <a:sym typeface="Tahoma"/>
              </a:rPr>
              <a:t>ΑΜ:1084660</a:t>
            </a:r>
            <a:endParaRPr sz="1400" b="0" i="0" u="none" strike="noStrike" cap="none">
              <a:solidFill>
                <a:schemeClr val="lt1"/>
              </a:solidFill>
              <a:latin typeface="Tahoma"/>
              <a:ea typeface="Tahoma"/>
              <a:cs typeface="Tahoma"/>
              <a:sym typeface="Tahoma"/>
            </a:endParaRPr>
          </a:p>
        </p:txBody>
      </p:sp>
      <p:sp>
        <p:nvSpPr>
          <p:cNvPr id="130" name="Google Shape;130;p1"/>
          <p:cNvSpPr txBox="1"/>
          <p:nvPr/>
        </p:nvSpPr>
        <p:spPr>
          <a:xfrm>
            <a:off x="9658853" y="4677823"/>
            <a:ext cx="2533126" cy="913713"/>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chemeClr val="lt1"/>
              </a:buClr>
              <a:buSzPts val="1400"/>
              <a:buFont typeface="Tahoma"/>
              <a:buNone/>
            </a:pPr>
            <a:r>
              <a:rPr lang="el-GR" sz="1400" b="0" i="0" u="none" strike="noStrike" cap="none">
                <a:solidFill>
                  <a:schemeClr val="lt1"/>
                </a:solidFill>
                <a:latin typeface="Tahoma"/>
                <a:ea typeface="Tahoma"/>
                <a:cs typeface="Tahoma"/>
                <a:sym typeface="Tahoma"/>
              </a:rPr>
              <a:t>Εμμανουήλ Λουκάς </a:t>
            </a:r>
            <a:endParaRPr/>
          </a:p>
          <a:p>
            <a:pPr marL="0" marR="0" lvl="0" indent="0" algn="l" rtl="0">
              <a:lnSpc>
                <a:spcPct val="90000"/>
              </a:lnSpc>
              <a:spcBef>
                <a:spcPts val="0"/>
              </a:spcBef>
              <a:spcAft>
                <a:spcPts val="0"/>
              </a:spcAft>
              <a:buClr>
                <a:schemeClr val="lt1"/>
              </a:buClr>
              <a:buSzPts val="1400"/>
              <a:buFont typeface="Tahoma"/>
              <a:buNone/>
            </a:pPr>
            <a:r>
              <a:rPr lang="el-GR" sz="1400" b="0" i="0" u="none" strike="noStrike" cap="none">
                <a:solidFill>
                  <a:schemeClr val="lt1"/>
                </a:solidFill>
                <a:latin typeface="Tahoma"/>
                <a:ea typeface="Tahoma"/>
                <a:cs typeface="Tahoma"/>
                <a:sym typeface="Tahoma"/>
              </a:rPr>
              <a:t>Ζάννος</a:t>
            </a:r>
            <a:endParaRPr sz="1400" b="0" i="0" u="none" strike="noStrike" cap="none">
              <a:solidFill>
                <a:schemeClr val="lt1"/>
              </a:solidFill>
              <a:latin typeface="Tahoma"/>
              <a:ea typeface="Tahoma"/>
              <a:cs typeface="Tahoma"/>
              <a:sym typeface="Tahoma"/>
            </a:endParaRPr>
          </a:p>
          <a:p>
            <a:pPr marL="0" marR="0" lvl="0" indent="0" algn="l" rtl="0">
              <a:lnSpc>
                <a:spcPct val="90000"/>
              </a:lnSpc>
              <a:spcBef>
                <a:spcPts val="0"/>
              </a:spcBef>
              <a:spcAft>
                <a:spcPts val="0"/>
              </a:spcAft>
              <a:buClr>
                <a:schemeClr val="lt1"/>
              </a:buClr>
              <a:buSzPts val="1400"/>
              <a:buFont typeface="Avenir"/>
              <a:buNone/>
            </a:pPr>
            <a:endParaRPr sz="1400" b="0" i="0" u="none" strike="noStrike" cap="none">
              <a:solidFill>
                <a:schemeClr val="lt1"/>
              </a:solidFill>
              <a:latin typeface="Tahoma"/>
              <a:ea typeface="Tahoma"/>
              <a:cs typeface="Tahoma"/>
              <a:sym typeface="Tahoma"/>
            </a:endParaRPr>
          </a:p>
          <a:p>
            <a:pPr marL="0" marR="0" lvl="0" indent="0" algn="l" rtl="0">
              <a:lnSpc>
                <a:spcPct val="90000"/>
              </a:lnSpc>
              <a:spcBef>
                <a:spcPts val="0"/>
              </a:spcBef>
              <a:spcAft>
                <a:spcPts val="0"/>
              </a:spcAft>
              <a:buClr>
                <a:schemeClr val="lt1"/>
              </a:buClr>
              <a:buSzPts val="1400"/>
              <a:buFont typeface="Tahoma"/>
              <a:buNone/>
            </a:pPr>
            <a:r>
              <a:rPr lang="el-GR" sz="1400" b="0" i="0" u="none" strike="noStrike" cap="none">
                <a:solidFill>
                  <a:schemeClr val="lt1"/>
                </a:solidFill>
                <a:latin typeface="Tahoma"/>
                <a:ea typeface="Tahoma"/>
                <a:cs typeface="Tahoma"/>
                <a:sym typeface="Tahoma"/>
              </a:rPr>
              <a:t>ΑΜ:1084543</a:t>
            </a:r>
            <a:endParaRPr sz="1400" b="0" i="0" u="none" strike="noStrike" cap="none">
              <a:solidFill>
                <a:schemeClr val="lt1"/>
              </a:solidFill>
              <a:latin typeface="Tahoma"/>
              <a:ea typeface="Tahoma"/>
              <a:cs typeface="Tahoma"/>
              <a:sym typeface="Tahom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35"/>
        <p:cNvGrpSpPr/>
        <p:nvPr/>
      </p:nvGrpSpPr>
      <p:grpSpPr>
        <a:xfrm>
          <a:off x="0" y="0"/>
          <a:ext cx="0" cy="0"/>
          <a:chOff x="0" y="0"/>
          <a:chExt cx="0" cy="0"/>
        </a:xfrm>
      </p:grpSpPr>
      <p:sp>
        <p:nvSpPr>
          <p:cNvPr id="136" name="Google Shape;136;p2"/>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venir"/>
              <a:ea typeface="Avenir"/>
              <a:cs typeface="Avenir"/>
              <a:sym typeface="Avenir"/>
            </a:endParaRPr>
          </a:p>
        </p:txBody>
      </p:sp>
      <p:sp>
        <p:nvSpPr>
          <p:cNvPr id="137" name="Google Shape;137;p2"/>
          <p:cNvSpPr/>
          <p:nvPr/>
        </p:nvSpPr>
        <p:spPr>
          <a:xfrm>
            <a:off x="409575" y="633619"/>
            <a:ext cx="6838569" cy="5495925"/>
          </a:xfrm>
          <a:prstGeom prst="rect">
            <a:avLst/>
          </a:prstGeom>
          <a:solidFill>
            <a:schemeClr val="lt1"/>
          </a:solidFill>
          <a:ln w="9525" cap="flat" cmpd="sng">
            <a:solidFill>
              <a:srgbClr val="F1E3F1"/>
            </a:solidFill>
            <a:prstDash val="solid"/>
            <a:miter lim="800000"/>
            <a:headEnd type="none" w="sm" len="sm"/>
            <a:tailEnd type="none" w="sm" len="sm"/>
          </a:ln>
          <a:effectLst>
            <a:outerShdw blurRad="50800" dist="38100" dir="2700000" algn="tl" rotWithShape="0">
              <a:srgbClr val="D8D8D8">
                <a:alpha val="29803"/>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FFFFFF"/>
              </a:solidFill>
              <a:latin typeface="Calibri"/>
              <a:ea typeface="Calibri"/>
              <a:cs typeface="Calibri"/>
              <a:sym typeface="Calibri"/>
            </a:endParaRPr>
          </a:p>
        </p:txBody>
      </p:sp>
      <p:sp>
        <p:nvSpPr>
          <p:cNvPr id="138" name="Google Shape;138;p2"/>
          <p:cNvSpPr txBox="1">
            <a:spLocks noGrp="1"/>
          </p:cNvSpPr>
          <p:nvPr>
            <p:ph type="title"/>
          </p:nvPr>
        </p:nvSpPr>
        <p:spPr>
          <a:xfrm>
            <a:off x="841246" y="978619"/>
            <a:ext cx="5991244" cy="110642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200"/>
              <a:buFont typeface="Avenir"/>
              <a:buNone/>
            </a:pPr>
            <a:r>
              <a:rPr lang="el-GR" sz="3200"/>
              <a:t>Από το Generative Modeling στα GANs</a:t>
            </a:r>
            <a:endParaRPr sz="3200"/>
          </a:p>
        </p:txBody>
      </p:sp>
      <p:sp>
        <p:nvSpPr>
          <p:cNvPr id="139" name="Google Shape;139;p2"/>
          <p:cNvSpPr/>
          <p:nvPr/>
        </p:nvSpPr>
        <p:spPr>
          <a:xfrm>
            <a:off x="345567" y="1171300"/>
            <a:ext cx="128016" cy="704088"/>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FFFFFF"/>
              </a:solidFill>
              <a:latin typeface="Calibri"/>
              <a:ea typeface="Calibri"/>
              <a:cs typeface="Calibri"/>
              <a:sym typeface="Calibri"/>
            </a:endParaRPr>
          </a:p>
        </p:txBody>
      </p:sp>
      <p:sp>
        <p:nvSpPr>
          <p:cNvPr id="140" name="Google Shape;140;p2"/>
          <p:cNvSpPr/>
          <p:nvPr/>
        </p:nvSpPr>
        <p:spPr>
          <a:xfrm>
            <a:off x="877458" y="2093976"/>
            <a:ext cx="5846683" cy="9144"/>
          </a:xfrm>
          <a:prstGeom prst="rect">
            <a:avLst/>
          </a:prstGeom>
          <a:solidFill>
            <a:srgbClr val="D6BDD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FFFFFF"/>
              </a:solidFill>
              <a:latin typeface="Calibri"/>
              <a:ea typeface="Calibri"/>
              <a:cs typeface="Calibri"/>
              <a:sym typeface="Calibri"/>
            </a:endParaRPr>
          </a:p>
        </p:txBody>
      </p:sp>
      <p:sp>
        <p:nvSpPr>
          <p:cNvPr id="141" name="Google Shape;141;p2"/>
          <p:cNvSpPr txBox="1">
            <a:spLocks noGrp="1"/>
          </p:cNvSpPr>
          <p:nvPr>
            <p:ph type="body" idx="1"/>
          </p:nvPr>
        </p:nvSpPr>
        <p:spPr>
          <a:xfrm>
            <a:off x="841248" y="2252870"/>
            <a:ext cx="5993892" cy="3560251"/>
          </a:xfrm>
          <a:prstGeom prst="rect">
            <a:avLst/>
          </a:prstGeom>
          <a:noFill/>
          <a:ln>
            <a:noFill/>
          </a:ln>
        </p:spPr>
        <p:txBody>
          <a:bodyPr spcFirstLastPara="1" wrap="square" lIns="91425" tIns="45700" rIns="91425" bIns="45700" anchor="t" anchorCtr="0">
            <a:normAutofit/>
          </a:bodyPr>
          <a:lstStyle/>
          <a:p>
            <a:pPr marL="228600" lvl="0" indent="-228600" algn="l" rtl="0">
              <a:lnSpc>
                <a:spcPct val="100000"/>
              </a:lnSpc>
              <a:spcBef>
                <a:spcPts val="0"/>
              </a:spcBef>
              <a:spcAft>
                <a:spcPts val="0"/>
              </a:spcAft>
              <a:buClr>
                <a:schemeClr val="dk1"/>
              </a:buClr>
              <a:buSzPts val="1700"/>
              <a:buFont typeface="Noto Sans Symbols"/>
              <a:buChar char="❑"/>
            </a:pPr>
            <a:r>
              <a:rPr lang="el-GR" sz="1700">
                <a:latin typeface="Tahoma"/>
                <a:ea typeface="Tahoma"/>
                <a:cs typeface="Tahoma"/>
                <a:sym typeface="Tahoma"/>
              </a:rPr>
              <a:t>Το Generative Modeling είναι τομέας της μηχανικής μάθησης που στοχεύει στη δημιουργία μοντέλων που μαθαίνουν την κατανομή των δεδομένων, ώστε να μπορούν να παράγουν νέα δείγματα που μιμούνται τα χαρακτηριστικά της αρχικής συλλογής δεδομένων. </a:t>
            </a:r>
            <a:endParaRPr/>
          </a:p>
          <a:p>
            <a:pPr marL="228600" lvl="0" indent="-228600" algn="l" rtl="0">
              <a:lnSpc>
                <a:spcPct val="100000"/>
              </a:lnSpc>
              <a:spcBef>
                <a:spcPts val="1000"/>
              </a:spcBef>
              <a:spcAft>
                <a:spcPts val="0"/>
              </a:spcAft>
              <a:buClr>
                <a:schemeClr val="dk1"/>
              </a:buClr>
              <a:buSzPts val="1700"/>
              <a:buFont typeface="Noto Sans Symbols"/>
              <a:buChar char="❑"/>
            </a:pPr>
            <a:r>
              <a:rPr lang="el-GR" sz="1700">
                <a:latin typeface="Tahoma"/>
                <a:ea typeface="Tahoma"/>
                <a:cs typeface="Tahoma"/>
                <a:sym typeface="Tahoma"/>
              </a:rPr>
              <a:t>Μέσω των Generative Adversarial Networks (GANs), που είναι ένας τύπος νευρωνικών δικτύων για την παραγωγή νέων, ρεαλιστικών δεδομένων, όχι μόνο αναγνωρίζονται μοτίβα και δομές στα δεδομένα, αλλά δημιουργούνται επίσης αυθεντικά και συνθετικά δεδομένα (π.χ. εικόνες, κείμενα, ήχοι) που αντικατοπτρίζουν τη στατιστική κατανομή και τις ιδιαιτερότητες της εκπαίδευσης.</a:t>
            </a:r>
            <a:endParaRPr sz="1700"/>
          </a:p>
        </p:txBody>
      </p:sp>
      <p:grpSp>
        <p:nvGrpSpPr>
          <p:cNvPr id="142" name="Google Shape;142;p2"/>
          <p:cNvGrpSpPr/>
          <p:nvPr/>
        </p:nvGrpSpPr>
        <p:grpSpPr>
          <a:xfrm>
            <a:off x="7670581" y="2111646"/>
            <a:ext cx="4033646" cy="3542315"/>
            <a:chOff x="5335978" y="633617"/>
            <a:chExt cx="6472451" cy="5684054"/>
          </a:xfrm>
        </p:grpSpPr>
        <p:pic>
          <p:nvPicPr>
            <p:cNvPr id="143" name="Google Shape;143;p2" descr="A triangle with a dotted line&#10;&#10;AI-generated content may be incorrect."/>
            <p:cNvPicPr preferRelativeResize="0"/>
            <p:nvPr/>
          </p:nvPicPr>
          <p:blipFill rotWithShape="1">
            <a:blip r:embed="rId3">
              <a:alphaModFix/>
            </a:blip>
            <a:srcRect/>
            <a:stretch/>
          </p:blipFill>
          <p:spPr>
            <a:xfrm>
              <a:off x="5335978" y="4092551"/>
              <a:ext cx="3248352" cy="2225120"/>
            </a:xfrm>
            <a:prstGeom prst="rect">
              <a:avLst/>
            </a:prstGeom>
            <a:noFill/>
            <a:ln>
              <a:noFill/>
            </a:ln>
          </p:spPr>
        </p:pic>
        <p:pic>
          <p:nvPicPr>
            <p:cNvPr id="144" name="Google Shape;144;p2" descr="A black and white lion lying down&#10;&#10;AI-generated content may be incorrect."/>
            <p:cNvPicPr preferRelativeResize="0"/>
            <p:nvPr/>
          </p:nvPicPr>
          <p:blipFill rotWithShape="1">
            <a:blip r:embed="rId4">
              <a:alphaModFix/>
            </a:blip>
            <a:srcRect l="49950"/>
            <a:stretch/>
          </p:blipFill>
          <p:spPr>
            <a:xfrm flipH="1">
              <a:off x="8619750" y="633617"/>
              <a:ext cx="3188679" cy="2688336"/>
            </a:xfrm>
            <a:prstGeom prst="rect">
              <a:avLst/>
            </a:prstGeom>
            <a:noFill/>
            <a:ln>
              <a:noFill/>
            </a:ln>
          </p:spPr>
        </p:pic>
        <p:pic>
          <p:nvPicPr>
            <p:cNvPr id="145" name="Google Shape;145;p2" descr="A diagram of blue circles&#10;&#10;AI-generated content may be incorrect."/>
            <p:cNvPicPr preferRelativeResize="0"/>
            <p:nvPr/>
          </p:nvPicPr>
          <p:blipFill rotWithShape="1">
            <a:blip r:embed="rId5">
              <a:alphaModFix/>
            </a:blip>
            <a:srcRect/>
            <a:stretch/>
          </p:blipFill>
          <p:spPr>
            <a:xfrm>
              <a:off x="5361451" y="777853"/>
              <a:ext cx="3248351" cy="2544100"/>
            </a:xfrm>
            <a:prstGeom prst="rect">
              <a:avLst/>
            </a:prstGeom>
            <a:noFill/>
            <a:ln>
              <a:noFill/>
            </a:ln>
          </p:spPr>
        </p:pic>
        <p:pic>
          <p:nvPicPr>
            <p:cNvPr id="146" name="Google Shape;146;p2" descr="A black and white lion lying down&#10;&#10;AI-generated content may be incorrect."/>
            <p:cNvPicPr preferRelativeResize="0"/>
            <p:nvPr/>
          </p:nvPicPr>
          <p:blipFill rotWithShape="1">
            <a:blip r:embed="rId4">
              <a:alphaModFix/>
            </a:blip>
            <a:srcRect r="50046"/>
            <a:stretch/>
          </p:blipFill>
          <p:spPr>
            <a:xfrm flipH="1">
              <a:off x="8622808" y="3436664"/>
              <a:ext cx="3182563" cy="2688336"/>
            </a:xfrm>
            <a:prstGeom prst="rect">
              <a:avLst/>
            </a:prstGeom>
            <a:noFill/>
            <a:ln>
              <a:noFill/>
            </a:ln>
          </p:spPr>
        </p:pic>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151"/>
        <p:cNvGrpSpPr/>
        <p:nvPr/>
      </p:nvGrpSpPr>
      <p:grpSpPr>
        <a:xfrm>
          <a:off x="0" y="0"/>
          <a:ext cx="0" cy="0"/>
          <a:chOff x="0" y="0"/>
          <a:chExt cx="0" cy="0"/>
        </a:xfrm>
      </p:grpSpPr>
      <p:sp>
        <p:nvSpPr>
          <p:cNvPr id="152" name="Google Shape;152;p3"/>
          <p:cNvSpPr/>
          <p:nvPr/>
        </p:nvSpPr>
        <p:spPr>
          <a:xfrm>
            <a:off x="0" y="0"/>
            <a:ext cx="12192000" cy="68580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FFFFFF"/>
              </a:solidFill>
              <a:latin typeface="Avenir"/>
              <a:ea typeface="Avenir"/>
              <a:cs typeface="Avenir"/>
              <a:sym typeface="Avenir"/>
            </a:endParaRPr>
          </a:p>
        </p:txBody>
      </p:sp>
      <p:cxnSp>
        <p:nvCxnSpPr>
          <p:cNvPr id="153" name="Google Shape;153;p3"/>
          <p:cNvCxnSpPr/>
          <p:nvPr/>
        </p:nvCxnSpPr>
        <p:spPr>
          <a:xfrm>
            <a:off x="800100" y="723900"/>
            <a:ext cx="1638300" cy="0"/>
          </a:xfrm>
          <a:prstGeom prst="straightConnector1">
            <a:avLst/>
          </a:prstGeom>
          <a:noFill/>
          <a:ln w="44450" cap="flat" cmpd="sng">
            <a:solidFill>
              <a:schemeClr val="lt1"/>
            </a:solidFill>
            <a:prstDash val="solid"/>
            <a:miter lim="800000"/>
            <a:headEnd type="none" w="sm" len="sm"/>
            <a:tailEnd type="none" w="sm" len="sm"/>
          </a:ln>
        </p:spPr>
      </p:cxnSp>
      <p:pic>
        <p:nvPicPr>
          <p:cNvPr id="154" name="Google Shape;154;p3" descr="Topview of mint green workspace with laptop, coffee, notebook, pen, glasses, and mouse"/>
          <p:cNvPicPr preferRelativeResize="0"/>
          <p:nvPr/>
        </p:nvPicPr>
        <p:blipFill rotWithShape="1">
          <a:blip r:embed="rId3">
            <a:alphaModFix/>
          </a:blip>
          <a:srcRect b="15730"/>
          <a:stretch/>
        </p:blipFill>
        <p:spPr>
          <a:xfrm>
            <a:off x="21" y="10"/>
            <a:ext cx="12191979" cy="6857990"/>
          </a:xfrm>
          <a:prstGeom prst="rect">
            <a:avLst/>
          </a:prstGeom>
          <a:noFill/>
          <a:ln>
            <a:noFill/>
          </a:ln>
        </p:spPr>
      </p:pic>
      <p:sp>
        <p:nvSpPr>
          <p:cNvPr id="155" name="Google Shape;155;p3"/>
          <p:cNvSpPr/>
          <p:nvPr/>
        </p:nvSpPr>
        <p:spPr>
          <a:xfrm rot="-5400000" flipH="1">
            <a:off x="5167042" y="-166956"/>
            <a:ext cx="6858002" cy="7191913"/>
          </a:xfrm>
          <a:prstGeom prst="rect">
            <a:avLst/>
          </a:prstGeom>
          <a:gradFill>
            <a:gsLst>
              <a:gs pos="0">
                <a:srgbClr val="000000">
                  <a:alpha val="0"/>
                </a:srgbClr>
              </a:gs>
              <a:gs pos="25000">
                <a:srgbClr val="000000">
                  <a:alpha val="37647"/>
                </a:srgbClr>
              </a:gs>
              <a:gs pos="46000">
                <a:srgbClr val="000000">
                  <a:alpha val="54901"/>
                </a:srgbClr>
              </a:gs>
              <a:gs pos="100000">
                <a:srgbClr val="000000">
                  <a:alpha val="60000"/>
                </a:srgbClr>
              </a:gs>
            </a:gsLst>
            <a:lin ang="5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FFFFFF"/>
              </a:solidFill>
              <a:latin typeface="Avenir"/>
              <a:ea typeface="Avenir"/>
              <a:cs typeface="Avenir"/>
              <a:sym typeface="Avenir"/>
            </a:endParaRPr>
          </a:p>
        </p:txBody>
      </p:sp>
      <p:sp>
        <p:nvSpPr>
          <p:cNvPr id="156" name="Google Shape;156;p3"/>
          <p:cNvSpPr txBox="1">
            <a:spLocks noGrp="1"/>
          </p:cNvSpPr>
          <p:nvPr>
            <p:ph type="ctrTitle"/>
          </p:nvPr>
        </p:nvSpPr>
        <p:spPr>
          <a:xfrm>
            <a:off x="7756183" y="1124712"/>
            <a:ext cx="4023360" cy="3200400"/>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lt1"/>
              </a:buClr>
              <a:buSzPts val="4400"/>
              <a:buFont typeface="Tahoma"/>
              <a:buNone/>
            </a:pPr>
            <a:r>
              <a:rPr lang="el-GR" sz="4400" dirty="0">
                <a:latin typeface="Tahoma"/>
                <a:ea typeface="Tahoma"/>
                <a:cs typeface="Tahoma"/>
                <a:sym typeface="Tahoma"/>
              </a:rPr>
              <a:t>Κατανόηση των </a:t>
            </a:r>
            <a:r>
              <a:rPr lang="el-GR" sz="4400" dirty="0" err="1">
                <a:latin typeface="Tahoma"/>
                <a:ea typeface="Tahoma"/>
                <a:cs typeface="Tahoma"/>
                <a:sym typeface="Tahoma"/>
              </a:rPr>
              <a:t>GANs</a:t>
            </a:r>
            <a:endParaRPr sz="4400" dirty="0">
              <a:latin typeface="Tahoma"/>
              <a:ea typeface="Tahoma"/>
              <a:cs typeface="Tahoma"/>
              <a:sym typeface="Tahoma"/>
            </a:endParaRPr>
          </a:p>
        </p:txBody>
      </p:sp>
      <p:sp>
        <p:nvSpPr>
          <p:cNvPr id="157" name="Google Shape;157;p3"/>
          <p:cNvSpPr/>
          <p:nvPr/>
        </p:nvSpPr>
        <p:spPr>
          <a:xfrm rot="5400000">
            <a:off x="8040616" y="346791"/>
            <a:ext cx="146304" cy="704088"/>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FFFFFF"/>
              </a:solidFill>
              <a:latin typeface="Calibri"/>
              <a:ea typeface="Calibri"/>
              <a:cs typeface="Calibri"/>
              <a:sym typeface="Calibri"/>
            </a:endParaRPr>
          </a:p>
        </p:txBody>
      </p:sp>
      <p:sp>
        <p:nvSpPr>
          <p:cNvPr id="158" name="Google Shape;158;p3"/>
          <p:cNvSpPr/>
          <p:nvPr/>
        </p:nvSpPr>
        <p:spPr>
          <a:xfrm>
            <a:off x="7761724" y="4546920"/>
            <a:ext cx="3977640" cy="18288"/>
          </a:xfrm>
          <a:prstGeom prst="rect">
            <a:avLst/>
          </a:prstGeom>
          <a:solidFill>
            <a:srgbClr val="F8F8F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63"/>
        <p:cNvGrpSpPr/>
        <p:nvPr/>
      </p:nvGrpSpPr>
      <p:grpSpPr>
        <a:xfrm>
          <a:off x="0" y="0"/>
          <a:ext cx="0" cy="0"/>
          <a:chOff x="0" y="0"/>
          <a:chExt cx="0" cy="0"/>
        </a:xfrm>
      </p:grpSpPr>
      <p:sp>
        <p:nvSpPr>
          <p:cNvPr id="164" name="Google Shape;164;p4"/>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venir"/>
              <a:ea typeface="Avenir"/>
              <a:cs typeface="Avenir"/>
              <a:sym typeface="Avenir"/>
            </a:endParaRPr>
          </a:p>
        </p:txBody>
      </p:sp>
      <p:sp>
        <p:nvSpPr>
          <p:cNvPr id="165" name="Google Shape;165;p4"/>
          <p:cNvSpPr txBox="1">
            <a:spLocks noGrp="1"/>
          </p:cNvSpPr>
          <p:nvPr>
            <p:ph type="title"/>
          </p:nvPr>
        </p:nvSpPr>
        <p:spPr>
          <a:xfrm>
            <a:off x="411480" y="987552"/>
            <a:ext cx="4485861" cy="1088136"/>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dk1"/>
              </a:buClr>
              <a:buSzPts val="3400"/>
              <a:buFont typeface="Tahoma"/>
              <a:buNone/>
            </a:pPr>
            <a:r>
              <a:rPr lang="el-GR" sz="3400" dirty="0" err="1">
                <a:latin typeface="Tahoma"/>
                <a:ea typeface="Tahoma"/>
                <a:cs typeface="Tahoma"/>
                <a:sym typeface="Tahoma"/>
              </a:rPr>
              <a:t>Aρχιτεκτονική</a:t>
            </a:r>
            <a:r>
              <a:rPr lang="el-GR" sz="3400" dirty="0">
                <a:latin typeface="Tahoma"/>
                <a:ea typeface="Tahoma"/>
                <a:cs typeface="Tahoma"/>
                <a:sym typeface="Tahoma"/>
              </a:rPr>
              <a:t> GAN</a:t>
            </a:r>
            <a:endParaRPr sz="3400" dirty="0">
              <a:latin typeface="Tahoma"/>
              <a:ea typeface="Tahoma"/>
              <a:cs typeface="Tahoma"/>
              <a:sym typeface="Tahoma"/>
            </a:endParaRPr>
          </a:p>
        </p:txBody>
      </p:sp>
      <p:sp>
        <p:nvSpPr>
          <p:cNvPr id="166" name="Google Shape;166;p4"/>
          <p:cNvSpPr/>
          <p:nvPr/>
        </p:nvSpPr>
        <p:spPr>
          <a:xfrm rot="5400000">
            <a:off x="649223" y="387939"/>
            <a:ext cx="73152" cy="54864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FFFFFF"/>
              </a:solidFill>
              <a:latin typeface="Calibri"/>
              <a:ea typeface="Calibri"/>
              <a:cs typeface="Calibri"/>
              <a:sym typeface="Calibri"/>
            </a:endParaRPr>
          </a:p>
        </p:txBody>
      </p:sp>
      <p:sp>
        <p:nvSpPr>
          <p:cNvPr id="167" name="Google Shape;167;p4"/>
          <p:cNvSpPr/>
          <p:nvPr/>
        </p:nvSpPr>
        <p:spPr>
          <a:xfrm>
            <a:off x="411480" y="2286000"/>
            <a:ext cx="4389120" cy="18288"/>
          </a:xfrm>
          <a:prstGeom prst="rect">
            <a:avLst/>
          </a:prstGeom>
          <a:solidFill>
            <a:srgbClr val="D6BDD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FFFFFF"/>
              </a:solidFill>
              <a:latin typeface="Calibri"/>
              <a:ea typeface="Calibri"/>
              <a:cs typeface="Calibri"/>
              <a:sym typeface="Calibri"/>
            </a:endParaRPr>
          </a:p>
        </p:txBody>
      </p:sp>
      <p:sp>
        <p:nvSpPr>
          <p:cNvPr id="168" name="Google Shape;168;p4"/>
          <p:cNvSpPr txBox="1">
            <a:spLocks noGrp="1"/>
          </p:cNvSpPr>
          <p:nvPr>
            <p:ph type="body" idx="1"/>
          </p:nvPr>
        </p:nvSpPr>
        <p:spPr>
          <a:xfrm>
            <a:off x="411479" y="2524206"/>
            <a:ext cx="4498848" cy="4169664"/>
          </a:xfrm>
          <a:prstGeom prst="rect">
            <a:avLst/>
          </a:prstGeom>
          <a:noFill/>
          <a:ln>
            <a:noFill/>
          </a:ln>
        </p:spPr>
        <p:txBody>
          <a:bodyPr spcFirstLastPara="1" wrap="square" lIns="91425" tIns="45700" rIns="91425" bIns="45700" anchor="t" anchorCtr="0">
            <a:normAutofit/>
          </a:bodyPr>
          <a:lstStyle/>
          <a:p>
            <a:pPr marL="228600" lvl="0" indent="-228600" algn="l" rtl="0">
              <a:lnSpc>
                <a:spcPct val="100000"/>
              </a:lnSpc>
              <a:spcBef>
                <a:spcPts val="0"/>
              </a:spcBef>
              <a:spcAft>
                <a:spcPts val="0"/>
              </a:spcAft>
              <a:buClr>
                <a:schemeClr val="dk1"/>
              </a:buClr>
              <a:buSzPts val="1600"/>
              <a:buFont typeface="Noto Sans Symbols"/>
              <a:buChar char="❑"/>
            </a:pPr>
            <a:r>
              <a:rPr lang="el-GR" sz="1600" dirty="0">
                <a:latin typeface="Tahoma"/>
                <a:ea typeface="Tahoma"/>
                <a:cs typeface="Tahoma"/>
                <a:sym typeface="Tahoma"/>
              </a:rPr>
              <a:t>Έχουμε έναν παραχαράκτη (γεννήτρια) που επιδιώκει να καταθέσει πλαστά χρήματα στην τράπεζα και προσπαθεί να ξεγελάσει τον τραπεζικό υπάλληλο (διαχωριστή), ο οποίος ωστόσο διαθέτει την ικανότητα να διακρίνει με ακρίβεια τη γνησιότητα των παραγόμενων χρημάτων.</a:t>
            </a:r>
            <a:endParaRPr dirty="0"/>
          </a:p>
          <a:p>
            <a:pPr marL="228600" lvl="0" indent="-228600" algn="l" rtl="0">
              <a:lnSpc>
                <a:spcPct val="100000"/>
              </a:lnSpc>
              <a:spcBef>
                <a:spcPts val="1000"/>
              </a:spcBef>
              <a:spcAft>
                <a:spcPts val="0"/>
              </a:spcAft>
              <a:buClr>
                <a:schemeClr val="dk1"/>
              </a:buClr>
              <a:buSzPts val="1600"/>
              <a:buFont typeface="Noto Sans Symbols"/>
              <a:buChar char="❑"/>
            </a:pPr>
            <a:r>
              <a:rPr lang="el-GR" sz="1600" dirty="0">
                <a:latin typeface="Tahoma"/>
                <a:ea typeface="Tahoma"/>
                <a:cs typeface="Tahoma"/>
                <a:sym typeface="Tahoma"/>
              </a:rPr>
              <a:t>Μέσω αυτής της ανταγωνιστικής διαδικασίας, ο παραχαράκτης αναγκάζεται να παράγει ψεύτικα χρήματα που μοιάζουν εξαιρετικά με τα πραγματικά, με απώτερο στόχο να γίνουν αδιάκριτα μεταξύ τους. Τελικά, ο ίδιος μπορεί να δημιουργήσει χρήματα που είναι ρεαλιστικά, προσφέροντάς μας ένα λειτουργικό γενετικό μοντέλο των πραγματικών χρημάτων. </a:t>
            </a:r>
            <a:endParaRPr dirty="0"/>
          </a:p>
        </p:txBody>
      </p:sp>
      <p:pic>
        <p:nvPicPr>
          <p:cNvPr id="169" name="Google Shape;169;p4" descr="A person in a hat and suit standing next to a machine with money&#10;&#10;AI-generated content may be incorrect."/>
          <p:cNvPicPr preferRelativeResize="0"/>
          <p:nvPr/>
        </p:nvPicPr>
        <p:blipFill rotWithShape="1">
          <a:blip r:embed="rId3">
            <a:alphaModFix/>
          </a:blip>
          <a:srcRect t="377" r="1"/>
          <a:stretch/>
        </p:blipFill>
        <p:spPr>
          <a:xfrm>
            <a:off x="5308052" y="10"/>
            <a:ext cx="6883948" cy="6857990"/>
          </a:xfrm>
          <a:custGeom>
            <a:avLst/>
            <a:gdLst/>
            <a:ahLst/>
            <a:cxnLst/>
            <a:rect l="l" t="t" r="r" b="b"/>
            <a:pathLst>
              <a:path w="6883948" h="6858000" extrusionOk="0">
                <a:moveTo>
                  <a:pt x="365648" y="0"/>
                </a:moveTo>
                <a:lnTo>
                  <a:pt x="6883948" y="0"/>
                </a:lnTo>
                <a:lnTo>
                  <a:pt x="6883948" y="6858000"/>
                </a:lnTo>
                <a:lnTo>
                  <a:pt x="365648" y="6858000"/>
                </a:lnTo>
                <a:lnTo>
                  <a:pt x="360213" y="6835050"/>
                </a:lnTo>
                <a:cubicBezTo>
                  <a:pt x="128263" y="5788167"/>
                  <a:pt x="0" y="4637179"/>
                  <a:pt x="0" y="3429001"/>
                </a:cubicBezTo>
                <a:cubicBezTo>
                  <a:pt x="0" y="2220824"/>
                  <a:pt x="128263" y="1069835"/>
                  <a:pt x="360213" y="22952"/>
                </a:cubicBezTo>
                <a:close/>
              </a:path>
            </a:pathLst>
          </a:custGeom>
          <a:noFill/>
          <a:ln>
            <a:noFill/>
          </a:ln>
          <a:effectLst>
            <a:outerShdw blurRad="50800" dist="38100" dir="10800000" algn="r" rotWithShape="0">
              <a:srgbClr val="D8D8D8">
                <a:alpha val="29803"/>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74"/>
        <p:cNvGrpSpPr/>
        <p:nvPr/>
      </p:nvGrpSpPr>
      <p:grpSpPr>
        <a:xfrm>
          <a:off x="0" y="0"/>
          <a:ext cx="0" cy="0"/>
          <a:chOff x="0" y="0"/>
          <a:chExt cx="0" cy="0"/>
        </a:xfrm>
      </p:grpSpPr>
      <p:sp>
        <p:nvSpPr>
          <p:cNvPr id="175" name="Google Shape;175;p5"/>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FFFFFF"/>
              </a:solidFill>
              <a:latin typeface="Avenir"/>
              <a:ea typeface="Avenir"/>
              <a:cs typeface="Avenir"/>
              <a:sym typeface="Avenir"/>
            </a:endParaRPr>
          </a:p>
        </p:txBody>
      </p:sp>
      <p:sp>
        <p:nvSpPr>
          <p:cNvPr id="176" name="Google Shape;176;p5"/>
          <p:cNvSpPr txBox="1">
            <a:spLocks noGrp="1"/>
          </p:cNvSpPr>
          <p:nvPr>
            <p:ph type="title"/>
          </p:nvPr>
        </p:nvSpPr>
        <p:spPr>
          <a:xfrm>
            <a:off x="612648" y="1078992"/>
            <a:ext cx="4114800" cy="1865376"/>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600"/>
              <a:buFont typeface="Tahoma"/>
              <a:buNone/>
            </a:pPr>
            <a:r>
              <a:rPr lang="el-GR" sz="3600" dirty="0">
                <a:latin typeface="Tahoma"/>
                <a:ea typeface="Tahoma"/>
                <a:cs typeface="Tahoma"/>
                <a:sym typeface="Tahoma"/>
              </a:rPr>
              <a:t>Προσέγγιση της Κατανομής Δεδομένων (I)</a:t>
            </a:r>
            <a:endParaRPr sz="3600" dirty="0">
              <a:latin typeface="Tahoma"/>
              <a:ea typeface="Tahoma"/>
              <a:cs typeface="Tahoma"/>
              <a:sym typeface="Tahoma"/>
            </a:endParaRPr>
          </a:p>
        </p:txBody>
      </p:sp>
      <p:sp>
        <p:nvSpPr>
          <p:cNvPr id="177" name="Google Shape;177;p5"/>
          <p:cNvSpPr txBox="1">
            <a:spLocks noGrp="1"/>
          </p:cNvSpPr>
          <p:nvPr>
            <p:ph type="body" idx="1"/>
          </p:nvPr>
        </p:nvSpPr>
        <p:spPr>
          <a:xfrm>
            <a:off x="5340096" y="1078991"/>
            <a:ext cx="6007608" cy="5051638"/>
          </a:xfrm>
          <a:prstGeom prst="rect">
            <a:avLst/>
          </a:prstGeom>
          <a:noFill/>
          <a:ln>
            <a:noFill/>
          </a:ln>
        </p:spPr>
        <p:txBody>
          <a:bodyPr spcFirstLastPara="1" wrap="square" lIns="91425" tIns="45700" rIns="91425" bIns="45700" anchor="t" anchorCtr="0">
            <a:normAutofit/>
          </a:bodyPr>
          <a:lstStyle/>
          <a:p>
            <a:pPr marL="228600" lvl="0" indent="-228600" algn="l" rtl="0">
              <a:lnSpc>
                <a:spcPct val="100000"/>
              </a:lnSpc>
              <a:spcBef>
                <a:spcPts val="0"/>
              </a:spcBef>
              <a:spcAft>
                <a:spcPts val="0"/>
              </a:spcAft>
              <a:buClr>
                <a:schemeClr val="dk1"/>
              </a:buClr>
              <a:buSzPts val="1800"/>
              <a:buFont typeface="Noto Sans Symbols"/>
              <a:buChar char="❑"/>
            </a:pPr>
            <a:r>
              <a:rPr lang="el-GR" sz="1800">
                <a:latin typeface="Tahoma"/>
                <a:ea typeface="Tahoma"/>
                <a:cs typeface="Tahoma"/>
                <a:sym typeface="Tahoma"/>
              </a:rPr>
              <a:t>Έχουμε ένα σύνολο δεδομένων X, το οποίο αποτελείται από σημεία στον χώρο των δεδομένων. Κάθε σημείο, xi, είναι δεδομένο εισόδου και, σε αυτή την περίπτωση, δεδομένο traffic. Αυτά τα σημεία προκύπτουν μέσω δειγματοληψίας από μια υποκείμενη κατανομή δεδομένων, P(𝑋) – ένα θεωρητικό μοντέλο που περιγράφει πώς παράγονται/κατανέμονται τα δεδομένα, δηλαδή την πιθανότητα εμφάνισης κάθε δυνατής χρονοσειράς traffic.</a:t>
            </a:r>
            <a:endParaRPr sz="1800">
              <a:latin typeface="Tahoma"/>
              <a:ea typeface="Tahoma"/>
              <a:cs typeface="Tahoma"/>
              <a:sym typeface="Tahoma"/>
            </a:endParaRPr>
          </a:p>
          <a:p>
            <a:pPr marL="228600" lvl="0" indent="-228600" algn="l" rtl="0">
              <a:lnSpc>
                <a:spcPct val="100000"/>
              </a:lnSpc>
              <a:spcBef>
                <a:spcPts val="1000"/>
              </a:spcBef>
              <a:spcAft>
                <a:spcPts val="0"/>
              </a:spcAft>
              <a:buClr>
                <a:schemeClr val="dk1"/>
              </a:buClr>
              <a:buSzPts val="1800"/>
              <a:buFont typeface="Noto Sans Symbols"/>
              <a:buChar char="❑"/>
            </a:pPr>
            <a:r>
              <a:rPr lang="el-GR" sz="1800">
                <a:latin typeface="Tahoma"/>
                <a:ea typeface="Tahoma"/>
                <a:cs typeface="Tahoma"/>
                <a:sym typeface="Tahoma"/>
              </a:rPr>
              <a:t>Ο στόχος μας είναι να εκπαιδεύσουμε ένα μοντέλο που θα κατανοεί τα δεδομένα μιας ημέρας από το Dataset SMS Call Internet του Milano, καταγράφοντας την αντίστοιχη κατανομή στον χώρο των δεδομένων για την κατηγορία αυτή. Η κατανομή 𝑃(𝑋) αντιπροσωπεύει τη «μαγική» διαδικασία που δημιούργησε τα δεδομένα μας, αν και δυστυχώς δεν γνωρίζουμε ακριβώς πώς λειτουργεί αυτή η διαδικασία.</a:t>
            </a:r>
            <a:endParaRPr sz="1800">
              <a:latin typeface="Tahoma"/>
              <a:ea typeface="Tahoma"/>
              <a:cs typeface="Tahoma"/>
              <a:sym typeface="Tahoma"/>
            </a:endParaRPr>
          </a:p>
        </p:txBody>
      </p:sp>
      <p:sp>
        <p:nvSpPr>
          <p:cNvPr id="178" name="Google Shape;178;p5"/>
          <p:cNvSpPr/>
          <p:nvPr/>
        </p:nvSpPr>
        <p:spPr>
          <a:xfrm rot="5400000">
            <a:off x="853202" y="363389"/>
            <a:ext cx="73152" cy="54864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FFFFFF"/>
              </a:solidFill>
              <a:latin typeface="Calibri"/>
              <a:ea typeface="Calibri"/>
              <a:cs typeface="Calibri"/>
              <a:sym typeface="Calibri"/>
            </a:endParaRPr>
          </a:p>
        </p:txBody>
      </p:sp>
      <p:pic>
        <p:nvPicPr>
          <p:cNvPr id="179" name="Google Shape;179;p5"/>
          <p:cNvPicPr preferRelativeResize="0"/>
          <p:nvPr/>
        </p:nvPicPr>
        <p:blipFill rotWithShape="1">
          <a:blip r:embed="rId3">
            <a:alphaModFix/>
          </a:blip>
          <a:srcRect r="60016"/>
          <a:stretch/>
        </p:blipFill>
        <p:spPr>
          <a:xfrm>
            <a:off x="542943" y="3156805"/>
            <a:ext cx="3952857" cy="243094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p6"/>
          <p:cNvSpPr txBox="1">
            <a:spLocks noGrp="1"/>
          </p:cNvSpPr>
          <p:nvPr>
            <p:ph type="title"/>
          </p:nvPr>
        </p:nvSpPr>
        <p:spPr>
          <a:xfrm>
            <a:off x="1115568" y="548640"/>
            <a:ext cx="10168128" cy="1179576"/>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000"/>
              <a:buFont typeface="Tahoma"/>
              <a:buNone/>
            </a:pPr>
            <a:r>
              <a:rPr lang="el-GR" dirty="0">
                <a:latin typeface="Tahoma"/>
                <a:ea typeface="Tahoma"/>
                <a:cs typeface="Tahoma"/>
                <a:sym typeface="Tahoma"/>
              </a:rPr>
              <a:t>Προσέγγιση της Κατανομής Δεδομένων (II)</a:t>
            </a:r>
            <a:endParaRPr dirty="0"/>
          </a:p>
        </p:txBody>
      </p:sp>
      <p:sp>
        <p:nvSpPr>
          <p:cNvPr id="186" name="Google Shape;186;p6"/>
          <p:cNvSpPr txBox="1">
            <a:spLocks noGrp="1"/>
          </p:cNvSpPr>
          <p:nvPr>
            <p:ph type="body" idx="1"/>
          </p:nvPr>
        </p:nvSpPr>
        <p:spPr>
          <a:xfrm>
            <a:off x="528504" y="2294342"/>
            <a:ext cx="11342256" cy="3876472"/>
          </a:xfrm>
          <a:prstGeom prst="rect">
            <a:avLst/>
          </a:prstGeom>
          <a:noFill/>
          <a:ln>
            <a:noFill/>
          </a:ln>
        </p:spPr>
        <p:txBody>
          <a:bodyPr spcFirstLastPara="1" wrap="square" lIns="91425" tIns="45700" rIns="91425" bIns="45700" anchor="t" anchorCtr="0">
            <a:normAutofit/>
          </a:bodyPr>
          <a:lstStyle/>
          <a:p>
            <a:pPr marL="228600" lvl="0" indent="-228600" algn="l" rtl="0">
              <a:lnSpc>
                <a:spcPct val="110000"/>
              </a:lnSpc>
              <a:spcBef>
                <a:spcPts val="0"/>
              </a:spcBef>
              <a:spcAft>
                <a:spcPts val="0"/>
              </a:spcAft>
              <a:buClr>
                <a:schemeClr val="dk1"/>
              </a:buClr>
              <a:buSzPts val="1800"/>
              <a:buFont typeface="Noto Sans Symbols"/>
              <a:buChar char="❑"/>
            </a:pPr>
            <a:r>
              <a:rPr lang="el-GR" sz="1800" dirty="0">
                <a:latin typeface="Tahoma"/>
                <a:ea typeface="Tahoma"/>
                <a:cs typeface="Tahoma"/>
                <a:sym typeface="Tahoma"/>
              </a:rPr>
              <a:t>Το πρόβλημα που αντιμετωπίζουμε είναι ότι δεν μπορούμε να αναπαράγουμε απευθείας τη διαδικασία δημιουργίας των δεδομένων, επειδή αυτή είναι άγνωστη. Έτσι, ο στόχος μας είναι να προσεγγίσουμε την αληθινή κατανομή 𝑃(X) μέσω ενός μοντέλου 𝑃𝜃, όπου το 𝜃 αντιπροσωπεύει τις παραμέτρους του μοντέλου. </a:t>
            </a:r>
            <a:endParaRPr dirty="0"/>
          </a:p>
          <a:p>
            <a:pPr marL="228600" lvl="0" indent="-228600" algn="l" rtl="0">
              <a:lnSpc>
                <a:spcPct val="110000"/>
              </a:lnSpc>
              <a:spcBef>
                <a:spcPts val="1000"/>
              </a:spcBef>
              <a:spcAft>
                <a:spcPts val="0"/>
              </a:spcAft>
              <a:buClr>
                <a:schemeClr val="dk1"/>
              </a:buClr>
              <a:buSzPts val="1800"/>
              <a:buFont typeface="Noto Sans Symbols"/>
              <a:buChar char="❑"/>
            </a:pPr>
            <a:r>
              <a:rPr lang="el-GR" sz="1800" dirty="0">
                <a:latin typeface="Tahoma"/>
                <a:ea typeface="Tahoma"/>
                <a:cs typeface="Tahoma"/>
                <a:sym typeface="Tahoma"/>
              </a:rPr>
              <a:t>Ο βασικός στόχος της γενετικής </a:t>
            </a:r>
            <a:r>
              <a:rPr lang="el-GR" sz="1800" dirty="0" err="1">
                <a:latin typeface="Tahoma"/>
                <a:ea typeface="Tahoma"/>
                <a:cs typeface="Tahoma"/>
                <a:sym typeface="Tahoma"/>
              </a:rPr>
              <a:t>μοντελοποίησης</a:t>
            </a:r>
            <a:r>
              <a:rPr lang="el-GR" sz="1800" dirty="0">
                <a:latin typeface="Tahoma"/>
                <a:ea typeface="Tahoma"/>
                <a:cs typeface="Tahoma"/>
                <a:sym typeface="Tahoma"/>
              </a:rPr>
              <a:t> είναι να βελτιστοποιήσουμε τις παραμέτρους 𝜃, έτσι ώστε η κατανομή που παράγει το μοντέλο μας, 𝑃𝜃, να πλησιάζει όσο το δυνατόν περισσότερο την αληθινή κατανομή 𝑃(𝑋). Με αυτόν τον τρόπο, το μοντέλο μαθαίνει να κατανοεί τα μοτίβα και τις δομές που υπάρχουν στα δεδομένα.</a:t>
            </a:r>
            <a:endParaRPr dirty="0"/>
          </a:p>
        </p:txBody>
      </p:sp>
      <p:pic>
        <p:nvPicPr>
          <p:cNvPr id="187" name="Google Shape;187;p6"/>
          <p:cNvPicPr preferRelativeResize="0"/>
          <p:nvPr/>
        </p:nvPicPr>
        <p:blipFill rotWithShape="1">
          <a:blip r:embed="rId3">
            <a:alphaModFix/>
          </a:blip>
          <a:srcRect t="10510"/>
          <a:stretch/>
        </p:blipFill>
        <p:spPr>
          <a:xfrm>
            <a:off x="1909341" y="4664363"/>
            <a:ext cx="8580582" cy="188811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7"/>
          <p:cNvSpPr txBox="1">
            <a:spLocks noGrp="1"/>
          </p:cNvSpPr>
          <p:nvPr>
            <p:ph type="title"/>
          </p:nvPr>
        </p:nvSpPr>
        <p:spPr>
          <a:xfrm>
            <a:off x="1115568" y="548640"/>
            <a:ext cx="10168128" cy="1179576"/>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000"/>
              <a:buFont typeface="Avenir"/>
              <a:buNone/>
            </a:pPr>
            <a:r>
              <a:rPr lang="el-GR" dirty="0">
                <a:latin typeface="Tahoma" panose="020B0604030504040204" pitchFamily="34" charset="0"/>
                <a:ea typeface="Tahoma" panose="020B0604030504040204" pitchFamily="34" charset="0"/>
                <a:cs typeface="Tahoma" panose="020B0604030504040204" pitchFamily="34" charset="0"/>
              </a:rPr>
              <a:t>Κανονικοποίηση Κατανομών με DNN</a:t>
            </a:r>
            <a:endParaRPr dirty="0">
              <a:latin typeface="Tahoma" panose="020B0604030504040204" pitchFamily="34" charset="0"/>
              <a:ea typeface="Tahoma" panose="020B0604030504040204" pitchFamily="34" charset="0"/>
              <a:cs typeface="Tahoma" panose="020B0604030504040204" pitchFamily="34" charset="0"/>
            </a:endParaRPr>
          </a:p>
        </p:txBody>
      </p:sp>
      <p:sp>
        <p:nvSpPr>
          <p:cNvPr id="194" name="Google Shape;194;p7"/>
          <p:cNvSpPr txBox="1">
            <a:spLocks noGrp="1"/>
          </p:cNvSpPr>
          <p:nvPr>
            <p:ph type="body" idx="1"/>
          </p:nvPr>
        </p:nvSpPr>
        <p:spPr>
          <a:xfrm>
            <a:off x="1011936" y="2212601"/>
            <a:ext cx="10168128" cy="4562272"/>
          </a:xfrm>
          <a:prstGeom prst="rect">
            <a:avLst/>
          </a:prstGeom>
          <a:noFill/>
          <a:ln>
            <a:noFill/>
          </a:ln>
        </p:spPr>
        <p:txBody>
          <a:bodyPr spcFirstLastPara="1" wrap="square" lIns="91425" tIns="45700" rIns="91425" bIns="45700" anchor="t" anchorCtr="0">
            <a:normAutofit fontScale="92500" lnSpcReduction="10000"/>
          </a:bodyPr>
          <a:lstStyle/>
          <a:p>
            <a:pPr marL="0" lvl="0" indent="0" algn="l" rtl="0">
              <a:lnSpc>
                <a:spcPct val="110000"/>
              </a:lnSpc>
              <a:spcBef>
                <a:spcPts val="0"/>
              </a:spcBef>
              <a:spcAft>
                <a:spcPts val="0"/>
              </a:spcAft>
              <a:buClr>
                <a:schemeClr val="dk1"/>
              </a:buClr>
              <a:buSzPct val="100000"/>
              <a:buNone/>
            </a:pPr>
            <a:r>
              <a:rPr lang="el-GR" sz="1900">
                <a:latin typeface="Tahoma"/>
                <a:ea typeface="Tahoma"/>
                <a:cs typeface="Tahoma"/>
                <a:sym typeface="Tahoma"/>
              </a:rPr>
              <a:t>Για να δώσουμε στο μοντέλο την ευελιξία να μάθει πολύπλοκες κατανομές, χρησιμοποιούμε ένα βαθύ νευρωνικό δίκτυο, προσεγγίζοντας σταδιακά την αληθινή κατανομή 𝑃(𝑋). Για να ερμηνεύσουμε την έξοδο του δικτύου ως κατανομή πιθανότητας για το 𝑋, απαιτούνται δύο βασικά κριτήρια:</a:t>
            </a:r>
            <a:endParaRPr sz="1900">
              <a:latin typeface="Tahoma"/>
              <a:ea typeface="Tahoma"/>
              <a:cs typeface="Tahoma"/>
              <a:sym typeface="Tahoma"/>
            </a:endParaRPr>
          </a:p>
          <a:p>
            <a:pPr marL="457200" lvl="0" indent="-457231" algn="l" rtl="0">
              <a:lnSpc>
                <a:spcPct val="110000"/>
              </a:lnSpc>
              <a:spcBef>
                <a:spcPts val="1000"/>
              </a:spcBef>
              <a:spcAft>
                <a:spcPts val="0"/>
              </a:spcAft>
              <a:buClr>
                <a:schemeClr val="dk1"/>
              </a:buClr>
              <a:buSzPct val="100000"/>
              <a:buFont typeface="Avenir"/>
              <a:buAutoNum type="arabicPeriod"/>
            </a:pPr>
            <a:r>
              <a:rPr lang="el-GR" sz="1900">
                <a:latin typeface="Tahoma"/>
                <a:ea typeface="Tahoma"/>
                <a:cs typeface="Tahoma"/>
                <a:sym typeface="Tahoma"/>
              </a:rPr>
              <a:t>Όλες οι τιμές εξόδου πρέπει να είναι μη αρνητικές (δηλαδή ≥ 0), κάτι που επιτυγχάνουμε εφαρμόζοντας μια συνάρτηση που δίνει μόνο θετικές τιμές, όπως η εκθετική.</a:t>
            </a:r>
            <a:endParaRPr/>
          </a:p>
          <a:p>
            <a:pPr marL="457200" lvl="0" indent="-457231" algn="l" rtl="0">
              <a:lnSpc>
                <a:spcPct val="110000"/>
              </a:lnSpc>
              <a:spcBef>
                <a:spcPts val="1000"/>
              </a:spcBef>
              <a:spcAft>
                <a:spcPts val="0"/>
              </a:spcAft>
              <a:buClr>
                <a:schemeClr val="dk1"/>
              </a:buClr>
              <a:buSzPct val="100000"/>
              <a:buFont typeface="Avenir"/>
              <a:buAutoNum type="arabicPeriod"/>
            </a:pPr>
            <a:r>
              <a:rPr lang="el-GR" sz="1900">
                <a:latin typeface="Tahoma"/>
                <a:ea typeface="Tahoma"/>
                <a:cs typeface="Tahoma"/>
                <a:sym typeface="Tahoma"/>
              </a:rPr>
              <a:t>Το άθροισμα (ή το ολοκλήρωμα σε περίπτωση συνεχούς κατανομής) όλων των τιμών πρέπει να ισούται με 1. Εάν το ολοκλήρωμα δίνει κάποια άλλη τιμή, τότε κανονικοποιούμε την έξοδο διαιρώντας με τον παράγοντα κανονικοποίησης Ζ, ο οποίος υπολογίζεται ως το ολοκλήρωμα της μη αρνητικής συνάρτησης σε όλο τον χώρο 𝑋. Το πρόβλημα είναι ότι το ολοκλήρωμα αυτό συνήθως δεν μπορεί να επιλυθεί, καθώς δεν έχει αναλυτική μορφή και ο υπολογισμός του μέσω δειγματοληψίας είναι ιδιαίτερα δαπανηρός, ειδικά όταν το 𝑋 έχει υψηλές διαστάσεις, καθιστώντας τον υπολογισμό του παράγοντα κανονικοποίησης ένα από τα κύρια προβλήματα της γενετικής μοντελοποίησης.</a:t>
            </a:r>
            <a:endParaRPr sz="2400"/>
          </a:p>
          <a:p>
            <a:pPr marL="228600" lvl="0" indent="-87629" algn="l" rtl="0">
              <a:lnSpc>
                <a:spcPct val="110000"/>
              </a:lnSpc>
              <a:spcBef>
                <a:spcPts val="1000"/>
              </a:spcBef>
              <a:spcAft>
                <a:spcPts val="0"/>
              </a:spcAft>
              <a:buClr>
                <a:schemeClr val="dk1"/>
              </a:buClr>
              <a:buSzPct val="100000"/>
              <a:buFont typeface="Noto Sans Symbols"/>
              <a:buNone/>
            </a:pPr>
            <a:endParaRPr sz="24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8"/>
          <p:cNvSpPr txBox="1">
            <a:spLocks noGrp="1"/>
          </p:cNvSpPr>
          <p:nvPr>
            <p:ph type="title"/>
          </p:nvPr>
        </p:nvSpPr>
        <p:spPr>
          <a:xfrm>
            <a:off x="1115568" y="548640"/>
            <a:ext cx="10168128" cy="1179576"/>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000"/>
              <a:buFont typeface="Avenir"/>
              <a:buNone/>
            </a:pPr>
            <a:r>
              <a:rPr lang="el-GR" dirty="0">
                <a:latin typeface="Tahoma" panose="020B0604030504040204" pitchFamily="34" charset="0"/>
                <a:ea typeface="Tahoma" panose="020B0604030504040204" pitchFamily="34" charset="0"/>
                <a:cs typeface="Tahoma" panose="020B0604030504040204" pitchFamily="34" charset="0"/>
              </a:rPr>
              <a:t>Έμμεση Εκμάθηση της Κατανομής 𝑃(𝑋)</a:t>
            </a:r>
            <a:endParaRPr dirty="0">
              <a:latin typeface="Tahoma" panose="020B0604030504040204" pitchFamily="34" charset="0"/>
              <a:ea typeface="Tahoma" panose="020B0604030504040204" pitchFamily="34" charset="0"/>
              <a:cs typeface="Tahoma" panose="020B0604030504040204" pitchFamily="34" charset="0"/>
            </a:endParaRPr>
          </a:p>
        </p:txBody>
      </p:sp>
      <p:sp>
        <p:nvSpPr>
          <p:cNvPr id="201" name="Google Shape;201;p8"/>
          <p:cNvSpPr txBox="1">
            <a:spLocks noGrp="1"/>
          </p:cNvSpPr>
          <p:nvPr>
            <p:ph type="body" idx="1"/>
          </p:nvPr>
        </p:nvSpPr>
        <p:spPr>
          <a:xfrm>
            <a:off x="581025" y="2180272"/>
            <a:ext cx="6189229" cy="4677728"/>
          </a:xfrm>
          <a:prstGeom prst="rect">
            <a:avLst/>
          </a:prstGeom>
          <a:noFill/>
          <a:ln>
            <a:noFill/>
          </a:ln>
        </p:spPr>
        <p:txBody>
          <a:bodyPr spcFirstLastPara="1" wrap="square" lIns="91425" tIns="45700" rIns="91425" bIns="45700" anchor="t" anchorCtr="0">
            <a:normAutofit fontScale="92500"/>
          </a:bodyPr>
          <a:lstStyle/>
          <a:p>
            <a:pPr marL="228600" lvl="0" indent="-228600" algn="l" rtl="0">
              <a:lnSpc>
                <a:spcPct val="110000"/>
              </a:lnSpc>
              <a:spcBef>
                <a:spcPts val="0"/>
              </a:spcBef>
              <a:spcAft>
                <a:spcPts val="0"/>
              </a:spcAft>
              <a:buClr>
                <a:schemeClr val="dk1"/>
              </a:buClr>
              <a:buSzPct val="100000"/>
              <a:buFont typeface="Noto Sans Symbols"/>
              <a:buChar char="❑"/>
            </a:pPr>
            <a:r>
              <a:rPr lang="el-GR" sz="1800" dirty="0">
                <a:latin typeface="Tahoma"/>
                <a:ea typeface="Tahoma"/>
                <a:cs typeface="Tahoma"/>
                <a:sym typeface="Tahoma"/>
              </a:rPr>
              <a:t>Τα GAN προσεγγίζουν το πρόβλημα αυτό με αναδιατύπωση. Αντί να επιχειρήσουμε την άμεση εκμάθηση της κατανομής 𝑃(X), την προσεγγίζουμε έμμεσα μέσω μιας κρυφής μεταβλητής 𝑍, η οποία ακολουθεί μια γνωστή κατανομή 𝑃𝑧(𝑍) (συνήθως την κανονική κατανομή), η οποία ονομάζεται κατανομή θορύβου. </a:t>
            </a:r>
            <a:endParaRPr sz="1800" dirty="0">
              <a:latin typeface="Tahoma"/>
              <a:ea typeface="Tahoma"/>
              <a:cs typeface="Tahoma"/>
              <a:sym typeface="Tahoma"/>
            </a:endParaRPr>
          </a:p>
          <a:p>
            <a:pPr marL="228600" lvl="0" indent="-228600" algn="l" rtl="0">
              <a:lnSpc>
                <a:spcPct val="110000"/>
              </a:lnSpc>
              <a:spcBef>
                <a:spcPts val="1000"/>
              </a:spcBef>
              <a:spcAft>
                <a:spcPts val="0"/>
              </a:spcAft>
              <a:buClr>
                <a:schemeClr val="dk1"/>
              </a:buClr>
              <a:buSzPct val="100000"/>
              <a:buFont typeface="Noto Sans Symbols"/>
              <a:buChar char="❑"/>
            </a:pPr>
            <a:r>
              <a:rPr lang="el-GR" sz="1800" dirty="0">
                <a:latin typeface="Tahoma"/>
                <a:ea typeface="Tahoma"/>
                <a:cs typeface="Tahoma"/>
                <a:sym typeface="Tahoma"/>
              </a:rPr>
              <a:t>Η βασική ιδέα είναι ότι, δεδομένου ότι η κατανομή 𝑃𝑧(𝑍) είναι </a:t>
            </a:r>
            <a:r>
              <a:rPr lang="el-GR" sz="1800" dirty="0" err="1">
                <a:latin typeface="Tahoma"/>
                <a:ea typeface="Tahoma"/>
                <a:cs typeface="Tahoma"/>
                <a:sym typeface="Tahoma"/>
              </a:rPr>
              <a:t>κανονικοποιημένη</a:t>
            </a:r>
            <a:r>
              <a:rPr lang="el-GR" sz="1800" dirty="0">
                <a:latin typeface="Tahoma"/>
                <a:ea typeface="Tahoma"/>
                <a:cs typeface="Tahoma"/>
                <a:sym typeface="Tahoma"/>
              </a:rPr>
              <a:t>, μπορούμε να μάθουμε έμμεσα την </a:t>
            </a:r>
            <a:r>
              <a:rPr lang="el-GR" sz="1800" dirty="0" err="1">
                <a:latin typeface="Tahoma"/>
                <a:ea typeface="Tahoma"/>
                <a:cs typeface="Tahoma"/>
                <a:sym typeface="Tahoma"/>
              </a:rPr>
              <a:t>στοχευμένη</a:t>
            </a:r>
            <a:r>
              <a:rPr lang="el-GR" sz="1800" dirty="0">
                <a:latin typeface="Tahoma"/>
                <a:ea typeface="Tahoma"/>
                <a:cs typeface="Tahoma"/>
                <a:sym typeface="Tahoma"/>
              </a:rPr>
              <a:t> κατανομή 𝑃(𝑋) χαρτογραφώντας σημεία από το χώρο της κρυφής μεταβλητής στον χώρο των δεδομένων, έτσι ώστε η κατανομή θορύβου να μετατρέπεται στην κατανομή των δεδομένων. Το κύριο ζήτημα που προκύπτει είναι η διασφάλιση ότι αυτή η χαρτογράφηση παράγει σημεία που προέρχονται πραγματικά από την κατανομή 𝑃(𝑋)– και σε αυτό το σημείο εισέρχεται σε δράση το GAN.</a:t>
            </a:r>
            <a:endParaRPr dirty="0"/>
          </a:p>
        </p:txBody>
      </p:sp>
      <p:pic>
        <p:nvPicPr>
          <p:cNvPr id="202" name="Google Shape;202;p8" descr="A diagram of a triangle with a triangle and a triangle with a triangle and a triangle with a triangle and a triangle with a triangle and a triangle with a triangle and a triangle with a triangle and&#10;&#10;AI-generated content may be incorrect."/>
          <p:cNvPicPr preferRelativeResize="0"/>
          <p:nvPr/>
        </p:nvPicPr>
        <p:blipFill rotWithShape="1">
          <a:blip r:embed="rId3">
            <a:alphaModFix/>
          </a:blip>
          <a:srcRect/>
          <a:stretch/>
        </p:blipFill>
        <p:spPr>
          <a:xfrm>
            <a:off x="6658552" y="2957006"/>
            <a:ext cx="5459557" cy="245088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9"/>
          <p:cNvSpPr txBox="1">
            <a:spLocks noGrp="1"/>
          </p:cNvSpPr>
          <p:nvPr>
            <p:ph type="title"/>
          </p:nvPr>
        </p:nvSpPr>
        <p:spPr>
          <a:xfrm>
            <a:off x="1115568" y="548640"/>
            <a:ext cx="10168128" cy="1179576"/>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000"/>
              <a:buFont typeface="Avenir"/>
              <a:buNone/>
            </a:pPr>
            <a:r>
              <a:rPr lang="el-GR" dirty="0">
                <a:latin typeface="Tahoma" panose="020B0604030504040204" pitchFamily="34" charset="0"/>
                <a:ea typeface="Tahoma" panose="020B0604030504040204" pitchFamily="34" charset="0"/>
                <a:cs typeface="Tahoma" panose="020B0604030504040204" pitchFamily="34" charset="0"/>
              </a:rPr>
              <a:t>Παραχαράκτης (Γεννήτρια - G) </a:t>
            </a:r>
            <a:endParaRPr dirty="0">
              <a:latin typeface="Tahoma" panose="020B0604030504040204" pitchFamily="34" charset="0"/>
              <a:ea typeface="Tahoma" panose="020B0604030504040204" pitchFamily="34" charset="0"/>
              <a:cs typeface="Tahoma" panose="020B0604030504040204" pitchFamily="34" charset="0"/>
            </a:endParaRPr>
          </a:p>
        </p:txBody>
      </p:sp>
      <p:sp>
        <p:nvSpPr>
          <p:cNvPr id="209" name="Google Shape;209;p9"/>
          <p:cNvSpPr txBox="1">
            <a:spLocks noGrp="1"/>
          </p:cNvSpPr>
          <p:nvPr>
            <p:ph type="body" idx="1"/>
          </p:nvPr>
        </p:nvSpPr>
        <p:spPr>
          <a:xfrm>
            <a:off x="1115568" y="2212601"/>
            <a:ext cx="9720719" cy="4562272"/>
          </a:xfrm>
          <a:prstGeom prst="rect">
            <a:avLst/>
          </a:prstGeom>
          <a:noFill/>
          <a:ln>
            <a:noFill/>
          </a:ln>
        </p:spPr>
        <p:txBody>
          <a:bodyPr spcFirstLastPara="1" wrap="square" lIns="91425" tIns="45700" rIns="91425" bIns="45700" anchor="t" anchorCtr="0">
            <a:normAutofit/>
          </a:bodyPr>
          <a:lstStyle/>
          <a:p>
            <a:pPr marL="0" lvl="0" indent="0" algn="l" rtl="0">
              <a:lnSpc>
                <a:spcPct val="110000"/>
              </a:lnSpc>
              <a:spcBef>
                <a:spcPts val="0"/>
              </a:spcBef>
              <a:spcAft>
                <a:spcPts val="0"/>
              </a:spcAft>
              <a:buClr>
                <a:schemeClr val="dk1"/>
              </a:buClr>
              <a:buSzPts val="1800"/>
              <a:buNone/>
            </a:pPr>
            <a:r>
              <a:rPr lang="el-GR" sz="1800" dirty="0">
                <a:latin typeface="Tahoma"/>
                <a:ea typeface="Tahoma"/>
                <a:cs typeface="Tahoma"/>
                <a:sym typeface="Tahoma"/>
              </a:rPr>
              <a:t>Η γεννήτρια χαρτογραφεί την κατανομή θορύβου στον χώρο της κρυφής μεταβλητής σε μια κατανομή 𝑃𝐺​ στον χώρο των δεδομένων, η οποία θέλουμε να ευθυγραμμιστεί όσο το δυνατόν περισσότερο με την </a:t>
            </a:r>
            <a:r>
              <a:rPr lang="el-GR" sz="1800" dirty="0" err="1">
                <a:latin typeface="Tahoma"/>
                <a:ea typeface="Tahoma"/>
                <a:cs typeface="Tahoma"/>
                <a:sym typeface="Tahoma"/>
              </a:rPr>
              <a:t>στοχευμένη</a:t>
            </a:r>
            <a:r>
              <a:rPr lang="el-GR" sz="1800" dirty="0">
                <a:latin typeface="Tahoma"/>
                <a:ea typeface="Tahoma"/>
                <a:cs typeface="Tahoma"/>
                <a:sym typeface="Tahoma"/>
              </a:rPr>
              <a:t> κατανομή 𝑃(X). Δηλαδή, θέλουμε τα παραγόμενα δείγματα να είναι αδιάκριτα από τα πραγματικά. </a:t>
            </a:r>
            <a:endParaRPr sz="1800" dirty="0">
              <a:latin typeface="Tahoma"/>
              <a:ea typeface="Tahoma"/>
              <a:cs typeface="Tahoma"/>
              <a:sym typeface="Tahoma"/>
            </a:endParaRPr>
          </a:p>
          <a:p>
            <a:pPr marL="0" lvl="0" indent="0" algn="l" rtl="0">
              <a:lnSpc>
                <a:spcPct val="110000"/>
              </a:lnSpc>
              <a:spcBef>
                <a:spcPts val="1000"/>
              </a:spcBef>
              <a:spcAft>
                <a:spcPts val="0"/>
              </a:spcAft>
              <a:buClr>
                <a:schemeClr val="dk1"/>
              </a:buClr>
              <a:buSzPts val="2800"/>
              <a:buNone/>
            </a:pPr>
            <a:endParaRPr dirty="0"/>
          </a:p>
        </p:txBody>
      </p:sp>
      <p:pic>
        <p:nvPicPr>
          <p:cNvPr id="210" name="Google Shape;210;p9" descr="A diagram of a triangle&#10;&#10;AI-generated content may be incorrect."/>
          <p:cNvPicPr preferRelativeResize="0"/>
          <p:nvPr/>
        </p:nvPicPr>
        <p:blipFill rotWithShape="1">
          <a:blip r:embed="rId3">
            <a:alphaModFix/>
          </a:blip>
          <a:srcRect/>
          <a:stretch/>
        </p:blipFill>
        <p:spPr>
          <a:xfrm>
            <a:off x="1646682" y="3583534"/>
            <a:ext cx="9105900" cy="28098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10"/>
          <p:cNvSpPr txBox="1">
            <a:spLocks noGrp="1"/>
          </p:cNvSpPr>
          <p:nvPr>
            <p:ph type="title"/>
          </p:nvPr>
        </p:nvSpPr>
        <p:spPr>
          <a:xfrm>
            <a:off x="1115568" y="548640"/>
            <a:ext cx="10168128" cy="1179576"/>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000"/>
              <a:buFont typeface="Avenir"/>
              <a:buNone/>
            </a:pPr>
            <a:r>
              <a:rPr lang="el-GR" dirty="0">
                <a:latin typeface="Tahoma" panose="020B0604030504040204" pitchFamily="34" charset="0"/>
                <a:ea typeface="Tahoma" panose="020B0604030504040204" pitchFamily="34" charset="0"/>
                <a:cs typeface="Tahoma" panose="020B0604030504040204" pitchFamily="34" charset="0"/>
              </a:rPr>
              <a:t>Τραπεζικός Υπάλληλος (Διαχωριστής - D)</a:t>
            </a:r>
            <a:endParaRPr dirty="0">
              <a:latin typeface="Tahoma" panose="020B0604030504040204" pitchFamily="34" charset="0"/>
              <a:ea typeface="Tahoma" panose="020B0604030504040204" pitchFamily="34" charset="0"/>
              <a:cs typeface="Tahoma" panose="020B0604030504040204" pitchFamily="34" charset="0"/>
            </a:endParaRPr>
          </a:p>
        </p:txBody>
      </p:sp>
      <p:sp>
        <p:nvSpPr>
          <p:cNvPr id="217" name="Google Shape;217;p10"/>
          <p:cNvSpPr txBox="1">
            <a:spLocks noGrp="1"/>
          </p:cNvSpPr>
          <p:nvPr>
            <p:ph type="body" idx="1"/>
          </p:nvPr>
        </p:nvSpPr>
        <p:spPr>
          <a:xfrm>
            <a:off x="1011936" y="2212601"/>
            <a:ext cx="10168128" cy="4562272"/>
          </a:xfrm>
          <a:prstGeom prst="rect">
            <a:avLst/>
          </a:prstGeom>
          <a:noFill/>
          <a:ln>
            <a:noFill/>
          </a:ln>
        </p:spPr>
        <p:txBody>
          <a:bodyPr spcFirstLastPara="1" wrap="square" lIns="91425" tIns="45700" rIns="91425" bIns="45700" anchor="t" anchorCtr="0">
            <a:normAutofit/>
          </a:bodyPr>
          <a:lstStyle/>
          <a:p>
            <a:pPr marL="0" lvl="0" indent="0" algn="l" rtl="0">
              <a:lnSpc>
                <a:spcPct val="110000"/>
              </a:lnSpc>
              <a:spcBef>
                <a:spcPts val="0"/>
              </a:spcBef>
              <a:spcAft>
                <a:spcPts val="0"/>
              </a:spcAft>
              <a:buClr>
                <a:schemeClr val="dk1"/>
              </a:buClr>
              <a:buSzPts val="1800"/>
              <a:buNone/>
            </a:pPr>
            <a:r>
              <a:rPr lang="el-GR" sz="1800" dirty="0">
                <a:latin typeface="Tahoma"/>
                <a:ea typeface="Tahoma"/>
                <a:cs typeface="Tahoma"/>
                <a:sym typeface="Tahoma"/>
              </a:rPr>
              <a:t>Από την άλλη πλευρά, ο διαχωριστής 𝐷 έχει την αποστολή να ξεχωρίσει τα πραγματικά δείγματα από τα παραγόμενα, λαμβάνοντας ως είσοδο το 𝑋 και παράγοντας μια τιμή μεταξύ 0 και 1, που ερμηνεύεται ως η πιθανότητα το 𝑋 να είναι πραγματικό. </a:t>
            </a:r>
            <a:endParaRPr sz="1800" dirty="0">
              <a:latin typeface="Tahoma"/>
              <a:ea typeface="Tahoma"/>
              <a:cs typeface="Tahoma"/>
              <a:sym typeface="Tahoma"/>
            </a:endParaRPr>
          </a:p>
          <a:p>
            <a:pPr marL="0" lvl="0" indent="0" algn="l" rtl="0">
              <a:lnSpc>
                <a:spcPct val="110000"/>
              </a:lnSpc>
              <a:spcBef>
                <a:spcPts val="1000"/>
              </a:spcBef>
              <a:spcAft>
                <a:spcPts val="0"/>
              </a:spcAft>
              <a:buClr>
                <a:schemeClr val="dk1"/>
              </a:buClr>
              <a:buSzPts val="2800"/>
              <a:buNone/>
            </a:pPr>
            <a:endParaRPr dirty="0"/>
          </a:p>
        </p:txBody>
      </p:sp>
      <p:grpSp>
        <p:nvGrpSpPr>
          <p:cNvPr id="218" name="Google Shape;218;p10"/>
          <p:cNvGrpSpPr/>
          <p:nvPr/>
        </p:nvGrpSpPr>
        <p:grpSpPr>
          <a:xfrm>
            <a:off x="2737053" y="3309389"/>
            <a:ext cx="5733544" cy="3396616"/>
            <a:chOff x="2737053" y="3309389"/>
            <a:chExt cx="5733544" cy="3396616"/>
          </a:xfrm>
        </p:grpSpPr>
        <p:pic>
          <p:nvPicPr>
            <p:cNvPr id="219" name="Google Shape;219;p10" descr="A diagram of a person's life cycle&#10;&#10;AI-generated content may be incorrect."/>
            <p:cNvPicPr preferRelativeResize="0"/>
            <p:nvPr/>
          </p:nvPicPr>
          <p:blipFill rotWithShape="1">
            <a:blip r:embed="rId3">
              <a:alphaModFix/>
            </a:blip>
            <a:srcRect/>
            <a:stretch/>
          </p:blipFill>
          <p:spPr>
            <a:xfrm>
              <a:off x="2737053" y="3309389"/>
              <a:ext cx="5733544" cy="3396616"/>
            </a:xfrm>
            <a:prstGeom prst="rect">
              <a:avLst/>
            </a:prstGeom>
            <a:noFill/>
            <a:ln>
              <a:noFill/>
            </a:ln>
          </p:spPr>
        </p:pic>
        <p:pic>
          <p:nvPicPr>
            <p:cNvPr id="220" name="Google Shape;220;p10" descr="A diagram of a person's life cycle&#10;&#10;AI-generated content may be incorrect."/>
            <p:cNvPicPr preferRelativeResize="0"/>
            <p:nvPr/>
          </p:nvPicPr>
          <p:blipFill rotWithShape="1">
            <a:blip r:embed="rId3">
              <a:alphaModFix/>
            </a:blip>
            <a:srcRect l="32000" t="14343" b="50928"/>
            <a:stretch/>
          </p:blipFill>
          <p:spPr>
            <a:xfrm>
              <a:off x="4571799" y="5526429"/>
              <a:ext cx="3898798" cy="1179576"/>
            </a:xfrm>
            <a:prstGeom prst="rect">
              <a:avLst/>
            </a:prstGeom>
            <a:noFill/>
            <a:ln>
              <a:noFill/>
            </a:ln>
          </p:spPr>
        </p:pic>
        <p:pic>
          <p:nvPicPr>
            <p:cNvPr id="221" name="Google Shape;221;p10" descr="A diagram of a person's life cycle&#10;&#10;AI-generated content may be incorrect."/>
            <p:cNvPicPr preferRelativeResize="0"/>
            <p:nvPr/>
          </p:nvPicPr>
          <p:blipFill rotWithShape="1">
            <a:blip r:embed="rId3">
              <a:alphaModFix/>
            </a:blip>
            <a:srcRect l="34307" t="65272" r="1"/>
            <a:stretch/>
          </p:blipFill>
          <p:spPr>
            <a:xfrm>
              <a:off x="4571799" y="3798458"/>
              <a:ext cx="3766518" cy="1179577"/>
            </a:xfrm>
            <a:prstGeom prst="rect">
              <a:avLst/>
            </a:prstGeom>
            <a:noFill/>
            <a:ln>
              <a:noFill/>
            </a:ln>
          </p:spPr>
        </p:pic>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26"/>
        <p:cNvGrpSpPr/>
        <p:nvPr/>
      </p:nvGrpSpPr>
      <p:grpSpPr>
        <a:xfrm>
          <a:off x="0" y="0"/>
          <a:ext cx="0" cy="0"/>
          <a:chOff x="0" y="0"/>
          <a:chExt cx="0" cy="0"/>
        </a:xfrm>
      </p:grpSpPr>
      <p:sp>
        <p:nvSpPr>
          <p:cNvPr id="227" name="Google Shape;227;p11"/>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venir"/>
              <a:ea typeface="Avenir"/>
              <a:cs typeface="Avenir"/>
              <a:sym typeface="Avenir"/>
            </a:endParaRPr>
          </a:p>
        </p:txBody>
      </p:sp>
      <p:sp>
        <p:nvSpPr>
          <p:cNvPr id="228" name="Google Shape;228;p11"/>
          <p:cNvSpPr/>
          <p:nvPr/>
        </p:nvSpPr>
        <p:spPr>
          <a:xfrm>
            <a:off x="-1" y="0"/>
            <a:ext cx="4455673" cy="6858000"/>
          </a:xfrm>
          <a:custGeom>
            <a:avLst/>
            <a:gdLst/>
            <a:ahLst/>
            <a:cxnLst/>
            <a:rect l="l" t="t" r="r" b="b"/>
            <a:pathLst>
              <a:path w="4455673" h="6858000" extrusionOk="0">
                <a:moveTo>
                  <a:pt x="0" y="0"/>
                </a:moveTo>
                <a:lnTo>
                  <a:pt x="3242695" y="0"/>
                </a:lnTo>
                <a:lnTo>
                  <a:pt x="3305678" y="69271"/>
                </a:lnTo>
                <a:cubicBezTo>
                  <a:pt x="4016204" y="929100"/>
                  <a:pt x="4455673" y="2116944"/>
                  <a:pt x="4455673" y="3429000"/>
                </a:cubicBezTo>
                <a:cubicBezTo>
                  <a:pt x="4455673" y="4741056"/>
                  <a:pt x="4016204" y="5928900"/>
                  <a:pt x="3305678" y="6788730"/>
                </a:cubicBezTo>
                <a:lnTo>
                  <a:pt x="3242695" y="6858000"/>
                </a:lnTo>
                <a:lnTo>
                  <a:pt x="0" y="6858000"/>
                </a:lnTo>
                <a:close/>
              </a:path>
            </a:pathLst>
          </a:custGeom>
          <a:solidFill>
            <a:schemeClr val="lt1"/>
          </a:solidFill>
          <a:ln w="9525" cap="flat" cmpd="sng">
            <a:solidFill>
              <a:srgbClr val="F1E3F1"/>
            </a:solidFill>
            <a:prstDash val="solid"/>
            <a:miter lim="800000"/>
            <a:headEnd type="none" w="sm" len="sm"/>
            <a:tailEnd type="none" w="sm" len="sm"/>
          </a:ln>
          <a:effectLst>
            <a:outerShdw blurRad="50800" dist="38100" algn="l" rotWithShape="0">
              <a:srgbClr val="D8D8D8">
                <a:alpha val="29803"/>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FFFFFF"/>
              </a:solidFill>
              <a:latin typeface="Calibri"/>
              <a:ea typeface="Calibri"/>
              <a:cs typeface="Calibri"/>
              <a:sym typeface="Calibri"/>
            </a:endParaRPr>
          </a:p>
        </p:txBody>
      </p:sp>
      <p:sp>
        <p:nvSpPr>
          <p:cNvPr id="229" name="Google Shape;229;p11"/>
          <p:cNvSpPr/>
          <p:nvPr/>
        </p:nvSpPr>
        <p:spPr>
          <a:xfrm>
            <a:off x="0" y="0"/>
            <a:ext cx="4446529" cy="6858000"/>
          </a:xfrm>
          <a:custGeom>
            <a:avLst/>
            <a:gdLst/>
            <a:ahLst/>
            <a:cxnLst/>
            <a:rect l="l" t="t" r="r" b="b"/>
            <a:pathLst>
              <a:path w="4446529" h="6858000" extrusionOk="0">
                <a:moveTo>
                  <a:pt x="0" y="0"/>
                </a:moveTo>
                <a:lnTo>
                  <a:pt x="3233551" y="0"/>
                </a:lnTo>
                <a:lnTo>
                  <a:pt x="3296534" y="69271"/>
                </a:lnTo>
                <a:cubicBezTo>
                  <a:pt x="4007060" y="929100"/>
                  <a:pt x="4446529" y="2116944"/>
                  <a:pt x="4446529" y="3429000"/>
                </a:cubicBezTo>
                <a:cubicBezTo>
                  <a:pt x="4446529" y="4741056"/>
                  <a:pt x="4007060" y="5928900"/>
                  <a:pt x="3296534" y="6788730"/>
                </a:cubicBezTo>
                <a:lnTo>
                  <a:pt x="3233551" y="6858000"/>
                </a:lnTo>
                <a:lnTo>
                  <a:pt x="0" y="6858000"/>
                </a:lnTo>
                <a:close/>
              </a:path>
            </a:pathLst>
          </a:cu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FFFFFF"/>
              </a:solidFill>
              <a:latin typeface="Calibri"/>
              <a:ea typeface="Calibri"/>
              <a:cs typeface="Calibri"/>
              <a:sym typeface="Calibri"/>
            </a:endParaRPr>
          </a:p>
        </p:txBody>
      </p:sp>
      <p:sp>
        <p:nvSpPr>
          <p:cNvPr id="230" name="Google Shape;230;p11"/>
          <p:cNvSpPr txBox="1">
            <a:spLocks noGrp="1"/>
          </p:cNvSpPr>
          <p:nvPr>
            <p:ph type="title"/>
          </p:nvPr>
        </p:nvSpPr>
        <p:spPr>
          <a:xfrm>
            <a:off x="371094" y="1161288"/>
            <a:ext cx="3438144" cy="123901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800"/>
              <a:buFont typeface="Avenir"/>
              <a:buNone/>
            </a:pPr>
            <a:r>
              <a:rPr lang="el-GR" sz="2800" dirty="0">
                <a:latin typeface="Tahoma" panose="020B0604030504040204" pitchFamily="34" charset="0"/>
                <a:ea typeface="Tahoma" panose="020B0604030504040204" pitchFamily="34" charset="0"/>
                <a:cs typeface="Tahoma" panose="020B0604030504040204" pitchFamily="34" charset="0"/>
              </a:rPr>
              <a:t>Εκπαίδευση GAN</a:t>
            </a:r>
            <a:endParaRPr sz="2800" dirty="0">
              <a:latin typeface="Tahoma" panose="020B0604030504040204" pitchFamily="34" charset="0"/>
              <a:ea typeface="Tahoma" panose="020B0604030504040204" pitchFamily="34" charset="0"/>
              <a:cs typeface="Tahoma" panose="020B0604030504040204" pitchFamily="34" charset="0"/>
            </a:endParaRPr>
          </a:p>
        </p:txBody>
      </p:sp>
      <p:sp>
        <p:nvSpPr>
          <p:cNvPr id="231" name="Google Shape;231;p11"/>
          <p:cNvSpPr/>
          <p:nvPr/>
        </p:nvSpPr>
        <p:spPr>
          <a:xfrm>
            <a:off x="0" y="1426546"/>
            <a:ext cx="128016" cy="653903"/>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FFFFFF"/>
              </a:solidFill>
              <a:latin typeface="Calibri"/>
              <a:ea typeface="Calibri"/>
              <a:cs typeface="Calibri"/>
              <a:sym typeface="Calibri"/>
            </a:endParaRPr>
          </a:p>
        </p:txBody>
      </p:sp>
      <p:sp>
        <p:nvSpPr>
          <p:cNvPr id="232" name="Google Shape;232;p11"/>
          <p:cNvSpPr/>
          <p:nvPr/>
        </p:nvSpPr>
        <p:spPr>
          <a:xfrm>
            <a:off x="395893" y="2443480"/>
            <a:ext cx="3383280" cy="18288"/>
          </a:xfrm>
          <a:prstGeom prst="rect">
            <a:avLst/>
          </a:prstGeom>
          <a:solidFill>
            <a:srgbClr val="D6BDD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FFFFFF"/>
              </a:solidFill>
              <a:latin typeface="Calibri"/>
              <a:ea typeface="Calibri"/>
              <a:cs typeface="Calibri"/>
              <a:sym typeface="Calibri"/>
            </a:endParaRPr>
          </a:p>
        </p:txBody>
      </p:sp>
      <p:sp>
        <p:nvSpPr>
          <p:cNvPr id="233" name="Google Shape;233;p11"/>
          <p:cNvSpPr txBox="1">
            <a:spLocks noGrp="1"/>
          </p:cNvSpPr>
          <p:nvPr>
            <p:ph type="body" idx="1"/>
          </p:nvPr>
        </p:nvSpPr>
        <p:spPr>
          <a:xfrm>
            <a:off x="371094" y="2718054"/>
            <a:ext cx="3438906" cy="3207258"/>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chemeClr val="dk1"/>
              </a:buClr>
              <a:buSzPts val="1400"/>
              <a:buNone/>
            </a:pPr>
            <a:r>
              <a:rPr lang="el-GR" sz="1400">
                <a:latin typeface="Tahoma"/>
                <a:ea typeface="Tahoma"/>
                <a:cs typeface="Tahoma"/>
                <a:sym typeface="Tahoma"/>
              </a:rPr>
              <a:t>Στην πράξη, η εκπαίδευση του GAN έχει ως βασική διαδικασία ένα πρόβλημα δυαδικής ταξινόμησης, όπου ο διαχωριστής εκπαιδεύεται για να βελτιώνει την απόδοσή του στην διάκριση των δύο κατηγοριών, ενώ ο γεννήτορας εκπαιδεύεται για να δυσκολεύει αυτή τη διάκριση. Το μαγικό στην περίπτωση του GAN είναι ότι αυτή η φαινομενικά απλή δυναμική εκπαίδευσης μπορεί, τελικά, να ωθήσει τον γεννήτορα να δημιουργεί ρεαλιστικά δείγματα.</a:t>
            </a:r>
            <a:endParaRPr sz="1400">
              <a:latin typeface="Tahoma"/>
              <a:ea typeface="Tahoma"/>
              <a:cs typeface="Tahoma"/>
              <a:sym typeface="Tahoma"/>
            </a:endParaRPr>
          </a:p>
          <a:p>
            <a:pPr marL="0" lvl="0" indent="0" algn="l" rtl="0">
              <a:lnSpc>
                <a:spcPct val="100000"/>
              </a:lnSpc>
              <a:spcBef>
                <a:spcPts val="1000"/>
              </a:spcBef>
              <a:spcAft>
                <a:spcPts val="0"/>
              </a:spcAft>
              <a:buClr>
                <a:schemeClr val="dk1"/>
              </a:buClr>
              <a:buSzPts val="1400"/>
              <a:buNone/>
            </a:pPr>
            <a:endParaRPr sz="1400"/>
          </a:p>
        </p:txBody>
      </p:sp>
      <p:pic>
        <p:nvPicPr>
          <p:cNvPr id="234" name="Google Shape;234;p11" descr="A colorful logo on a black background&#10;&#10;AI-generated content may be incorrect."/>
          <p:cNvPicPr preferRelativeResize="0"/>
          <p:nvPr/>
        </p:nvPicPr>
        <p:blipFill rotWithShape="1">
          <a:blip r:embed="rId3">
            <a:alphaModFix/>
          </a:blip>
          <a:srcRect/>
          <a:stretch/>
        </p:blipFill>
        <p:spPr>
          <a:xfrm>
            <a:off x="4901184" y="892191"/>
            <a:ext cx="6922008" cy="517420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0" name="Google Shape;240;p12"/>
          <p:cNvSpPr txBox="1">
            <a:spLocks noGrp="1"/>
          </p:cNvSpPr>
          <p:nvPr>
            <p:ph type="title"/>
          </p:nvPr>
        </p:nvSpPr>
        <p:spPr>
          <a:xfrm>
            <a:off x="1115568" y="548640"/>
            <a:ext cx="10168128" cy="1179576"/>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ts val="4000"/>
              <a:buFont typeface="Avenir"/>
              <a:buNone/>
            </a:pPr>
            <a:r>
              <a:rPr lang="el-GR" dirty="0">
                <a:latin typeface="Tahoma" panose="020B0604030504040204" pitchFamily="34" charset="0"/>
                <a:ea typeface="Tahoma" panose="020B0604030504040204" pitchFamily="34" charset="0"/>
                <a:cs typeface="Tahoma" panose="020B0604030504040204" pitchFamily="34" charset="0"/>
              </a:rPr>
              <a:t>Δημιουργία &amp; Διαχωρισμός Δεδομένων </a:t>
            </a:r>
            <a:r>
              <a:rPr lang="el-GR" dirty="0" err="1">
                <a:latin typeface="Tahoma" panose="020B0604030504040204" pitchFamily="34" charset="0"/>
                <a:ea typeface="Tahoma" panose="020B0604030504040204" pitchFamily="34" charset="0"/>
                <a:cs typeface="Tahoma" panose="020B0604030504040204" pitchFamily="34" charset="0"/>
              </a:rPr>
              <a:t>Traffic</a:t>
            </a:r>
            <a:endParaRPr dirty="0">
              <a:latin typeface="Tahoma" panose="020B0604030504040204" pitchFamily="34" charset="0"/>
              <a:ea typeface="Tahoma" panose="020B0604030504040204" pitchFamily="34" charset="0"/>
              <a:cs typeface="Tahoma" panose="020B0604030504040204" pitchFamily="34" charset="0"/>
            </a:endParaRPr>
          </a:p>
        </p:txBody>
      </p:sp>
      <p:sp>
        <p:nvSpPr>
          <p:cNvPr id="241" name="Google Shape;241;p12"/>
          <p:cNvSpPr txBox="1">
            <a:spLocks noGrp="1"/>
          </p:cNvSpPr>
          <p:nvPr>
            <p:ph type="body" idx="1"/>
          </p:nvPr>
        </p:nvSpPr>
        <p:spPr>
          <a:xfrm>
            <a:off x="1115568" y="2068945"/>
            <a:ext cx="10168128" cy="4655128"/>
          </a:xfrm>
          <a:prstGeom prst="rect">
            <a:avLst/>
          </a:prstGeom>
          <a:noFill/>
          <a:ln>
            <a:noFill/>
          </a:ln>
        </p:spPr>
        <p:txBody>
          <a:bodyPr spcFirstLastPara="1" wrap="square" lIns="91425" tIns="45700" rIns="91425" bIns="45700" anchor="t" anchorCtr="0">
            <a:normAutofit lnSpcReduction="10000"/>
          </a:bodyPr>
          <a:lstStyle/>
          <a:p>
            <a:pPr marL="0" lvl="0" indent="0" algn="l" rtl="0">
              <a:lnSpc>
                <a:spcPct val="110000"/>
              </a:lnSpc>
              <a:spcBef>
                <a:spcPts val="0"/>
              </a:spcBef>
              <a:spcAft>
                <a:spcPts val="0"/>
              </a:spcAft>
              <a:buClr>
                <a:schemeClr val="dk1"/>
              </a:buClr>
              <a:buSzPts val="1800"/>
              <a:buNone/>
            </a:pPr>
            <a:r>
              <a:rPr lang="el-GR" sz="1800">
                <a:latin typeface="Tahoma"/>
                <a:ea typeface="Tahoma"/>
                <a:cs typeface="Tahoma"/>
                <a:sym typeface="Tahoma"/>
              </a:rPr>
              <a:t>Μόλις ολοκληρωθεί η εκμάθηση των δεδομένων από το μοντέλο, αυτό έχει τη δυνατότητα να επιτελεί δύο βασικές λειτουργίες:</a:t>
            </a:r>
            <a:endParaRPr/>
          </a:p>
          <a:p>
            <a:pPr marL="228600" lvl="0" indent="-228600" algn="l" rtl="0">
              <a:lnSpc>
                <a:spcPct val="110000"/>
              </a:lnSpc>
              <a:spcBef>
                <a:spcPts val="1000"/>
              </a:spcBef>
              <a:spcAft>
                <a:spcPts val="0"/>
              </a:spcAft>
              <a:buClr>
                <a:schemeClr val="dk1"/>
              </a:buClr>
              <a:buSzPts val="1800"/>
              <a:buFont typeface="Noto Sans Symbols"/>
              <a:buChar char="❑"/>
            </a:pPr>
            <a:r>
              <a:rPr lang="el-GR" sz="1800">
                <a:latin typeface="Tahoma"/>
                <a:ea typeface="Tahoma"/>
                <a:cs typeface="Tahoma"/>
                <a:sym typeface="Tahoma"/>
              </a:rPr>
              <a:t>Το μοντέλο μπορεί να παράγει νέα, συνθετικά δεδομένα traffic που παρουσιάζουν υψηλή ομοιότητα με τα πραγματικά δεδομένα του αρχικού dataset. Αυτό επιτυγχάνεται μέσω δειγματοληψίας από την εκτιμημένη κατανομή, η οποία ονομάζεται 𝑃(traffic). Η κατανομή 𝑃(traffic) αποτελεί ένα υποσύνολο της συνολικής κατανομής 𝑃(X) και περιέχει αποκλειστικά δεδομένα από το σύνολο SMS, Call και Internet του Μιλάνου. Επιπλέον, το μοντέλο 𝑃𝜃 έχει εκπαιδευτεί ώστε να προσεγγίζει την αληθινή κατανομή των δεδομένων 𝑃(X), επιτρέποντάς μας να εστιάσουμε σε συγκεκριμένα δεδομένα, όπως η 𝑃(traffic).</a:t>
            </a:r>
            <a:endParaRPr sz="1800">
              <a:latin typeface="Tahoma"/>
              <a:ea typeface="Tahoma"/>
              <a:cs typeface="Tahoma"/>
              <a:sym typeface="Tahoma"/>
            </a:endParaRPr>
          </a:p>
          <a:p>
            <a:pPr marL="228600" lvl="0" indent="-228600" algn="l" rtl="0">
              <a:lnSpc>
                <a:spcPct val="110000"/>
              </a:lnSpc>
              <a:spcBef>
                <a:spcPts val="1000"/>
              </a:spcBef>
              <a:spcAft>
                <a:spcPts val="0"/>
              </a:spcAft>
              <a:buClr>
                <a:schemeClr val="dk1"/>
              </a:buClr>
              <a:buSzPts val="1800"/>
              <a:buFont typeface="Noto Sans Symbols"/>
              <a:buChar char="❑"/>
            </a:pPr>
            <a:r>
              <a:rPr lang="el-GR" sz="1800">
                <a:latin typeface="Tahoma"/>
                <a:ea typeface="Tahoma"/>
                <a:cs typeface="Tahoma"/>
                <a:sym typeface="Tahoma"/>
              </a:rPr>
              <a:t>Το μοντέλο είναι επίσης σε θέση να αναγνωρίζει δεδομένα που δεν ανήκουν στο σύνολο των δεδομένων SMS, Call και Internet του Μιλάνου. Σε αυτήν την περίπτωση, η κατανομή 𝑃(not-traffic) αντιπροσωπεύει άλλες κατηγορίες δεδομένων και αποτελεί το συμπληρωματικό σύνολο της 𝑃(traffic) εντός της συνολικής κατανομής 𝑃(X). Με αυτόν τον τρόπο, το μοντέλο μαθαίνει να παράγει και να διακρίνει μεταξύ των δύο κατηγοριών, κατανοώντας τα βασικά χαρακτηριστικά που καθορίζουν την παρουσία ή την απουσία δεδομένων traffic.</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246"/>
        <p:cNvGrpSpPr/>
        <p:nvPr/>
      </p:nvGrpSpPr>
      <p:grpSpPr>
        <a:xfrm>
          <a:off x="0" y="0"/>
          <a:ext cx="0" cy="0"/>
          <a:chOff x="0" y="0"/>
          <a:chExt cx="0" cy="0"/>
        </a:xfrm>
      </p:grpSpPr>
      <p:sp>
        <p:nvSpPr>
          <p:cNvPr id="247" name="Google Shape;247;p13"/>
          <p:cNvSpPr/>
          <p:nvPr/>
        </p:nvSpPr>
        <p:spPr>
          <a:xfrm>
            <a:off x="0" y="0"/>
            <a:ext cx="12192000" cy="68580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FFFFFF"/>
              </a:solidFill>
              <a:latin typeface="Avenir"/>
              <a:ea typeface="Avenir"/>
              <a:cs typeface="Avenir"/>
              <a:sym typeface="Avenir"/>
            </a:endParaRPr>
          </a:p>
        </p:txBody>
      </p:sp>
      <p:cxnSp>
        <p:nvCxnSpPr>
          <p:cNvPr id="248" name="Google Shape;248;p13"/>
          <p:cNvCxnSpPr/>
          <p:nvPr/>
        </p:nvCxnSpPr>
        <p:spPr>
          <a:xfrm>
            <a:off x="800100" y="723900"/>
            <a:ext cx="1638300" cy="0"/>
          </a:xfrm>
          <a:prstGeom prst="straightConnector1">
            <a:avLst/>
          </a:prstGeom>
          <a:noFill/>
          <a:ln w="44450" cap="flat" cmpd="sng">
            <a:solidFill>
              <a:schemeClr val="lt1"/>
            </a:solidFill>
            <a:prstDash val="solid"/>
            <a:miter lim="800000"/>
            <a:headEnd type="none" w="sm" len="sm"/>
            <a:tailEnd type="none" w="sm" len="sm"/>
          </a:ln>
        </p:spPr>
      </p:cxnSp>
      <p:pic>
        <p:nvPicPr>
          <p:cNvPr id="249" name="Google Shape;249;p13" descr="Topview of mint green workspace with laptop, coffee, notebook, pen, glasses, and mouse"/>
          <p:cNvPicPr preferRelativeResize="0"/>
          <p:nvPr/>
        </p:nvPicPr>
        <p:blipFill rotWithShape="1">
          <a:blip r:embed="rId3">
            <a:alphaModFix/>
          </a:blip>
          <a:srcRect b="15730"/>
          <a:stretch/>
        </p:blipFill>
        <p:spPr>
          <a:xfrm>
            <a:off x="21" y="10"/>
            <a:ext cx="12191979" cy="6857990"/>
          </a:xfrm>
          <a:prstGeom prst="rect">
            <a:avLst/>
          </a:prstGeom>
          <a:noFill/>
          <a:ln>
            <a:noFill/>
          </a:ln>
        </p:spPr>
      </p:pic>
      <p:sp>
        <p:nvSpPr>
          <p:cNvPr id="250" name="Google Shape;250;p13"/>
          <p:cNvSpPr/>
          <p:nvPr/>
        </p:nvSpPr>
        <p:spPr>
          <a:xfrm rot="-5400000" flipH="1">
            <a:off x="5167042" y="-166956"/>
            <a:ext cx="6858002" cy="7191913"/>
          </a:xfrm>
          <a:prstGeom prst="rect">
            <a:avLst/>
          </a:prstGeom>
          <a:gradFill>
            <a:gsLst>
              <a:gs pos="0">
                <a:srgbClr val="000000">
                  <a:alpha val="0"/>
                </a:srgbClr>
              </a:gs>
              <a:gs pos="25000">
                <a:srgbClr val="000000">
                  <a:alpha val="37647"/>
                </a:srgbClr>
              </a:gs>
              <a:gs pos="46000">
                <a:srgbClr val="000000">
                  <a:alpha val="54901"/>
                </a:srgbClr>
              </a:gs>
              <a:gs pos="100000">
                <a:srgbClr val="000000">
                  <a:alpha val="60000"/>
                </a:srgbClr>
              </a:gs>
            </a:gsLst>
            <a:lin ang="5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FFFFFF"/>
              </a:solidFill>
              <a:latin typeface="Avenir"/>
              <a:ea typeface="Avenir"/>
              <a:cs typeface="Avenir"/>
              <a:sym typeface="Avenir"/>
            </a:endParaRPr>
          </a:p>
        </p:txBody>
      </p:sp>
      <p:sp>
        <p:nvSpPr>
          <p:cNvPr id="251" name="Google Shape;251;p13"/>
          <p:cNvSpPr txBox="1">
            <a:spLocks noGrp="1"/>
          </p:cNvSpPr>
          <p:nvPr>
            <p:ph type="ctrTitle"/>
          </p:nvPr>
        </p:nvSpPr>
        <p:spPr>
          <a:xfrm>
            <a:off x="7756183" y="1124712"/>
            <a:ext cx="4023360" cy="3200400"/>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lt1"/>
              </a:buClr>
              <a:buSzPts val="4400"/>
              <a:buFont typeface="Tahoma"/>
              <a:buNone/>
            </a:pPr>
            <a:r>
              <a:rPr lang="el-GR" sz="4400">
                <a:latin typeface="Tahoma"/>
                <a:ea typeface="Tahoma"/>
                <a:cs typeface="Tahoma"/>
                <a:sym typeface="Tahoma"/>
              </a:rPr>
              <a:t>Κατανόηση Δεδομένων</a:t>
            </a:r>
            <a:endParaRPr/>
          </a:p>
        </p:txBody>
      </p:sp>
      <p:sp>
        <p:nvSpPr>
          <p:cNvPr id="252" name="Google Shape;252;p13"/>
          <p:cNvSpPr/>
          <p:nvPr/>
        </p:nvSpPr>
        <p:spPr>
          <a:xfrm rot="5400000">
            <a:off x="8040616" y="346791"/>
            <a:ext cx="146304" cy="704088"/>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FFFFFF"/>
              </a:solidFill>
              <a:latin typeface="Calibri"/>
              <a:ea typeface="Calibri"/>
              <a:cs typeface="Calibri"/>
              <a:sym typeface="Calibri"/>
            </a:endParaRPr>
          </a:p>
        </p:txBody>
      </p:sp>
      <p:sp>
        <p:nvSpPr>
          <p:cNvPr id="253" name="Google Shape;253;p13"/>
          <p:cNvSpPr/>
          <p:nvPr/>
        </p:nvSpPr>
        <p:spPr>
          <a:xfrm>
            <a:off x="7761724" y="4546920"/>
            <a:ext cx="3977640" cy="18288"/>
          </a:xfrm>
          <a:prstGeom prst="rect">
            <a:avLst/>
          </a:prstGeom>
          <a:solidFill>
            <a:srgbClr val="F8F8F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p14"/>
          <p:cNvSpPr txBox="1">
            <a:spLocks noGrp="1"/>
          </p:cNvSpPr>
          <p:nvPr>
            <p:ph type="title"/>
          </p:nvPr>
        </p:nvSpPr>
        <p:spPr>
          <a:xfrm>
            <a:off x="1115568" y="548640"/>
            <a:ext cx="10168128" cy="1179576"/>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Avenir"/>
              <a:buNone/>
            </a:pPr>
            <a:r>
              <a:rPr lang="el-GR" dirty="0">
                <a:latin typeface="Tahoma" panose="020B0604030504040204" pitchFamily="34" charset="0"/>
                <a:ea typeface="Tahoma" panose="020B0604030504040204" pitchFamily="34" charset="0"/>
                <a:cs typeface="Tahoma" panose="020B0604030504040204" pitchFamily="34" charset="0"/>
              </a:rPr>
              <a:t>Σύνολο Δεδομένων Δραστηριότητας </a:t>
            </a:r>
            <a:br>
              <a:rPr lang="el-GR" dirty="0">
                <a:latin typeface="Tahoma" panose="020B0604030504040204" pitchFamily="34" charset="0"/>
                <a:ea typeface="Tahoma" panose="020B0604030504040204" pitchFamily="34" charset="0"/>
                <a:cs typeface="Tahoma" panose="020B0604030504040204" pitchFamily="34" charset="0"/>
              </a:rPr>
            </a:br>
            <a:r>
              <a:rPr lang="el-GR" dirty="0">
                <a:latin typeface="Tahoma" panose="020B0604030504040204" pitchFamily="34" charset="0"/>
                <a:ea typeface="Tahoma" panose="020B0604030504040204" pitchFamily="34" charset="0"/>
                <a:cs typeface="Tahoma" panose="020B0604030504040204" pitchFamily="34" charset="0"/>
              </a:rPr>
              <a:t>Κινητών Τηλεφώνων </a:t>
            </a:r>
            <a:endParaRPr dirty="0">
              <a:latin typeface="Tahoma" panose="020B0604030504040204" pitchFamily="34" charset="0"/>
              <a:ea typeface="Tahoma" panose="020B0604030504040204" pitchFamily="34" charset="0"/>
              <a:cs typeface="Tahoma" panose="020B0604030504040204" pitchFamily="34" charset="0"/>
            </a:endParaRPr>
          </a:p>
        </p:txBody>
      </p:sp>
      <p:sp>
        <p:nvSpPr>
          <p:cNvPr id="260" name="Google Shape;260;p14"/>
          <p:cNvSpPr txBox="1">
            <a:spLocks noGrp="1"/>
          </p:cNvSpPr>
          <p:nvPr>
            <p:ph type="body" idx="1"/>
          </p:nvPr>
        </p:nvSpPr>
        <p:spPr>
          <a:xfrm>
            <a:off x="854918" y="2425038"/>
            <a:ext cx="10168128" cy="4562272"/>
          </a:xfrm>
          <a:prstGeom prst="rect">
            <a:avLst/>
          </a:prstGeom>
          <a:noFill/>
          <a:ln>
            <a:noFill/>
          </a:ln>
        </p:spPr>
        <p:txBody>
          <a:bodyPr spcFirstLastPara="1" wrap="square" lIns="91425" tIns="45700" rIns="91425" bIns="45700" anchor="t" anchorCtr="0">
            <a:normAutofit/>
          </a:bodyPr>
          <a:lstStyle/>
          <a:p>
            <a:pPr marL="228600" lvl="0" indent="-228600" algn="l" rtl="0">
              <a:lnSpc>
                <a:spcPct val="110000"/>
              </a:lnSpc>
              <a:spcBef>
                <a:spcPts val="0"/>
              </a:spcBef>
              <a:spcAft>
                <a:spcPts val="0"/>
              </a:spcAft>
              <a:buClr>
                <a:schemeClr val="dk1"/>
              </a:buClr>
              <a:buSzPts val="1800"/>
              <a:buFont typeface="Noto Sans Symbols"/>
              <a:buChar char="❑"/>
            </a:pPr>
            <a:r>
              <a:rPr lang="el-GR" sz="1800" dirty="0">
                <a:latin typeface="Tahoma"/>
                <a:ea typeface="Tahoma"/>
                <a:cs typeface="Tahoma"/>
                <a:sym typeface="Tahoma"/>
              </a:rPr>
              <a:t>Περιλαμβάνει </a:t>
            </a:r>
            <a:r>
              <a:rPr lang="el-GR" sz="1800" dirty="0" err="1">
                <a:latin typeface="Tahoma"/>
                <a:ea typeface="Tahoma"/>
                <a:cs typeface="Tahoma"/>
                <a:sym typeface="Tahoma"/>
              </a:rPr>
              <a:t>Call</a:t>
            </a:r>
            <a:r>
              <a:rPr lang="el-GR" sz="1800" dirty="0">
                <a:latin typeface="Tahoma"/>
                <a:ea typeface="Tahoma"/>
                <a:cs typeface="Tahoma"/>
                <a:sym typeface="Tahoma"/>
              </a:rPr>
              <a:t> </a:t>
            </a:r>
            <a:r>
              <a:rPr lang="el-GR" sz="1800" dirty="0" err="1">
                <a:latin typeface="Tahoma"/>
                <a:ea typeface="Tahoma"/>
                <a:cs typeface="Tahoma"/>
                <a:sym typeface="Tahoma"/>
              </a:rPr>
              <a:t>Detail</a:t>
            </a:r>
            <a:r>
              <a:rPr lang="el-GR" sz="1800" dirty="0">
                <a:latin typeface="Tahoma"/>
                <a:ea typeface="Tahoma"/>
                <a:cs typeface="Tahoma"/>
                <a:sym typeface="Tahoma"/>
              </a:rPr>
              <a:t> </a:t>
            </a:r>
            <a:r>
              <a:rPr lang="el-GR" sz="1800" dirty="0" err="1">
                <a:latin typeface="Tahoma"/>
                <a:ea typeface="Tahoma"/>
                <a:cs typeface="Tahoma"/>
                <a:sym typeface="Tahoma"/>
              </a:rPr>
              <a:t>Records</a:t>
            </a:r>
            <a:r>
              <a:rPr lang="el-GR" sz="1800" dirty="0">
                <a:latin typeface="Tahoma"/>
                <a:ea typeface="Tahoma"/>
                <a:cs typeface="Tahoma"/>
                <a:sym typeface="Tahoma"/>
              </a:rPr>
              <a:t> (</a:t>
            </a:r>
            <a:r>
              <a:rPr lang="el-GR" sz="1800" dirty="0" err="1">
                <a:latin typeface="Tahoma"/>
                <a:ea typeface="Tahoma"/>
                <a:cs typeface="Tahoma"/>
                <a:sym typeface="Tahoma"/>
              </a:rPr>
              <a:t>CDRs</a:t>
            </a:r>
            <a:r>
              <a:rPr lang="el-GR" sz="1800" dirty="0">
                <a:latin typeface="Tahoma"/>
                <a:ea typeface="Tahoma"/>
                <a:cs typeface="Tahoma"/>
                <a:sym typeface="Tahoma"/>
              </a:rPr>
              <a:t>) από το δίκτυο της </a:t>
            </a:r>
            <a:r>
              <a:rPr lang="el-GR" sz="1800" dirty="0" err="1">
                <a:latin typeface="Tahoma"/>
                <a:ea typeface="Tahoma"/>
                <a:cs typeface="Tahoma"/>
                <a:sym typeface="Tahoma"/>
              </a:rPr>
              <a:t>Telecom</a:t>
            </a:r>
            <a:r>
              <a:rPr lang="el-GR" sz="1800" dirty="0">
                <a:latin typeface="Tahoma"/>
                <a:ea typeface="Tahoma"/>
                <a:cs typeface="Tahoma"/>
                <a:sym typeface="Tahoma"/>
              </a:rPr>
              <a:t> </a:t>
            </a:r>
            <a:r>
              <a:rPr lang="el-GR" sz="1800" dirty="0" err="1">
                <a:latin typeface="Tahoma"/>
                <a:ea typeface="Tahoma"/>
                <a:cs typeface="Tahoma"/>
                <a:sym typeface="Tahoma"/>
              </a:rPr>
              <a:t>Italia</a:t>
            </a:r>
            <a:r>
              <a:rPr lang="el-GR" sz="1800" dirty="0">
                <a:latin typeface="Tahoma"/>
                <a:ea typeface="Tahoma"/>
                <a:cs typeface="Tahoma"/>
                <a:sym typeface="Tahoma"/>
              </a:rPr>
              <a:t>, τα οποία καταγράφηκαν για μία εβδομάδα για την πόλη του Μιλάνου και την επαρχία </a:t>
            </a:r>
            <a:r>
              <a:rPr lang="el-GR" sz="1800" dirty="0" err="1">
                <a:latin typeface="Tahoma"/>
                <a:ea typeface="Tahoma"/>
                <a:cs typeface="Tahoma"/>
                <a:sym typeface="Tahoma"/>
              </a:rPr>
              <a:t>Τρεντίνο</a:t>
            </a:r>
            <a:r>
              <a:rPr lang="el-GR" sz="1800" dirty="0">
                <a:latin typeface="Tahoma"/>
                <a:ea typeface="Tahoma"/>
                <a:cs typeface="Tahoma"/>
                <a:sym typeface="Tahoma"/>
              </a:rPr>
              <a:t> στην Ιταλία. Τα δεδομένα αυτά προσφέρουν πολύτιμες πληροφορίες για τη χωρική και χρονική κατανομή της τηλεπικοινωνιακής δραστηριότητας στον αστικό ιστό. </a:t>
            </a:r>
            <a:endParaRPr sz="1800" dirty="0">
              <a:latin typeface="Tahoma"/>
              <a:ea typeface="Tahoma"/>
              <a:cs typeface="Tahoma"/>
              <a:sym typeface="Tahoma"/>
            </a:endParaRPr>
          </a:p>
          <a:p>
            <a:pPr marL="228600" lvl="0" indent="-228600" algn="l" rtl="0">
              <a:lnSpc>
                <a:spcPct val="110000"/>
              </a:lnSpc>
              <a:spcBef>
                <a:spcPts val="1000"/>
              </a:spcBef>
              <a:spcAft>
                <a:spcPts val="0"/>
              </a:spcAft>
              <a:buClr>
                <a:schemeClr val="dk1"/>
              </a:buClr>
              <a:buSzPts val="1800"/>
              <a:buFont typeface="Noto Sans Symbols"/>
              <a:buChar char="❑"/>
            </a:pPr>
            <a:r>
              <a:rPr lang="el-GR" sz="1800" dirty="0">
                <a:latin typeface="Tahoma"/>
                <a:ea typeface="Tahoma"/>
                <a:cs typeface="Tahoma"/>
                <a:sym typeface="Tahoma"/>
              </a:rPr>
              <a:t>Κάθε φορά που ένας χρήστης πραγματοποιεί μια τηλεπικοινωνιακή ενέργεια, όπως κλήση, SMS ή σύνδεση στο διαδίκτυο, του ανατίθεται ένας ραδιοφωνικός σταθμός βάσης (RBS), ο οποίος διαχειρίζεται τη σύνδεση. </a:t>
            </a:r>
            <a:endParaRPr dirty="0"/>
          </a:p>
          <a:p>
            <a:pPr marL="228600" lvl="0" indent="-228600" algn="l" rtl="0">
              <a:lnSpc>
                <a:spcPct val="110000"/>
              </a:lnSpc>
              <a:spcBef>
                <a:spcPts val="1000"/>
              </a:spcBef>
              <a:spcAft>
                <a:spcPts val="0"/>
              </a:spcAft>
              <a:buClr>
                <a:schemeClr val="dk1"/>
              </a:buClr>
              <a:buSzPts val="1800"/>
              <a:buFont typeface="Noto Sans Symbols"/>
              <a:buChar char="❑"/>
            </a:pPr>
            <a:r>
              <a:rPr lang="el-GR" sz="1800" dirty="0">
                <a:latin typeface="Tahoma"/>
                <a:ea typeface="Tahoma"/>
                <a:cs typeface="Tahoma"/>
                <a:sym typeface="Tahoma"/>
              </a:rPr>
              <a:t>Κατά τη διάρκεια αυτής της διαδικασίας, δημιουργείται ένα νέο αρχείο CDR που καταγράφει την ώρα και τον τύπο της ενέργειας, καθώς και τον σταθμό βάσης που την εξυπηρέτησε.</a:t>
            </a:r>
            <a:endParaRPr sz="1800" dirty="0">
              <a:latin typeface="Tahoma"/>
              <a:ea typeface="Tahoma"/>
              <a:cs typeface="Tahoma"/>
              <a:sym typeface="Tahom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sp>
        <p:nvSpPr>
          <p:cNvPr id="266" name="Google Shape;266;p15"/>
          <p:cNvSpPr txBox="1">
            <a:spLocks noGrp="1"/>
          </p:cNvSpPr>
          <p:nvPr>
            <p:ph type="title"/>
          </p:nvPr>
        </p:nvSpPr>
        <p:spPr>
          <a:xfrm>
            <a:off x="1115568" y="548640"/>
            <a:ext cx="10168128" cy="1179576"/>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000"/>
              <a:buFont typeface="Avenir"/>
              <a:buNone/>
            </a:pPr>
            <a:r>
              <a:rPr lang="el-GR" dirty="0">
                <a:latin typeface="Tahoma" panose="020B0604030504040204" pitchFamily="34" charset="0"/>
                <a:ea typeface="Tahoma" panose="020B0604030504040204" pitchFamily="34" charset="0"/>
                <a:cs typeface="Tahoma" panose="020B0604030504040204" pitchFamily="34" charset="0"/>
              </a:rPr>
              <a:t>Ενέργειες</a:t>
            </a:r>
            <a:endParaRPr dirty="0">
              <a:latin typeface="Tahoma" panose="020B0604030504040204" pitchFamily="34" charset="0"/>
              <a:ea typeface="Tahoma" panose="020B0604030504040204" pitchFamily="34" charset="0"/>
              <a:cs typeface="Tahoma" panose="020B0604030504040204" pitchFamily="34" charset="0"/>
            </a:endParaRPr>
          </a:p>
        </p:txBody>
      </p:sp>
      <p:pic>
        <p:nvPicPr>
          <p:cNvPr id="267" name="Google Shape;267;p15"/>
          <p:cNvPicPr preferRelativeResize="0"/>
          <p:nvPr/>
        </p:nvPicPr>
        <p:blipFill rotWithShape="1">
          <a:blip r:embed="rId3">
            <a:alphaModFix/>
          </a:blip>
          <a:srcRect t="18788"/>
          <a:stretch/>
        </p:blipFill>
        <p:spPr>
          <a:xfrm>
            <a:off x="-196906" y="1937298"/>
            <a:ext cx="8489372" cy="3527367"/>
          </a:xfrm>
          <a:prstGeom prst="rect">
            <a:avLst/>
          </a:prstGeom>
          <a:noFill/>
          <a:ln>
            <a:noFill/>
          </a:ln>
          <a:effectLst>
            <a:outerShdw blurRad="190500" algn="tl" rotWithShape="0">
              <a:srgbClr val="000000">
                <a:alpha val="69803"/>
              </a:srgbClr>
            </a:outerShdw>
          </a:effectLst>
        </p:spPr>
      </p:pic>
      <p:pic>
        <p:nvPicPr>
          <p:cNvPr id="268" name="Google Shape;268;p15"/>
          <p:cNvPicPr preferRelativeResize="0"/>
          <p:nvPr/>
        </p:nvPicPr>
        <p:blipFill rotWithShape="1">
          <a:blip r:embed="rId4">
            <a:alphaModFix/>
          </a:blip>
          <a:srcRect b="26649"/>
          <a:stretch/>
        </p:blipFill>
        <p:spPr>
          <a:xfrm>
            <a:off x="6651742" y="3797364"/>
            <a:ext cx="5809961" cy="3060636"/>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sp>
        <p:nvSpPr>
          <p:cNvPr id="274" name="Google Shape;274;p16"/>
          <p:cNvSpPr txBox="1">
            <a:spLocks noGrp="1"/>
          </p:cNvSpPr>
          <p:nvPr>
            <p:ph type="title"/>
          </p:nvPr>
        </p:nvSpPr>
        <p:spPr>
          <a:xfrm>
            <a:off x="1115568" y="548640"/>
            <a:ext cx="10168128" cy="1179576"/>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000"/>
              <a:buFont typeface="Avenir"/>
              <a:buNone/>
            </a:pPr>
            <a:r>
              <a:rPr lang="el-GR" dirty="0">
                <a:latin typeface="Tahoma" panose="020B0604030504040204" pitchFamily="34" charset="0"/>
                <a:ea typeface="Tahoma" panose="020B0604030504040204" pitchFamily="34" charset="0"/>
                <a:cs typeface="Tahoma" panose="020B0604030504040204" pitchFamily="34" charset="0"/>
              </a:rPr>
              <a:t>Χωρική Ανάλυση</a:t>
            </a:r>
            <a:endParaRPr dirty="0">
              <a:latin typeface="Tahoma" panose="020B0604030504040204" pitchFamily="34" charset="0"/>
              <a:ea typeface="Tahoma" panose="020B0604030504040204" pitchFamily="34" charset="0"/>
              <a:cs typeface="Tahoma" panose="020B0604030504040204" pitchFamily="34" charset="0"/>
            </a:endParaRPr>
          </a:p>
        </p:txBody>
      </p:sp>
      <p:sp>
        <p:nvSpPr>
          <p:cNvPr id="275" name="Google Shape;275;p16"/>
          <p:cNvSpPr txBox="1">
            <a:spLocks noGrp="1"/>
          </p:cNvSpPr>
          <p:nvPr>
            <p:ph type="body" idx="1"/>
          </p:nvPr>
        </p:nvSpPr>
        <p:spPr>
          <a:xfrm>
            <a:off x="854918" y="2425038"/>
            <a:ext cx="10428778" cy="4562272"/>
          </a:xfrm>
          <a:prstGeom prst="rect">
            <a:avLst/>
          </a:prstGeom>
          <a:noFill/>
          <a:ln>
            <a:noFill/>
          </a:ln>
        </p:spPr>
        <p:txBody>
          <a:bodyPr spcFirstLastPara="1" wrap="square" lIns="91425" tIns="45700" rIns="91425" bIns="45700" anchor="t" anchorCtr="0">
            <a:normAutofit/>
          </a:bodyPr>
          <a:lstStyle/>
          <a:p>
            <a:pPr marL="0" lvl="0" indent="0" algn="l" rtl="0">
              <a:lnSpc>
                <a:spcPct val="110000"/>
              </a:lnSpc>
              <a:spcBef>
                <a:spcPts val="0"/>
              </a:spcBef>
              <a:spcAft>
                <a:spcPts val="0"/>
              </a:spcAft>
              <a:buClr>
                <a:schemeClr val="dk1"/>
              </a:buClr>
              <a:buSzPts val="1800"/>
              <a:buNone/>
            </a:pPr>
            <a:r>
              <a:rPr lang="el-GR" sz="1800" dirty="0">
                <a:latin typeface="Tahoma"/>
                <a:ea typeface="Tahoma"/>
                <a:cs typeface="Tahoma"/>
                <a:sym typeface="Tahoma"/>
              </a:rPr>
              <a:t>Η περιοχή του Μιλάνου έχει χωριστεί σε ένα πλέγμα που περιέχει 1.000 τετράγωνα, με σκοπό τον λεπτομερή χωρικό διαχωρισμό της. Κάθε τετράγωνο έχει διαστάσεις περίπου 235x235 μέτρα και το πλέγμα βασίζεται στο γεωγραφικό σύστημα WGS84 (EPSG:4326), το οποίο χρησιμοποιείται για τον ακριβή καθορισμό θέσεων στη Γη μέσω συντεταγμένων γεωγραφικού πλάτους και μήκους.</a:t>
            </a:r>
            <a:endParaRPr sz="1800" dirty="0">
              <a:latin typeface="Tahoma"/>
              <a:ea typeface="Tahoma"/>
              <a:cs typeface="Tahoma"/>
              <a:sym typeface="Tahoma"/>
            </a:endParaRPr>
          </a:p>
          <a:p>
            <a:pPr marL="0" lvl="0" indent="0" algn="l" rtl="0">
              <a:lnSpc>
                <a:spcPct val="110000"/>
              </a:lnSpc>
              <a:spcBef>
                <a:spcPts val="1000"/>
              </a:spcBef>
              <a:spcAft>
                <a:spcPts val="0"/>
              </a:spcAft>
              <a:buClr>
                <a:schemeClr val="dk1"/>
              </a:buClr>
              <a:buSzPts val="1800"/>
              <a:buNone/>
            </a:pPr>
            <a:r>
              <a:rPr lang="el-GR" sz="1800" dirty="0">
                <a:latin typeface="Tahoma"/>
                <a:ea typeface="Tahoma"/>
                <a:cs typeface="Tahoma"/>
                <a:sym typeface="Tahoma"/>
              </a:rPr>
              <a:t>Κάθε εγγραφή περιλαμβάνει:</a:t>
            </a:r>
            <a:endParaRPr sz="1800" dirty="0">
              <a:latin typeface="Tahoma"/>
              <a:ea typeface="Tahoma"/>
              <a:cs typeface="Tahoma"/>
              <a:sym typeface="Tahoma"/>
            </a:endParaRPr>
          </a:p>
          <a:p>
            <a:pPr marL="228600" lvl="0" indent="-228600" algn="l" rtl="0">
              <a:lnSpc>
                <a:spcPct val="110000"/>
              </a:lnSpc>
              <a:spcBef>
                <a:spcPts val="1000"/>
              </a:spcBef>
              <a:spcAft>
                <a:spcPts val="0"/>
              </a:spcAft>
              <a:buClr>
                <a:schemeClr val="dk1"/>
              </a:buClr>
              <a:buSzPts val="1800"/>
              <a:buFont typeface="Noto Sans Symbols"/>
              <a:buChar char="❑"/>
            </a:pPr>
            <a:r>
              <a:rPr lang="el-GR" sz="1800" dirty="0">
                <a:latin typeface="Tahoma"/>
                <a:ea typeface="Tahoma"/>
                <a:cs typeface="Tahoma"/>
                <a:sym typeface="Tahoma"/>
              </a:rPr>
              <a:t>Μοναδικό Αναγνωριστικό (</a:t>
            </a:r>
            <a:r>
              <a:rPr lang="el-GR" sz="1800" dirty="0" err="1">
                <a:latin typeface="Tahoma"/>
                <a:ea typeface="Tahoma"/>
                <a:cs typeface="Tahoma"/>
                <a:sym typeface="Tahoma"/>
              </a:rPr>
              <a:t>CellID</a:t>
            </a:r>
            <a:r>
              <a:rPr lang="el-GR" sz="1800" dirty="0">
                <a:latin typeface="Tahoma"/>
                <a:ea typeface="Tahoma"/>
                <a:cs typeface="Tahoma"/>
                <a:sym typeface="Tahoma"/>
              </a:rPr>
              <a:t>): Εξυπηρετεί την αναγνώριση και το εντοπισμό κάθε τετραγώνου εντός του πλέγματος.</a:t>
            </a:r>
            <a:endParaRPr sz="1800" dirty="0">
              <a:latin typeface="Tahoma"/>
              <a:ea typeface="Tahoma"/>
              <a:cs typeface="Tahoma"/>
              <a:sym typeface="Tahoma"/>
            </a:endParaRPr>
          </a:p>
          <a:p>
            <a:pPr marL="228600" lvl="0" indent="-228600" algn="l" rtl="0">
              <a:lnSpc>
                <a:spcPct val="110000"/>
              </a:lnSpc>
              <a:spcBef>
                <a:spcPts val="1000"/>
              </a:spcBef>
              <a:spcAft>
                <a:spcPts val="0"/>
              </a:spcAft>
              <a:buClr>
                <a:schemeClr val="dk1"/>
              </a:buClr>
              <a:buSzPts val="1800"/>
              <a:buFont typeface="Noto Sans Symbols"/>
              <a:buChar char="❑"/>
            </a:pPr>
            <a:r>
              <a:rPr lang="el-GR" sz="1800" dirty="0">
                <a:latin typeface="Tahoma"/>
                <a:ea typeface="Tahoma"/>
                <a:cs typeface="Tahoma"/>
                <a:sym typeface="Tahoma"/>
              </a:rPr>
              <a:t>Κωδικός Περιοχής (</a:t>
            </a:r>
            <a:r>
              <a:rPr lang="el-GR" sz="1800" dirty="0" err="1">
                <a:latin typeface="Tahoma"/>
                <a:ea typeface="Tahoma"/>
                <a:cs typeface="Tahoma"/>
                <a:sym typeface="Tahoma"/>
              </a:rPr>
              <a:t>Country</a:t>
            </a:r>
            <a:r>
              <a:rPr lang="el-GR" sz="1800" dirty="0">
                <a:latin typeface="Tahoma"/>
                <a:ea typeface="Tahoma"/>
                <a:cs typeface="Tahoma"/>
                <a:sym typeface="Tahoma"/>
              </a:rPr>
              <a:t> </a:t>
            </a:r>
            <a:r>
              <a:rPr lang="el-GR" sz="1800" dirty="0" err="1">
                <a:latin typeface="Tahoma"/>
                <a:ea typeface="Tahoma"/>
                <a:cs typeface="Tahoma"/>
                <a:sym typeface="Tahoma"/>
              </a:rPr>
              <a:t>Code</a:t>
            </a:r>
            <a:r>
              <a:rPr lang="el-GR" sz="1800" dirty="0">
                <a:latin typeface="Tahoma"/>
                <a:ea typeface="Tahoma"/>
                <a:cs typeface="Tahoma"/>
                <a:sym typeface="Tahoma"/>
              </a:rPr>
              <a:t>): Καθορίζει την πόλη στην οποία βρίσκεται το συγκεκριμένο κελί.</a:t>
            </a:r>
            <a:endParaRPr dirty="0"/>
          </a:p>
          <a:p>
            <a:pPr marL="228600" lvl="0" indent="-228600" algn="l" rtl="0">
              <a:lnSpc>
                <a:spcPct val="110000"/>
              </a:lnSpc>
              <a:spcBef>
                <a:spcPts val="1000"/>
              </a:spcBef>
              <a:spcAft>
                <a:spcPts val="0"/>
              </a:spcAft>
              <a:buClr>
                <a:schemeClr val="dk1"/>
              </a:buClr>
              <a:buSzPts val="1800"/>
              <a:buFont typeface="Noto Sans Symbols"/>
              <a:buChar char="❑"/>
            </a:pPr>
            <a:r>
              <a:rPr lang="el-GR" sz="1800" dirty="0">
                <a:latin typeface="Tahoma"/>
                <a:ea typeface="Tahoma"/>
                <a:cs typeface="Tahoma"/>
                <a:sym typeface="Tahoma"/>
              </a:rPr>
              <a:t>Τηλεπικοινωνιακές Δραστηριότητες: Καταγράφονται σε ωριαία διαστήματα (60 λεπτά), επιτρέποντας έτσι την ανάλυση της χρονικής κατανομής της δραστηριότητας εντός κάθε κελιού.</a:t>
            </a:r>
            <a:endParaRPr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280"/>
        <p:cNvGrpSpPr/>
        <p:nvPr/>
      </p:nvGrpSpPr>
      <p:grpSpPr>
        <a:xfrm>
          <a:off x="0" y="0"/>
          <a:ext cx="0" cy="0"/>
          <a:chOff x="0" y="0"/>
          <a:chExt cx="0" cy="0"/>
        </a:xfrm>
      </p:grpSpPr>
      <p:sp>
        <p:nvSpPr>
          <p:cNvPr id="281" name="Google Shape;281;p17"/>
          <p:cNvSpPr/>
          <p:nvPr/>
        </p:nvSpPr>
        <p:spPr>
          <a:xfrm>
            <a:off x="0" y="0"/>
            <a:ext cx="12192000" cy="68580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FFFFFF"/>
              </a:solidFill>
              <a:latin typeface="Avenir"/>
              <a:ea typeface="Avenir"/>
              <a:cs typeface="Avenir"/>
              <a:sym typeface="Avenir"/>
            </a:endParaRPr>
          </a:p>
        </p:txBody>
      </p:sp>
      <p:cxnSp>
        <p:nvCxnSpPr>
          <p:cNvPr id="282" name="Google Shape;282;p17"/>
          <p:cNvCxnSpPr/>
          <p:nvPr/>
        </p:nvCxnSpPr>
        <p:spPr>
          <a:xfrm>
            <a:off x="800100" y="723900"/>
            <a:ext cx="1638300" cy="0"/>
          </a:xfrm>
          <a:prstGeom prst="straightConnector1">
            <a:avLst/>
          </a:prstGeom>
          <a:noFill/>
          <a:ln w="44450" cap="flat" cmpd="sng">
            <a:solidFill>
              <a:schemeClr val="lt1"/>
            </a:solidFill>
            <a:prstDash val="solid"/>
            <a:miter lim="800000"/>
            <a:headEnd type="none" w="sm" len="sm"/>
            <a:tailEnd type="none" w="sm" len="sm"/>
          </a:ln>
        </p:spPr>
      </p:cxnSp>
      <p:pic>
        <p:nvPicPr>
          <p:cNvPr id="283" name="Google Shape;283;p17" descr="Topview of mint green workspace with laptop, coffee, notebook, pen, glasses, and mouse"/>
          <p:cNvPicPr preferRelativeResize="0"/>
          <p:nvPr/>
        </p:nvPicPr>
        <p:blipFill rotWithShape="1">
          <a:blip r:embed="rId3">
            <a:alphaModFix/>
          </a:blip>
          <a:srcRect b="15730"/>
          <a:stretch/>
        </p:blipFill>
        <p:spPr>
          <a:xfrm>
            <a:off x="21" y="10"/>
            <a:ext cx="12191979" cy="6857990"/>
          </a:xfrm>
          <a:prstGeom prst="rect">
            <a:avLst/>
          </a:prstGeom>
          <a:noFill/>
          <a:ln>
            <a:noFill/>
          </a:ln>
        </p:spPr>
      </p:pic>
      <p:sp>
        <p:nvSpPr>
          <p:cNvPr id="284" name="Google Shape;284;p17"/>
          <p:cNvSpPr/>
          <p:nvPr/>
        </p:nvSpPr>
        <p:spPr>
          <a:xfrm rot="-5400000" flipH="1">
            <a:off x="5167042" y="-166956"/>
            <a:ext cx="6858002" cy="7191913"/>
          </a:xfrm>
          <a:prstGeom prst="rect">
            <a:avLst/>
          </a:prstGeom>
          <a:gradFill>
            <a:gsLst>
              <a:gs pos="0">
                <a:srgbClr val="000000">
                  <a:alpha val="0"/>
                </a:srgbClr>
              </a:gs>
              <a:gs pos="25000">
                <a:srgbClr val="000000">
                  <a:alpha val="37647"/>
                </a:srgbClr>
              </a:gs>
              <a:gs pos="46000">
                <a:srgbClr val="000000">
                  <a:alpha val="54901"/>
                </a:srgbClr>
              </a:gs>
              <a:gs pos="100000">
                <a:srgbClr val="000000">
                  <a:alpha val="60000"/>
                </a:srgbClr>
              </a:gs>
            </a:gsLst>
            <a:lin ang="5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FFFFFF"/>
              </a:solidFill>
              <a:latin typeface="Avenir"/>
              <a:ea typeface="Avenir"/>
              <a:cs typeface="Avenir"/>
              <a:sym typeface="Avenir"/>
            </a:endParaRPr>
          </a:p>
        </p:txBody>
      </p:sp>
      <p:sp>
        <p:nvSpPr>
          <p:cNvPr id="285" name="Google Shape;285;p17"/>
          <p:cNvSpPr txBox="1">
            <a:spLocks noGrp="1"/>
          </p:cNvSpPr>
          <p:nvPr>
            <p:ph type="ctrTitle"/>
          </p:nvPr>
        </p:nvSpPr>
        <p:spPr>
          <a:xfrm>
            <a:off x="7756183" y="1124712"/>
            <a:ext cx="4023360" cy="3200400"/>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lt1"/>
              </a:buClr>
              <a:buSzPts val="4400"/>
              <a:buFont typeface="Tahoma"/>
              <a:buNone/>
            </a:pPr>
            <a:r>
              <a:rPr lang="el-GR" sz="4400" dirty="0">
                <a:latin typeface="Tahoma"/>
                <a:ea typeface="Tahoma"/>
                <a:cs typeface="Tahoma"/>
                <a:sym typeface="Tahoma"/>
              </a:rPr>
              <a:t>Προετοιμασία Δεδομένων</a:t>
            </a:r>
            <a:endParaRPr dirty="0"/>
          </a:p>
        </p:txBody>
      </p:sp>
      <p:sp>
        <p:nvSpPr>
          <p:cNvPr id="286" name="Google Shape;286;p17"/>
          <p:cNvSpPr/>
          <p:nvPr/>
        </p:nvSpPr>
        <p:spPr>
          <a:xfrm rot="5400000">
            <a:off x="8040616" y="346791"/>
            <a:ext cx="146304" cy="704088"/>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FFFFFF"/>
              </a:solidFill>
              <a:latin typeface="Calibri"/>
              <a:ea typeface="Calibri"/>
              <a:cs typeface="Calibri"/>
              <a:sym typeface="Calibri"/>
            </a:endParaRPr>
          </a:p>
        </p:txBody>
      </p:sp>
      <p:sp>
        <p:nvSpPr>
          <p:cNvPr id="287" name="Google Shape;287;p17"/>
          <p:cNvSpPr/>
          <p:nvPr/>
        </p:nvSpPr>
        <p:spPr>
          <a:xfrm>
            <a:off x="7761724" y="4546920"/>
            <a:ext cx="3977640" cy="18288"/>
          </a:xfrm>
          <a:prstGeom prst="rect">
            <a:avLst/>
          </a:prstGeom>
          <a:solidFill>
            <a:srgbClr val="F8F8F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06">
          <a:extLst>
            <a:ext uri="{FF2B5EF4-FFF2-40B4-BE49-F238E27FC236}">
              <a16:creationId xmlns:a16="http://schemas.microsoft.com/office/drawing/2014/main" id="{B03A2CE1-8153-ED30-8570-D135202FFD0B}"/>
            </a:ext>
          </a:extLst>
        </p:cNvPr>
        <p:cNvGrpSpPr/>
        <p:nvPr/>
      </p:nvGrpSpPr>
      <p:grpSpPr>
        <a:xfrm>
          <a:off x="0" y="0"/>
          <a:ext cx="0" cy="0"/>
          <a:chOff x="0" y="0"/>
          <a:chExt cx="0" cy="0"/>
        </a:xfrm>
      </p:grpSpPr>
      <p:sp>
        <p:nvSpPr>
          <p:cNvPr id="307" name="Google Shape;307;p19">
            <a:extLst>
              <a:ext uri="{FF2B5EF4-FFF2-40B4-BE49-F238E27FC236}">
                <a16:creationId xmlns:a16="http://schemas.microsoft.com/office/drawing/2014/main" id="{1E4E1A6E-F168-CDAF-406B-BC6C878502A5}"/>
              </a:ext>
            </a:extLst>
          </p:cNvPr>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FFFFFF"/>
              </a:solidFill>
              <a:effectLst/>
              <a:uLnTx/>
              <a:uFillTx/>
              <a:latin typeface="Avenir"/>
              <a:ea typeface="Avenir"/>
              <a:cs typeface="Avenir"/>
              <a:sym typeface="Avenir"/>
            </a:endParaRPr>
          </a:p>
        </p:txBody>
      </p:sp>
      <p:sp>
        <p:nvSpPr>
          <p:cNvPr id="308" name="Google Shape;308;p19">
            <a:extLst>
              <a:ext uri="{FF2B5EF4-FFF2-40B4-BE49-F238E27FC236}">
                <a16:creationId xmlns:a16="http://schemas.microsoft.com/office/drawing/2014/main" id="{5D5F2C4F-F925-ED04-E95C-CA61E7360B50}"/>
              </a:ext>
            </a:extLst>
          </p:cNvPr>
          <p:cNvSpPr txBox="1">
            <a:spLocks noGrp="1"/>
          </p:cNvSpPr>
          <p:nvPr>
            <p:ph type="title"/>
          </p:nvPr>
        </p:nvSpPr>
        <p:spPr>
          <a:xfrm>
            <a:off x="411480" y="991443"/>
            <a:ext cx="4443154" cy="1087819"/>
          </a:xfrm>
          <a:prstGeom prst="rect">
            <a:avLst/>
          </a:prstGeom>
          <a:noFill/>
          <a:ln>
            <a:noFill/>
          </a:ln>
        </p:spPr>
        <p:txBody>
          <a:bodyPr spcFirstLastPara="1" wrap="square" lIns="91425" tIns="45700" rIns="91425" bIns="45700" anchor="b" anchorCtr="0">
            <a:normAutofit fontScale="90000"/>
          </a:bodyPr>
          <a:lstStyle/>
          <a:p>
            <a:pPr marL="0" lvl="0" indent="0" algn="l" rtl="0">
              <a:lnSpc>
                <a:spcPct val="90000"/>
              </a:lnSpc>
              <a:spcBef>
                <a:spcPts val="0"/>
              </a:spcBef>
              <a:spcAft>
                <a:spcPts val="0"/>
              </a:spcAft>
              <a:buClr>
                <a:schemeClr val="dk1"/>
              </a:buClr>
              <a:buSzPts val="2600"/>
              <a:buFont typeface="Avenir"/>
              <a:buNone/>
            </a:pPr>
            <a:r>
              <a:rPr lang="el-GR" sz="2600" dirty="0">
                <a:latin typeface="Tahoma" panose="020B0604030504040204" pitchFamily="34" charset="0"/>
                <a:ea typeface="Tahoma" panose="020B0604030504040204" pitchFamily="34" charset="0"/>
                <a:cs typeface="Tahoma" panose="020B0604030504040204" pitchFamily="34" charset="0"/>
              </a:rPr>
              <a:t>Αρχικά Βήματα </a:t>
            </a:r>
            <a:r>
              <a:rPr lang="el-GR" sz="2600" dirty="0" err="1">
                <a:latin typeface="Tahoma" panose="020B0604030504040204" pitchFamily="34" charset="0"/>
                <a:ea typeface="Tahoma" panose="020B0604030504040204" pitchFamily="34" charset="0"/>
                <a:cs typeface="Tahoma" panose="020B0604030504040204" pitchFamily="34" charset="0"/>
              </a:rPr>
              <a:t>Προεπεξεργασίας</a:t>
            </a:r>
            <a:r>
              <a:rPr lang="el-GR" sz="2600" dirty="0">
                <a:latin typeface="Tahoma" panose="020B0604030504040204" pitchFamily="34" charset="0"/>
                <a:ea typeface="Tahoma" panose="020B0604030504040204" pitchFamily="34" charset="0"/>
                <a:cs typeface="Tahoma" panose="020B0604030504040204" pitchFamily="34" charset="0"/>
              </a:rPr>
              <a:t> &amp; Φόρτωσης Τηλεπικοινωνιακών Δεδομένων</a:t>
            </a:r>
            <a:endParaRPr sz="2600" dirty="0">
              <a:latin typeface="Tahoma" panose="020B0604030504040204" pitchFamily="34" charset="0"/>
              <a:ea typeface="Tahoma" panose="020B0604030504040204" pitchFamily="34" charset="0"/>
              <a:cs typeface="Tahoma" panose="020B0604030504040204" pitchFamily="34" charset="0"/>
            </a:endParaRPr>
          </a:p>
        </p:txBody>
      </p:sp>
      <p:sp>
        <p:nvSpPr>
          <p:cNvPr id="309" name="Google Shape;309;p19">
            <a:extLst>
              <a:ext uri="{FF2B5EF4-FFF2-40B4-BE49-F238E27FC236}">
                <a16:creationId xmlns:a16="http://schemas.microsoft.com/office/drawing/2014/main" id="{41C07E5D-BD09-02CA-750D-652D06761CBB}"/>
              </a:ext>
            </a:extLst>
          </p:cNvPr>
          <p:cNvSpPr/>
          <p:nvPr/>
        </p:nvSpPr>
        <p:spPr>
          <a:xfrm rot="5400000">
            <a:off x="649223" y="387939"/>
            <a:ext cx="73152" cy="54864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800"/>
              <a:buFont typeface="Avenir"/>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310" name="Google Shape;310;p19">
            <a:extLst>
              <a:ext uri="{FF2B5EF4-FFF2-40B4-BE49-F238E27FC236}">
                <a16:creationId xmlns:a16="http://schemas.microsoft.com/office/drawing/2014/main" id="{77726D67-6DA1-363E-6047-FAB12073DA94}"/>
              </a:ext>
            </a:extLst>
          </p:cNvPr>
          <p:cNvSpPr/>
          <p:nvPr/>
        </p:nvSpPr>
        <p:spPr>
          <a:xfrm>
            <a:off x="411480" y="2285541"/>
            <a:ext cx="4389120" cy="18288"/>
          </a:xfrm>
          <a:prstGeom prst="rect">
            <a:avLst/>
          </a:prstGeom>
          <a:solidFill>
            <a:srgbClr val="D6BDDA"/>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800"/>
              <a:buFont typeface="Avenir"/>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311" name="Google Shape;311;p19">
            <a:extLst>
              <a:ext uri="{FF2B5EF4-FFF2-40B4-BE49-F238E27FC236}">
                <a16:creationId xmlns:a16="http://schemas.microsoft.com/office/drawing/2014/main" id="{8704FC70-F2B6-8D2B-9A14-A56ABA397BC2}"/>
              </a:ext>
            </a:extLst>
          </p:cNvPr>
          <p:cNvSpPr txBox="1">
            <a:spLocks noGrp="1"/>
          </p:cNvSpPr>
          <p:nvPr>
            <p:ph type="body" idx="1"/>
          </p:nvPr>
        </p:nvSpPr>
        <p:spPr>
          <a:xfrm>
            <a:off x="340360" y="2459843"/>
            <a:ext cx="4585393" cy="3977235"/>
          </a:xfrm>
          <a:prstGeom prst="rect">
            <a:avLst/>
          </a:prstGeom>
          <a:noFill/>
          <a:ln>
            <a:noFill/>
          </a:ln>
        </p:spPr>
        <p:txBody>
          <a:bodyPr spcFirstLastPara="1" wrap="square" lIns="91425" tIns="45700" rIns="91425" bIns="45700" anchor="t" anchorCtr="0">
            <a:normAutofit lnSpcReduction="10000"/>
          </a:bodyPr>
          <a:lstStyle/>
          <a:p>
            <a:pPr marL="285750" indent="-285750">
              <a:lnSpc>
                <a:spcPct val="100000"/>
              </a:lnSpc>
              <a:spcBef>
                <a:spcPts val="0"/>
              </a:spcBef>
              <a:buFont typeface="Wingdings" panose="05000000000000000000" pitchFamily="2" charset="2"/>
              <a:buChar char="q"/>
            </a:pPr>
            <a:r>
              <a:rPr lang="el-GR" sz="1800" dirty="0">
                <a:latin typeface="Tahoma"/>
                <a:ea typeface="Tahoma"/>
                <a:cs typeface="Tahoma"/>
                <a:sym typeface="Tahoma"/>
              </a:rPr>
              <a:t>Η προεπεξεργασία του συνόλου δεδομένων ξεκίνησε με τμηματική φόρτωση από το αρχείο CSV σε μεγάλα τμήματα, για αποτελεσματική διαχείριση του μεγάλου όγκου των 1,89 εκατομμυρίων εγγραφών. </a:t>
            </a:r>
            <a:endParaRPr lang="en-GB" sz="1800" dirty="0">
              <a:latin typeface="Tahoma"/>
              <a:ea typeface="Tahoma"/>
              <a:cs typeface="Tahoma"/>
              <a:sym typeface="Tahoma"/>
            </a:endParaRPr>
          </a:p>
          <a:p>
            <a:pPr marL="285750" indent="-285750">
              <a:lnSpc>
                <a:spcPct val="100000"/>
              </a:lnSpc>
              <a:spcBef>
                <a:spcPts val="0"/>
              </a:spcBef>
              <a:buFont typeface="Wingdings" panose="05000000000000000000" pitchFamily="2" charset="2"/>
              <a:buChar char="q"/>
            </a:pPr>
            <a:endParaRPr lang="en-GB" sz="1800" dirty="0">
              <a:latin typeface="Tahoma"/>
              <a:ea typeface="Tahoma"/>
              <a:cs typeface="Tahoma"/>
              <a:sym typeface="Tahoma"/>
            </a:endParaRPr>
          </a:p>
          <a:p>
            <a:pPr marL="285750" indent="-285750">
              <a:lnSpc>
                <a:spcPct val="100000"/>
              </a:lnSpc>
              <a:spcBef>
                <a:spcPts val="0"/>
              </a:spcBef>
              <a:buFont typeface="Wingdings" panose="05000000000000000000" pitchFamily="2" charset="2"/>
              <a:buChar char="q"/>
            </a:pPr>
            <a:r>
              <a:rPr lang="el-GR" sz="1800" dirty="0">
                <a:latin typeface="Tahoma"/>
                <a:ea typeface="Tahoma"/>
                <a:cs typeface="Tahoma"/>
                <a:sym typeface="Tahoma"/>
              </a:rPr>
              <a:t>Κατά τη φόρτωση, η στήλη </a:t>
            </a:r>
            <a:r>
              <a:rPr lang="el-GR" sz="1800" dirty="0" err="1">
                <a:latin typeface="Tahoma"/>
                <a:ea typeface="Tahoma"/>
                <a:cs typeface="Tahoma"/>
                <a:sym typeface="Tahoma"/>
              </a:rPr>
              <a:t>datetime</a:t>
            </a:r>
            <a:r>
              <a:rPr lang="el-GR" sz="1800" dirty="0">
                <a:latin typeface="Tahoma"/>
                <a:ea typeface="Tahoma"/>
                <a:cs typeface="Tahoma"/>
                <a:sym typeface="Tahoma"/>
              </a:rPr>
              <a:t> μετατράπηκε σε τύπο ημερομηνίας (</a:t>
            </a:r>
            <a:r>
              <a:rPr lang="el-GR" sz="1800" dirty="0" err="1">
                <a:latin typeface="Tahoma"/>
                <a:ea typeface="Tahoma"/>
                <a:cs typeface="Tahoma"/>
                <a:sym typeface="Tahoma"/>
              </a:rPr>
              <a:t>date</a:t>
            </a:r>
            <a:r>
              <a:rPr lang="el-GR" sz="1800" dirty="0">
                <a:latin typeface="Tahoma"/>
                <a:ea typeface="Tahoma"/>
                <a:cs typeface="Tahoma"/>
                <a:sym typeface="Tahoma"/>
              </a:rPr>
              <a:t>), ενώ οι βασικές αναγνωριστικές στήλες </a:t>
            </a:r>
            <a:r>
              <a:rPr lang="el-GR" sz="1800" dirty="0" err="1">
                <a:latin typeface="Tahoma"/>
                <a:ea typeface="Tahoma"/>
                <a:cs typeface="Tahoma"/>
                <a:sym typeface="Tahoma"/>
              </a:rPr>
              <a:t>CellID</a:t>
            </a:r>
            <a:r>
              <a:rPr lang="el-GR" sz="1800" dirty="0">
                <a:latin typeface="Tahoma"/>
                <a:ea typeface="Tahoma"/>
                <a:cs typeface="Tahoma"/>
                <a:sym typeface="Tahoma"/>
              </a:rPr>
              <a:t> και </a:t>
            </a:r>
            <a:r>
              <a:rPr lang="el-GR" sz="1800" dirty="0" err="1">
                <a:latin typeface="Tahoma"/>
                <a:ea typeface="Tahoma"/>
                <a:cs typeface="Tahoma"/>
                <a:sym typeface="Tahoma"/>
              </a:rPr>
              <a:t>countrycode</a:t>
            </a:r>
            <a:r>
              <a:rPr lang="el-GR" sz="1800" dirty="0">
                <a:latin typeface="Tahoma"/>
                <a:ea typeface="Tahoma"/>
                <a:cs typeface="Tahoma"/>
                <a:sym typeface="Tahoma"/>
              </a:rPr>
              <a:t> διατηρήθηκαν αναλλοίωτες, ώστε να διασφαλιστεί η ακρίβεια της χρονικής και γεωγραφικής ταυτοποίησης των εγγραφών.</a:t>
            </a:r>
            <a:endParaRPr lang="el-GR" dirty="0"/>
          </a:p>
        </p:txBody>
      </p:sp>
      <p:pic>
        <p:nvPicPr>
          <p:cNvPr id="2050" name="Picture 2">
            <a:extLst>
              <a:ext uri="{FF2B5EF4-FFF2-40B4-BE49-F238E27FC236}">
                <a16:creationId xmlns:a16="http://schemas.microsoft.com/office/drawing/2014/main" id="{4473CCE9-BEAA-F0BA-88D8-8E9C20C8529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57637" y="1778983"/>
            <a:ext cx="7531360" cy="3977235"/>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627859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92"/>
        <p:cNvGrpSpPr/>
        <p:nvPr/>
      </p:nvGrpSpPr>
      <p:grpSpPr>
        <a:xfrm>
          <a:off x="0" y="0"/>
          <a:ext cx="0" cy="0"/>
          <a:chOff x="0" y="0"/>
          <a:chExt cx="0" cy="0"/>
        </a:xfrm>
      </p:grpSpPr>
      <p:sp>
        <p:nvSpPr>
          <p:cNvPr id="293" name="Google Shape;293;p18"/>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venir"/>
              <a:ea typeface="Avenir"/>
              <a:cs typeface="Avenir"/>
              <a:sym typeface="Avenir"/>
            </a:endParaRPr>
          </a:p>
        </p:txBody>
      </p:sp>
      <p:sp>
        <p:nvSpPr>
          <p:cNvPr id="294" name="Google Shape;294;p18"/>
          <p:cNvSpPr/>
          <p:nvPr/>
        </p:nvSpPr>
        <p:spPr>
          <a:xfrm>
            <a:off x="409573" y="633619"/>
            <a:ext cx="6852464" cy="5495925"/>
          </a:xfrm>
          <a:prstGeom prst="rect">
            <a:avLst/>
          </a:prstGeom>
          <a:solidFill>
            <a:schemeClr val="lt1"/>
          </a:solidFill>
          <a:ln w="9525" cap="flat" cmpd="sng">
            <a:solidFill>
              <a:srgbClr val="F1E3F1"/>
            </a:solidFill>
            <a:prstDash val="solid"/>
            <a:miter lim="800000"/>
            <a:headEnd type="none" w="sm" len="sm"/>
            <a:tailEnd type="none" w="sm" len="sm"/>
          </a:ln>
          <a:effectLst>
            <a:outerShdw blurRad="50800" dist="38100" dir="2700000" algn="tl" rotWithShape="0">
              <a:srgbClr val="D8D8D8">
                <a:alpha val="29803"/>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FFFFFF"/>
              </a:solidFill>
              <a:latin typeface="Calibri"/>
              <a:ea typeface="Calibri"/>
              <a:cs typeface="Calibri"/>
              <a:sym typeface="Calibri"/>
            </a:endParaRPr>
          </a:p>
        </p:txBody>
      </p:sp>
      <p:sp>
        <p:nvSpPr>
          <p:cNvPr id="295" name="Google Shape;295;p18"/>
          <p:cNvSpPr txBox="1">
            <a:spLocks noGrp="1"/>
          </p:cNvSpPr>
          <p:nvPr>
            <p:ph type="title"/>
          </p:nvPr>
        </p:nvSpPr>
        <p:spPr>
          <a:xfrm>
            <a:off x="838196" y="978408"/>
            <a:ext cx="6007608" cy="110642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800"/>
              <a:buFont typeface="Avenir"/>
              <a:buNone/>
            </a:pPr>
            <a:r>
              <a:rPr lang="el-GR" sz="2800" dirty="0">
                <a:latin typeface="Tahoma" panose="020B0604030504040204" pitchFamily="34" charset="0"/>
                <a:ea typeface="Tahoma" panose="020B0604030504040204" pitchFamily="34" charset="0"/>
                <a:cs typeface="Tahoma" panose="020B0604030504040204" pitchFamily="34" charset="0"/>
              </a:rPr>
              <a:t>Έλεγχος και Καθαρισμός Δεδομένων</a:t>
            </a:r>
            <a:endParaRPr dirty="0">
              <a:latin typeface="Tahoma" panose="020B0604030504040204" pitchFamily="34" charset="0"/>
              <a:ea typeface="Tahoma" panose="020B0604030504040204" pitchFamily="34" charset="0"/>
              <a:cs typeface="Tahoma" panose="020B0604030504040204" pitchFamily="34" charset="0"/>
            </a:endParaRPr>
          </a:p>
        </p:txBody>
      </p:sp>
      <p:sp>
        <p:nvSpPr>
          <p:cNvPr id="296" name="Google Shape;296;p18"/>
          <p:cNvSpPr/>
          <p:nvPr/>
        </p:nvSpPr>
        <p:spPr>
          <a:xfrm>
            <a:off x="345565" y="1181536"/>
            <a:ext cx="128016" cy="704088"/>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FFFFFF"/>
              </a:solidFill>
              <a:latin typeface="Calibri"/>
              <a:ea typeface="Calibri"/>
              <a:cs typeface="Calibri"/>
              <a:sym typeface="Calibri"/>
            </a:endParaRPr>
          </a:p>
        </p:txBody>
      </p:sp>
      <p:sp>
        <p:nvSpPr>
          <p:cNvPr id="297" name="Google Shape;297;p18"/>
          <p:cNvSpPr/>
          <p:nvPr/>
        </p:nvSpPr>
        <p:spPr>
          <a:xfrm>
            <a:off x="877454" y="2121408"/>
            <a:ext cx="5824728" cy="9144"/>
          </a:xfrm>
          <a:prstGeom prst="rect">
            <a:avLst/>
          </a:prstGeom>
          <a:solidFill>
            <a:srgbClr val="D6BDD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FFFFFF"/>
              </a:solidFill>
              <a:latin typeface="Calibri"/>
              <a:ea typeface="Calibri"/>
              <a:cs typeface="Calibri"/>
              <a:sym typeface="Calibri"/>
            </a:endParaRPr>
          </a:p>
        </p:txBody>
      </p:sp>
      <p:sp>
        <p:nvSpPr>
          <p:cNvPr id="298" name="Google Shape;298;p18"/>
          <p:cNvSpPr txBox="1">
            <a:spLocks noGrp="1"/>
          </p:cNvSpPr>
          <p:nvPr>
            <p:ph type="body" idx="1"/>
          </p:nvPr>
        </p:nvSpPr>
        <p:spPr>
          <a:xfrm>
            <a:off x="838196" y="2543880"/>
            <a:ext cx="6007608" cy="3429000"/>
          </a:xfrm>
          <a:prstGeom prst="rect">
            <a:avLst/>
          </a:prstGeom>
          <a:noFill/>
          <a:ln>
            <a:noFill/>
          </a:ln>
        </p:spPr>
        <p:txBody>
          <a:bodyPr spcFirstLastPara="1" wrap="square" lIns="91425" tIns="45700" rIns="91425" bIns="45700" anchor="t" anchorCtr="0">
            <a:normAutofit/>
          </a:bodyPr>
          <a:lstStyle/>
          <a:p>
            <a:pPr marL="228600" lvl="0" indent="-228600" algn="l" rtl="0">
              <a:lnSpc>
                <a:spcPct val="110000"/>
              </a:lnSpc>
              <a:spcBef>
                <a:spcPts val="0"/>
              </a:spcBef>
              <a:spcAft>
                <a:spcPts val="0"/>
              </a:spcAft>
              <a:buClr>
                <a:schemeClr val="dk1"/>
              </a:buClr>
              <a:buSzPts val="1800"/>
              <a:buFont typeface="Noto Sans Symbols"/>
              <a:buChar char="❑"/>
            </a:pPr>
            <a:r>
              <a:rPr lang="el-GR" sz="1800" dirty="0">
                <a:latin typeface="Tahoma"/>
                <a:ea typeface="Tahoma"/>
                <a:cs typeface="Tahoma"/>
                <a:sym typeface="Tahoma"/>
              </a:rPr>
              <a:t>Κάναμε έλεγχο για ελλιπείς τιμές, ο οποίος αποκάλυψε ότι δεν υπάρχουν ελλείψεις στις στήλες </a:t>
            </a:r>
            <a:r>
              <a:rPr lang="el-GR" sz="1800" dirty="0" err="1">
                <a:latin typeface="Tahoma"/>
                <a:ea typeface="Tahoma"/>
                <a:cs typeface="Tahoma"/>
                <a:sym typeface="Tahoma"/>
              </a:rPr>
              <a:t>datetime</a:t>
            </a:r>
            <a:r>
              <a:rPr lang="el-GR" sz="1800" dirty="0">
                <a:latin typeface="Tahoma"/>
                <a:ea typeface="Tahoma"/>
                <a:cs typeface="Tahoma"/>
                <a:sym typeface="Tahoma"/>
              </a:rPr>
              <a:t>, </a:t>
            </a:r>
            <a:r>
              <a:rPr lang="el-GR" sz="1800" dirty="0" err="1">
                <a:latin typeface="Tahoma"/>
                <a:ea typeface="Tahoma"/>
                <a:cs typeface="Tahoma"/>
                <a:sym typeface="Tahoma"/>
              </a:rPr>
              <a:t>CellID</a:t>
            </a:r>
            <a:r>
              <a:rPr lang="el-GR" sz="1800" dirty="0">
                <a:latin typeface="Tahoma"/>
                <a:ea typeface="Tahoma"/>
                <a:cs typeface="Tahoma"/>
                <a:sym typeface="Tahoma"/>
              </a:rPr>
              <a:t> και </a:t>
            </a:r>
            <a:r>
              <a:rPr lang="el-GR" sz="1800" dirty="0" err="1">
                <a:latin typeface="Tahoma"/>
                <a:ea typeface="Tahoma"/>
                <a:cs typeface="Tahoma"/>
                <a:sym typeface="Tahoma"/>
              </a:rPr>
              <a:t>countrycode</a:t>
            </a:r>
            <a:r>
              <a:rPr lang="el-GR" sz="1800" dirty="0">
                <a:latin typeface="Tahoma"/>
                <a:ea typeface="Tahoma"/>
                <a:cs typeface="Tahoma"/>
                <a:sym typeface="Tahoma"/>
              </a:rPr>
              <a:t>, ενώ για τις στήλες </a:t>
            </a:r>
            <a:r>
              <a:rPr lang="el-GR" sz="1800" dirty="0" err="1">
                <a:latin typeface="Tahoma"/>
                <a:ea typeface="Tahoma"/>
                <a:cs typeface="Tahoma"/>
                <a:sym typeface="Tahoma"/>
              </a:rPr>
              <a:t>smsin</a:t>
            </a:r>
            <a:r>
              <a:rPr lang="el-GR" sz="1800" dirty="0">
                <a:latin typeface="Tahoma"/>
                <a:ea typeface="Tahoma"/>
                <a:cs typeface="Tahoma"/>
                <a:sym typeface="Tahoma"/>
              </a:rPr>
              <a:t>, </a:t>
            </a:r>
            <a:r>
              <a:rPr lang="el-GR" sz="1800" dirty="0" err="1">
                <a:latin typeface="Tahoma"/>
                <a:ea typeface="Tahoma"/>
                <a:cs typeface="Tahoma"/>
                <a:sym typeface="Tahoma"/>
              </a:rPr>
              <a:t>smsout</a:t>
            </a:r>
            <a:r>
              <a:rPr lang="el-GR" sz="1800" dirty="0">
                <a:latin typeface="Tahoma"/>
                <a:ea typeface="Tahoma"/>
                <a:cs typeface="Tahoma"/>
                <a:sym typeface="Tahoma"/>
              </a:rPr>
              <a:t>, </a:t>
            </a:r>
            <a:r>
              <a:rPr lang="el-GR" sz="1800" dirty="0" err="1">
                <a:latin typeface="Tahoma"/>
                <a:ea typeface="Tahoma"/>
                <a:cs typeface="Tahoma"/>
                <a:sym typeface="Tahoma"/>
              </a:rPr>
              <a:t>callin</a:t>
            </a:r>
            <a:r>
              <a:rPr lang="el-GR" sz="1800" dirty="0">
                <a:latin typeface="Tahoma"/>
                <a:ea typeface="Tahoma"/>
                <a:cs typeface="Tahoma"/>
                <a:sym typeface="Tahoma"/>
              </a:rPr>
              <a:t>, </a:t>
            </a:r>
            <a:r>
              <a:rPr lang="el-GR" sz="1800" dirty="0" err="1">
                <a:latin typeface="Tahoma"/>
                <a:ea typeface="Tahoma"/>
                <a:cs typeface="Tahoma"/>
                <a:sym typeface="Tahoma"/>
              </a:rPr>
              <a:t>callout</a:t>
            </a:r>
            <a:r>
              <a:rPr lang="el-GR" sz="1800" dirty="0">
                <a:latin typeface="Tahoma"/>
                <a:ea typeface="Tahoma"/>
                <a:cs typeface="Tahoma"/>
                <a:sym typeface="Tahoma"/>
              </a:rPr>
              <a:t> και </a:t>
            </a:r>
            <a:r>
              <a:rPr lang="el-GR" sz="1800" dirty="0" err="1">
                <a:latin typeface="Tahoma"/>
                <a:ea typeface="Tahoma"/>
                <a:cs typeface="Tahoma"/>
                <a:sym typeface="Tahoma"/>
              </a:rPr>
              <a:t>internet</a:t>
            </a:r>
            <a:r>
              <a:rPr lang="el-GR" sz="1800" dirty="0">
                <a:latin typeface="Tahoma"/>
                <a:ea typeface="Tahoma"/>
                <a:cs typeface="Tahoma"/>
                <a:sym typeface="Tahoma"/>
              </a:rPr>
              <a:t> διαπιστώσαμε αντίστοιχα 1.086.153, 1.422.446, 1.407.781, 1.037.413 και 1.087.074 ελλείψεις. </a:t>
            </a:r>
            <a:endParaRPr sz="1800" dirty="0">
              <a:latin typeface="Tahoma"/>
              <a:ea typeface="Tahoma"/>
              <a:cs typeface="Tahoma"/>
              <a:sym typeface="Tahoma"/>
            </a:endParaRPr>
          </a:p>
          <a:p>
            <a:pPr marL="228600" lvl="0" indent="-228600" algn="l" rtl="0">
              <a:lnSpc>
                <a:spcPct val="110000"/>
              </a:lnSpc>
              <a:spcBef>
                <a:spcPts val="1000"/>
              </a:spcBef>
              <a:spcAft>
                <a:spcPts val="0"/>
              </a:spcAft>
              <a:buClr>
                <a:schemeClr val="dk1"/>
              </a:buClr>
              <a:buSzPts val="1800"/>
              <a:buFont typeface="Noto Sans Symbols"/>
              <a:buChar char="❑"/>
            </a:pPr>
            <a:r>
              <a:rPr lang="el-GR" sz="1800" dirty="0">
                <a:latin typeface="Tahoma"/>
                <a:ea typeface="Tahoma"/>
                <a:cs typeface="Tahoma"/>
                <a:sym typeface="Tahoma"/>
              </a:rPr>
              <a:t>Στη συνέχεια, για τον καθαρισμό των δεδομένων, αντικαταστήσαμε όλες τις τιμές </a:t>
            </a:r>
            <a:r>
              <a:rPr lang="el-GR" sz="1800" dirty="0" err="1">
                <a:latin typeface="Tahoma"/>
                <a:ea typeface="Tahoma"/>
                <a:cs typeface="Tahoma"/>
                <a:sym typeface="Tahoma"/>
              </a:rPr>
              <a:t>NaN</a:t>
            </a:r>
            <a:r>
              <a:rPr lang="el-GR" sz="1800" dirty="0">
                <a:latin typeface="Tahoma"/>
                <a:ea typeface="Tahoma"/>
                <a:cs typeface="Tahoma"/>
                <a:sym typeface="Tahoma"/>
              </a:rPr>
              <a:t> με 0</a:t>
            </a:r>
            <a:r>
              <a:rPr lang="en-GB" sz="1800" dirty="0">
                <a:latin typeface="Tahoma"/>
                <a:ea typeface="Tahoma"/>
                <a:cs typeface="Tahoma"/>
                <a:sym typeface="Tahoma"/>
              </a:rPr>
              <a:t>.</a:t>
            </a:r>
            <a:endParaRPr sz="1800" dirty="0">
              <a:latin typeface="Tahoma"/>
              <a:ea typeface="Tahoma"/>
              <a:cs typeface="Tahoma"/>
              <a:sym typeface="Tahoma"/>
            </a:endParaRPr>
          </a:p>
        </p:txBody>
      </p:sp>
      <p:pic>
        <p:nvPicPr>
          <p:cNvPr id="299" name="Google Shape;299;p18" descr="A screenshot of a table&#10;&#10;AI-generated content may be incorrect."/>
          <p:cNvPicPr preferRelativeResize="0"/>
          <p:nvPr/>
        </p:nvPicPr>
        <p:blipFill rotWithShape="1">
          <a:blip r:embed="rId3">
            <a:alphaModFix/>
          </a:blip>
          <a:srcRect/>
          <a:stretch/>
        </p:blipFill>
        <p:spPr>
          <a:xfrm>
            <a:off x="7693225" y="3700099"/>
            <a:ext cx="4209142" cy="2651760"/>
          </a:xfrm>
          <a:prstGeom prst="round2DiagRect">
            <a:avLst>
              <a:gd name="adj1" fmla="val 16667"/>
              <a:gd name="adj2" fmla="val 0"/>
            </a:avLst>
          </a:prstGeom>
          <a:noFill/>
          <a:ln w="88900" cap="sq" cmpd="sng">
            <a:solidFill>
              <a:srgbClr val="FFFFFF"/>
            </a:solidFill>
            <a:prstDash val="solid"/>
            <a:miter lim="800000"/>
            <a:headEnd type="none" w="sm" len="sm"/>
            <a:tailEnd type="none" w="sm" len="sm"/>
          </a:ln>
          <a:effectLst>
            <a:outerShdw blurRad="254000" algn="tl" rotWithShape="0">
              <a:srgbClr val="000000">
                <a:alpha val="42745"/>
              </a:srgbClr>
            </a:outerShdw>
          </a:effectLst>
        </p:spPr>
      </p:pic>
      <p:pic>
        <p:nvPicPr>
          <p:cNvPr id="300" name="Google Shape;300;p18" descr="A table of data with numbers and symbols&#10;&#10;AI-generated content may be incorrect."/>
          <p:cNvPicPr preferRelativeResize="0"/>
          <p:nvPr/>
        </p:nvPicPr>
        <p:blipFill rotWithShape="1">
          <a:blip r:embed="rId4">
            <a:alphaModFix/>
          </a:blip>
          <a:srcRect/>
          <a:stretch/>
        </p:blipFill>
        <p:spPr>
          <a:xfrm>
            <a:off x="7690660" y="519787"/>
            <a:ext cx="4209142" cy="2651760"/>
          </a:xfrm>
          <a:prstGeom prst="round2DiagRect">
            <a:avLst>
              <a:gd name="adj1" fmla="val 16667"/>
              <a:gd name="adj2" fmla="val 0"/>
            </a:avLst>
          </a:prstGeom>
          <a:noFill/>
          <a:ln w="88900" cap="sq" cmpd="sng">
            <a:solidFill>
              <a:srgbClr val="FFFFFF"/>
            </a:solidFill>
            <a:prstDash val="solid"/>
            <a:miter lim="800000"/>
            <a:headEnd type="none" w="sm" len="sm"/>
            <a:tailEnd type="none" w="sm" len="sm"/>
          </a:ln>
          <a:effectLst>
            <a:outerShdw blurRad="254000" algn="tl" rotWithShape="0">
              <a:srgbClr val="000000">
                <a:alpha val="42745"/>
              </a:srgbClr>
            </a:outerShdw>
          </a:effectLst>
        </p:spPr>
      </p:pic>
      <p:sp>
        <p:nvSpPr>
          <p:cNvPr id="301" name="Google Shape;301;p18"/>
          <p:cNvSpPr/>
          <p:nvPr/>
        </p:nvSpPr>
        <p:spPr>
          <a:xfrm>
            <a:off x="9897892" y="3211971"/>
            <a:ext cx="230909" cy="466175"/>
          </a:xfrm>
          <a:prstGeom prst="downArrow">
            <a:avLst>
              <a:gd name="adj1" fmla="val 50000"/>
              <a:gd name="adj2" fmla="val 50000"/>
            </a:avLst>
          </a:prstGeom>
          <a:gradFill>
            <a:gsLst>
              <a:gs pos="0">
                <a:srgbClr val="474747"/>
              </a:gs>
              <a:gs pos="50000">
                <a:schemeClr val="dk1"/>
              </a:gs>
              <a:gs pos="100000">
                <a:schemeClr val="dk1"/>
              </a:gs>
            </a:gsLst>
            <a:lin ang="5400000" scaled="0"/>
          </a:gradFill>
          <a:ln>
            <a:noFill/>
          </a:ln>
          <a:effectLst>
            <a:outerShdw blurRad="57150" dist="19050" dir="5400000" algn="ctr" rotWithShape="0">
              <a:srgbClr val="000000">
                <a:alpha val="6274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venir"/>
              <a:ea typeface="Avenir"/>
              <a:cs typeface="Avenir"/>
              <a:sym typeface="Aveni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06"/>
        <p:cNvGrpSpPr/>
        <p:nvPr/>
      </p:nvGrpSpPr>
      <p:grpSpPr>
        <a:xfrm>
          <a:off x="0" y="0"/>
          <a:ext cx="0" cy="0"/>
          <a:chOff x="0" y="0"/>
          <a:chExt cx="0" cy="0"/>
        </a:xfrm>
      </p:grpSpPr>
      <p:sp>
        <p:nvSpPr>
          <p:cNvPr id="307" name="Google Shape;307;p19"/>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venir"/>
              <a:ea typeface="Avenir"/>
              <a:cs typeface="Avenir"/>
              <a:sym typeface="Avenir"/>
            </a:endParaRPr>
          </a:p>
        </p:txBody>
      </p:sp>
      <p:sp>
        <p:nvSpPr>
          <p:cNvPr id="308" name="Google Shape;308;p19"/>
          <p:cNvSpPr txBox="1">
            <a:spLocks noGrp="1"/>
          </p:cNvSpPr>
          <p:nvPr>
            <p:ph type="title"/>
          </p:nvPr>
        </p:nvSpPr>
        <p:spPr>
          <a:xfrm>
            <a:off x="411480" y="991443"/>
            <a:ext cx="4443154" cy="1087819"/>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dk1"/>
              </a:buClr>
              <a:buSzPts val="2600"/>
              <a:buFont typeface="Avenir"/>
              <a:buNone/>
            </a:pPr>
            <a:r>
              <a:rPr lang="el-GR" sz="2600" dirty="0">
                <a:latin typeface="Tahoma" panose="020B0604030504040204" pitchFamily="34" charset="0"/>
                <a:ea typeface="Tahoma" panose="020B0604030504040204" pitchFamily="34" charset="0"/>
                <a:cs typeface="Tahoma" panose="020B0604030504040204" pitchFamily="34" charset="0"/>
              </a:rPr>
              <a:t>Προκλήσεις </a:t>
            </a:r>
            <a:r>
              <a:rPr lang="el-GR" sz="2600" dirty="0" err="1">
                <a:latin typeface="Tahoma" panose="020B0604030504040204" pitchFamily="34" charset="0"/>
                <a:ea typeface="Tahoma" panose="020B0604030504040204" pitchFamily="34" charset="0"/>
                <a:cs typeface="Tahoma" panose="020B0604030504040204" pitchFamily="34" charset="0"/>
              </a:rPr>
              <a:t>Προεπεξεργασίας</a:t>
            </a:r>
            <a:r>
              <a:rPr lang="el-GR" sz="2600" dirty="0">
                <a:latin typeface="Tahoma" panose="020B0604030504040204" pitchFamily="34" charset="0"/>
                <a:ea typeface="Tahoma" panose="020B0604030504040204" pitchFamily="34" charset="0"/>
                <a:cs typeface="Tahoma" panose="020B0604030504040204" pitchFamily="34" charset="0"/>
              </a:rPr>
              <a:t> Δεδομένων </a:t>
            </a:r>
            <a:endParaRPr sz="2600" dirty="0">
              <a:latin typeface="Tahoma" panose="020B0604030504040204" pitchFamily="34" charset="0"/>
              <a:ea typeface="Tahoma" panose="020B0604030504040204" pitchFamily="34" charset="0"/>
              <a:cs typeface="Tahoma" panose="020B0604030504040204" pitchFamily="34" charset="0"/>
            </a:endParaRPr>
          </a:p>
        </p:txBody>
      </p:sp>
      <p:sp>
        <p:nvSpPr>
          <p:cNvPr id="309" name="Google Shape;309;p19"/>
          <p:cNvSpPr/>
          <p:nvPr/>
        </p:nvSpPr>
        <p:spPr>
          <a:xfrm rot="5400000">
            <a:off x="649223" y="387939"/>
            <a:ext cx="73152" cy="54864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FFFFFF"/>
              </a:solidFill>
              <a:latin typeface="Calibri"/>
              <a:ea typeface="Calibri"/>
              <a:cs typeface="Calibri"/>
              <a:sym typeface="Calibri"/>
            </a:endParaRPr>
          </a:p>
        </p:txBody>
      </p:sp>
      <p:sp>
        <p:nvSpPr>
          <p:cNvPr id="310" name="Google Shape;310;p19"/>
          <p:cNvSpPr/>
          <p:nvPr/>
        </p:nvSpPr>
        <p:spPr>
          <a:xfrm>
            <a:off x="411480" y="2285541"/>
            <a:ext cx="4389120" cy="18288"/>
          </a:xfrm>
          <a:prstGeom prst="rect">
            <a:avLst/>
          </a:prstGeom>
          <a:solidFill>
            <a:srgbClr val="D6BDD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FFFFFF"/>
              </a:solidFill>
              <a:latin typeface="Calibri"/>
              <a:ea typeface="Calibri"/>
              <a:cs typeface="Calibri"/>
              <a:sym typeface="Calibri"/>
            </a:endParaRPr>
          </a:p>
        </p:txBody>
      </p:sp>
      <p:sp>
        <p:nvSpPr>
          <p:cNvPr id="311" name="Google Shape;311;p19"/>
          <p:cNvSpPr txBox="1">
            <a:spLocks noGrp="1"/>
          </p:cNvSpPr>
          <p:nvPr>
            <p:ph type="body" idx="1"/>
          </p:nvPr>
        </p:nvSpPr>
        <p:spPr>
          <a:xfrm>
            <a:off x="411479" y="2387174"/>
            <a:ext cx="4585393" cy="3977235"/>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chemeClr val="dk1"/>
              </a:buClr>
              <a:buSzPts val="1800"/>
              <a:buNone/>
            </a:pPr>
            <a:r>
              <a:rPr lang="el-GR" sz="1800" dirty="0">
                <a:latin typeface="Tahoma"/>
                <a:ea typeface="Tahoma"/>
                <a:cs typeface="Tahoma"/>
                <a:sym typeface="Tahoma"/>
              </a:rPr>
              <a:t>Γίνεται περιγραφή των επιλεγμένων στηλών εισόδου, ώστε να κατανοηθούν τα βασικά χαρακτηριστικά των δεδομένων:</a:t>
            </a:r>
            <a:endParaRPr dirty="0"/>
          </a:p>
          <a:p>
            <a:pPr marL="228600" lvl="0" indent="-228600" algn="l" rtl="0">
              <a:lnSpc>
                <a:spcPct val="100000"/>
              </a:lnSpc>
              <a:spcBef>
                <a:spcPts val="1000"/>
              </a:spcBef>
              <a:spcAft>
                <a:spcPts val="0"/>
              </a:spcAft>
              <a:buClr>
                <a:schemeClr val="dk1"/>
              </a:buClr>
              <a:buSzPts val="1800"/>
              <a:buFont typeface="Noto Sans Symbols"/>
              <a:buChar char="❑"/>
            </a:pPr>
            <a:r>
              <a:rPr lang="el-GR" sz="1800" b="1" dirty="0">
                <a:latin typeface="Tahoma"/>
                <a:ea typeface="Tahoma"/>
                <a:cs typeface="Tahoma"/>
                <a:sym typeface="Tahoma"/>
              </a:rPr>
              <a:t>Πολλά μηδενικά: </a:t>
            </a:r>
            <a:r>
              <a:rPr lang="el-GR" sz="1800" dirty="0">
                <a:latin typeface="Tahoma"/>
                <a:ea typeface="Tahoma"/>
                <a:cs typeface="Tahoma"/>
                <a:sym typeface="Tahoma"/>
              </a:rPr>
              <a:t>Το 25ο, 50ο και 75ο </a:t>
            </a:r>
            <a:r>
              <a:rPr lang="el-GR" sz="1800" dirty="0" err="1">
                <a:latin typeface="Tahoma"/>
                <a:ea typeface="Tahoma"/>
                <a:cs typeface="Tahoma"/>
                <a:sym typeface="Tahoma"/>
              </a:rPr>
              <a:t>ποσοστημόριο</a:t>
            </a:r>
            <a:r>
              <a:rPr lang="el-GR" sz="1800" dirty="0">
                <a:latin typeface="Tahoma"/>
                <a:ea typeface="Tahoma"/>
                <a:cs typeface="Tahoma"/>
                <a:sym typeface="Tahoma"/>
              </a:rPr>
              <a:t> είναι 0, δηλαδή τουλάχιστον το 75% των εγγραφών δεν καταγράφει δραστηριότητα (SMS, κλήσεις, </a:t>
            </a:r>
            <a:r>
              <a:rPr lang="el-GR" sz="1800" dirty="0" err="1">
                <a:latin typeface="Tahoma"/>
                <a:ea typeface="Tahoma"/>
                <a:cs typeface="Tahoma"/>
                <a:sym typeface="Tahoma"/>
              </a:rPr>
              <a:t>internet</a:t>
            </a:r>
            <a:r>
              <a:rPr lang="el-GR" sz="1800" dirty="0">
                <a:latin typeface="Tahoma"/>
                <a:ea typeface="Tahoma"/>
                <a:cs typeface="Tahoma"/>
                <a:sym typeface="Tahoma"/>
              </a:rPr>
              <a:t>). Ωστόσο, στα τηλεπικοινωνιακά δεδομένα, οι μηδενικές τιμές αντιπροσωπεύουν έγκυρες ενδείξεις μη χρήσης και δεν πρέπει να διαγραφούν αδιακρίτως, καθώς αποτελούν σημαντικό μέρος της κατανομής.</a:t>
            </a:r>
            <a:endParaRPr sz="1800" dirty="0">
              <a:latin typeface="Tahoma"/>
              <a:ea typeface="Tahoma"/>
              <a:cs typeface="Tahoma"/>
              <a:sym typeface="Tahoma"/>
            </a:endParaRPr>
          </a:p>
          <a:p>
            <a:pPr marL="228600" lvl="0" indent="-139700" algn="l" rtl="0">
              <a:lnSpc>
                <a:spcPct val="100000"/>
              </a:lnSpc>
              <a:spcBef>
                <a:spcPts val="1000"/>
              </a:spcBef>
              <a:spcAft>
                <a:spcPts val="0"/>
              </a:spcAft>
              <a:buClr>
                <a:schemeClr val="dk1"/>
              </a:buClr>
              <a:buSzPts val="1400"/>
              <a:buFont typeface="Noto Sans Symbols"/>
              <a:buNone/>
            </a:pPr>
            <a:endParaRPr sz="1400" dirty="0">
              <a:latin typeface="Tahoma"/>
              <a:ea typeface="Tahoma"/>
              <a:cs typeface="Tahoma"/>
              <a:sym typeface="Tahoma"/>
            </a:endParaRPr>
          </a:p>
        </p:txBody>
      </p:sp>
      <p:pic>
        <p:nvPicPr>
          <p:cNvPr id="312" name="Google Shape;312;p19" descr="A screenshot of a computer&#10;&#10;AI-generated content may be incorrect."/>
          <p:cNvPicPr preferRelativeResize="0"/>
          <p:nvPr/>
        </p:nvPicPr>
        <p:blipFill rotWithShape="1">
          <a:blip r:embed="rId3">
            <a:alphaModFix/>
          </a:blip>
          <a:srcRect/>
          <a:stretch/>
        </p:blipFill>
        <p:spPr>
          <a:xfrm>
            <a:off x="5408351" y="2839724"/>
            <a:ext cx="6440424" cy="2109238"/>
          </a:xfrm>
          <a:prstGeom prst="round2DiagRect">
            <a:avLst>
              <a:gd name="adj1" fmla="val 16667"/>
              <a:gd name="adj2" fmla="val 0"/>
            </a:avLst>
          </a:prstGeom>
          <a:noFill/>
          <a:ln w="88900" cap="sq" cmpd="sng">
            <a:solidFill>
              <a:srgbClr val="FFFFFF"/>
            </a:solidFill>
            <a:prstDash val="solid"/>
            <a:miter lim="800000"/>
            <a:headEnd type="none" w="sm" len="sm"/>
            <a:tailEnd type="none" w="sm" len="sm"/>
          </a:ln>
          <a:effectLst>
            <a:outerShdw blurRad="254000" algn="tl" rotWithShape="0">
              <a:srgbClr val="000000">
                <a:alpha val="42745"/>
              </a:srgbClr>
            </a:outerShdw>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06">
          <a:extLst>
            <a:ext uri="{FF2B5EF4-FFF2-40B4-BE49-F238E27FC236}">
              <a16:creationId xmlns:a16="http://schemas.microsoft.com/office/drawing/2014/main" id="{C691CF98-8834-64F2-4DCD-14FD46877F32}"/>
            </a:ext>
          </a:extLst>
        </p:cNvPr>
        <p:cNvGrpSpPr/>
        <p:nvPr/>
      </p:nvGrpSpPr>
      <p:grpSpPr>
        <a:xfrm>
          <a:off x="0" y="0"/>
          <a:ext cx="0" cy="0"/>
          <a:chOff x="0" y="0"/>
          <a:chExt cx="0" cy="0"/>
        </a:xfrm>
      </p:grpSpPr>
      <p:sp>
        <p:nvSpPr>
          <p:cNvPr id="307" name="Google Shape;307;p19">
            <a:extLst>
              <a:ext uri="{FF2B5EF4-FFF2-40B4-BE49-F238E27FC236}">
                <a16:creationId xmlns:a16="http://schemas.microsoft.com/office/drawing/2014/main" id="{211224A9-D470-6775-F8C0-2D15AFBD5392}"/>
              </a:ext>
            </a:extLst>
          </p:cNvPr>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FFFFFF"/>
              </a:solidFill>
              <a:effectLst/>
              <a:uLnTx/>
              <a:uFillTx/>
              <a:latin typeface="Avenir"/>
              <a:ea typeface="Avenir"/>
              <a:cs typeface="Avenir"/>
              <a:sym typeface="Avenir"/>
            </a:endParaRPr>
          </a:p>
        </p:txBody>
      </p:sp>
      <p:sp>
        <p:nvSpPr>
          <p:cNvPr id="308" name="Google Shape;308;p19">
            <a:extLst>
              <a:ext uri="{FF2B5EF4-FFF2-40B4-BE49-F238E27FC236}">
                <a16:creationId xmlns:a16="http://schemas.microsoft.com/office/drawing/2014/main" id="{123E3CA4-763A-5E90-26B8-949D3BCA4AA4}"/>
              </a:ext>
            </a:extLst>
          </p:cNvPr>
          <p:cNvSpPr txBox="1">
            <a:spLocks noGrp="1"/>
          </p:cNvSpPr>
          <p:nvPr>
            <p:ph type="title"/>
          </p:nvPr>
        </p:nvSpPr>
        <p:spPr>
          <a:xfrm>
            <a:off x="411480" y="991443"/>
            <a:ext cx="4443154" cy="1087819"/>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dk1"/>
              </a:buClr>
              <a:buSzPts val="2600"/>
              <a:buFont typeface="Avenir"/>
              <a:buNone/>
            </a:pPr>
            <a:r>
              <a:rPr lang="el-GR" sz="2600" dirty="0">
                <a:latin typeface="Tahoma" panose="020B0604030504040204" pitchFamily="34" charset="0"/>
                <a:ea typeface="Tahoma" panose="020B0604030504040204" pitchFamily="34" charset="0"/>
                <a:cs typeface="Tahoma" panose="020B0604030504040204" pitchFamily="34" charset="0"/>
              </a:rPr>
              <a:t>Επιλογή Χαρακτηριστικών &amp; Φιλτράρισμα Εγγραφών</a:t>
            </a:r>
            <a:endParaRPr sz="2600" dirty="0">
              <a:latin typeface="Tahoma" panose="020B0604030504040204" pitchFamily="34" charset="0"/>
              <a:ea typeface="Tahoma" panose="020B0604030504040204" pitchFamily="34" charset="0"/>
              <a:cs typeface="Tahoma" panose="020B0604030504040204" pitchFamily="34" charset="0"/>
            </a:endParaRPr>
          </a:p>
        </p:txBody>
      </p:sp>
      <p:sp>
        <p:nvSpPr>
          <p:cNvPr id="309" name="Google Shape;309;p19">
            <a:extLst>
              <a:ext uri="{FF2B5EF4-FFF2-40B4-BE49-F238E27FC236}">
                <a16:creationId xmlns:a16="http://schemas.microsoft.com/office/drawing/2014/main" id="{82DD2346-805B-28A0-B352-ECACDC8A7EF3}"/>
              </a:ext>
            </a:extLst>
          </p:cNvPr>
          <p:cNvSpPr/>
          <p:nvPr/>
        </p:nvSpPr>
        <p:spPr>
          <a:xfrm rot="5400000">
            <a:off x="649223" y="387939"/>
            <a:ext cx="73152" cy="54864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800"/>
              <a:buFont typeface="Avenir"/>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310" name="Google Shape;310;p19">
            <a:extLst>
              <a:ext uri="{FF2B5EF4-FFF2-40B4-BE49-F238E27FC236}">
                <a16:creationId xmlns:a16="http://schemas.microsoft.com/office/drawing/2014/main" id="{873ACCD1-9C9C-D7B1-D390-A4DFF63E69DC}"/>
              </a:ext>
            </a:extLst>
          </p:cNvPr>
          <p:cNvSpPr/>
          <p:nvPr/>
        </p:nvSpPr>
        <p:spPr>
          <a:xfrm>
            <a:off x="411480" y="2285541"/>
            <a:ext cx="4389120" cy="18288"/>
          </a:xfrm>
          <a:prstGeom prst="rect">
            <a:avLst/>
          </a:prstGeom>
          <a:solidFill>
            <a:srgbClr val="D6BDDA"/>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800"/>
              <a:buFont typeface="Avenir"/>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311" name="Google Shape;311;p19">
            <a:extLst>
              <a:ext uri="{FF2B5EF4-FFF2-40B4-BE49-F238E27FC236}">
                <a16:creationId xmlns:a16="http://schemas.microsoft.com/office/drawing/2014/main" id="{62C2BD97-2BB7-4B93-7C3C-6842D1A2CF73}"/>
              </a:ext>
            </a:extLst>
          </p:cNvPr>
          <p:cNvSpPr txBox="1">
            <a:spLocks noGrp="1"/>
          </p:cNvSpPr>
          <p:nvPr>
            <p:ph type="body" idx="1"/>
          </p:nvPr>
        </p:nvSpPr>
        <p:spPr>
          <a:xfrm>
            <a:off x="411479" y="2387174"/>
            <a:ext cx="4585393" cy="3977235"/>
          </a:xfrm>
          <a:prstGeom prst="rect">
            <a:avLst/>
          </a:prstGeom>
          <a:noFill/>
          <a:ln>
            <a:noFill/>
          </a:ln>
        </p:spPr>
        <p:txBody>
          <a:bodyPr spcFirstLastPara="1" wrap="square" lIns="91425" tIns="45700" rIns="91425" bIns="45700" anchor="t" anchorCtr="0">
            <a:normAutofit/>
          </a:bodyPr>
          <a:lstStyle/>
          <a:p>
            <a:pPr marL="285750" lvl="0" indent="-285750" algn="l" rtl="0">
              <a:lnSpc>
                <a:spcPct val="100000"/>
              </a:lnSpc>
              <a:spcBef>
                <a:spcPts val="0"/>
              </a:spcBef>
              <a:spcAft>
                <a:spcPts val="0"/>
              </a:spcAft>
              <a:buClr>
                <a:schemeClr val="dk1"/>
              </a:buClr>
              <a:buSzPts val="1800"/>
              <a:buFont typeface="Wingdings" panose="05000000000000000000" pitchFamily="2" charset="2"/>
              <a:buChar char="q"/>
            </a:pPr>
            <a:r>
              <a:rPr lang="el-GR" sz="1800" dirty="0">
                <a:latin typeface="Tahoma"/>
                <a:ea typeface="Tahoma"/>
                <a:cs typeface="Tahoma"/>
                <a:sym typeface="Tahoma"/>
              </a:rPr>
              <a:t>Ακολούθησε επιλογή των πέντε τηλεπικοινωνιακών χαρακτηριστικών ως είσοδος για το GAN, ενώ αφαιρέθηκε το ελάχιστο ποσοστό εγγραφών (περίπου 0,1%) στις οποίες όλες οι τιμές ήταν μηδενικές. </a:t>
            </a:r>
            <a:endParaRPr lang="en-GB" sz="1800" dirty="0">
              <a:latin typeface="Tahoma"/>
              <a:ea typeface="Tahoma"/>
              <a:cs typeface="Tahoma"/>
              <a:sym typeface="Tahoma"/>
            </a:endParaRPr>
          </a:p>
          <a:p>
            <a:pPr marL="285750" lvl="0" indent="-285750" algn="l" rtl="0">
              <a:lnSpc>
                <a:spcPct val="100000"/>
              </a:lnSpc>
              <a:spcBef>
                <a:spcPts val="0"/>
              </a:spcBef>
              <a:spcAft>
                <a:spcPts val="0"/>
              </a:spcAft>
              <a:buClr>
                <a:schemeClr val="dk1"/>
              </a:buClr>
              <a:buSzPts val="1800"/>
              <a:buFont typeface="Wingdings" panose="05000000000000000000" pitchFamily="2" charset="2"/>
              <a:buChar char="q"/>
            </a:pPr>
            <a:endParaRPr lang="en-GB" sz="1800" dirty="0">
              <a:latin typeface="Tahoma"/>
              <a:ea typeface="Tahoma"/>
              <a:cs typeface="Tahoma"/>
              <a:sym typeface="Tahoma"/>
            </a:endParaRPr>
          </a:p>
          <a:p>
            <a:pPr marL="285750" lvl="0" indent="-285750" algn="l" rtl="0">
              <a:lnSpc>
                <a:spcPct val="100000"/>
              </a:lnSpc>
              <a:spcBef>
                <a:spcPts val="0"/>
              </a:spcBef>
              <a:spcAft>
                <a:spcPts val="0"/>
              </a:spcAft>
              <a:buClr>
                <a:schemeClr val="dk1"/>
              </a:buClr>
              <a:buSzPts val="1800"/>
              <a:buFont typeface="Wingdings" panose="05000000000000000000" pitchFamily="2" charset="2"/>
              <a:buChar char="q"/>
            </a:pPr>
            <a:r>
              <a:rPr lang="el-GR" sz="1800" dirty="0">
                <a:latin typeface="Tahoma"/>
                <a:ea typeface="Tahoma"/>
                <a:cs typeface="Tahoma"/>
                <a:sym typeface="Tahoma"/>
              </a:rPr>
              <a:t>Με αυτόν τον τρόπο, το μοντέλο επικεντρώνεται στην εκμάθηση ενεργών μοτίβων χρήσης, ενώ οι μηδενικές εγγραφές προστέθηκαν εκ νέου για να ληφθούν υπόψη στη συνολική στατιστική κατανομή.</a:t>
            </a:r>
            <a:endParaRPr sz="1400" dirty="0">
              <a:latin typeface="Tahoma"/>
              <a:ea typeface="Tahoma"/>
              <a:cs typeface="Tahoma"/>
              <a:sym typeface="Tahoma"/>
            </a:endParaRPr>
          </a:p>
        </p:txBody>
      </p:sp>
      <p:pic>
        <p:nvPicPr>
          <p:cNvPr id="1028" name="Picture 4">
            <a:extLst>
              <a:ext uri="{FF2B5EF4-FFF2-40B4-BE49-F238E27FC236}">
                <a16:creationId xmlns:a16="http://schemas.microsoft.com/office/drawing/2014/main" id="{1BD946FF-84DA-EA47-053C-B0E48C0B1DF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08351" y="1791446"/>
            <a:ext cx="6412058" cy="4467126"/>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442071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17"/>
        <p:cNvGrpSpPr/>
        <p:nvPr/>
      </p:nvGrpSpPr>
      <p:grpSpPr>
        <a:xfrm>
          <a:off x="0" y="0"/>
          <a:ext cx="0" cy="0"/>
          <a:chOff x="0" y="0"/>
          <a:chExt cx="0" cy="0"/>
        </a:xfrm>
      </p:grpSpPr>
      <p:sp>
        <p:nvSpPr>
          <p:cNvPr id="318" name="Google Shape;318;p20"/>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venir"/>
              <a:ea typeface="Avenir"/>
              <a:cs typeface="Avenir"/>
              <a:sym typeface="Avenir"/>
            </a:endParaRPr>
          </a:p>
        </p:txBody>
      </p:sp>
      <p:sp>
        <p:nvSpPr>
          <p:cNvPr id="319" name="Google Shape;319;p20"/>
          <p:cNvSpPr/>
          <p:nvPr/>
        </p:nvSpPr>
        <p:spPr>
          <a:xfrm>
            <a:off x="409575" y="633619"/>
            <a:ext cx="6838569" cy="5495925"/>
          </a:xfrm>
          <a:prstGeom prst="rect">
            <a:avLst/>
          </a:prstGeom>
          <a:solidFill>
            <a:schemeClr val="lt1"/>
          </a:solidFill>
          <a:ln w="9525" cap="flat" cmpd="sng">
            <a:solidFill>
              <a:srgbClr val="F1E3F1"/>
            </a:solidFill>
            <a:prstDash val="solid"/>
            <a:miter lim="800000"/>
            <a:headEnd type="none" w="sm" len="sm"/>
            <a:tailEnd type="none" w="sm" len="sm"/>
          </a:ln>
          <a:effectLst>
            <a:outerShdw blurRad="50800" dist="38100" dir="2700000" algn="tl" rotWithShape="0">
              <a:srgbClr val="D8D8D8">
                <a:alpha val="29803"/>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FFFFFF"/>
              </a:solidFill>
              <a:latin typeface="Calibri"/>
              <a:ea typeface="Calibri"/>
              <a:cs typeface="Calibri"/>
              <a:sym typeface="Calibri"/>
            </a:endParaRPr>
          </a:p>
        </p:txBody>
      </p:sp>
      <p:sp>
        <p:nvSpPr>
          <p:cNvPr id="320" name="Google Shape;320;p20"/>
          <p:cNvSpPr txBox="1">
            <a:spLocks noGrp="1"/>
          </p:cNvSpPr>
          <p:nvPr>
            <p:ph type="title"/>
          </p:nvPr>
        </p:nvSpPr>
        <p:spPr>
          <a:xfrm>
            <a:off x="841246" y="978619"/>
            <a:ext cx="5991244" cy="110642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200"/>
              <a:buFont typeface="Avenir"/>
              <a:buNone/>
            </a:pPr>
            <a:r>
              <a:rPr lang="el-GR" sz="3200" dirty="0">
                <a:latin typeface="Tahoma" panose="020B0604030504040204" pitchFamily="34" charset="0"/>
                <a:ea typeface="Tahoma" panose="020B0604030504040204" pitchFamily="34" charset="0"/>
                <a:cs typeface="Tahoma" panose="020B0604030504040204" pitchFamily="34" charset="0"/>
              </a:rPr>
              <a:t>Κανονικοποίηση </a:t>
            </a:r>
            <a:endParaRPr sz="3200" dirty="0">
              <a:latin typeface="Tahoma" panose="020B0604030504040204" pitchFamily="34" charset="0"/>
              <a:ea typeface="Tahoma" panose="020B0604030504040204" pitchFamily="34" charset="0"/>
              <a:cs typeface="Tahoma" panose="020B0604030504040204" pitchFamily="34" charset="0"/>
            </a:endParaRPr>
          </a:p>
        </p:txBody>
      </p:sp>
      <p:sp>
        <p:nvSpPr>
          <p:cNvPr id="321" name="Google Shape;321;p20"/>
          <p:cNvSpPr/>
          <p:nvPr/>
        </p:nvSpPr>
        <p:spPr>
          <a:xfrm>
            <a:off x="345567" y="1171300"/>
            <a:ext cx="128016" cy="704088"/>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FFFFFF"/>
              </a:solidFill>
              <a:latin typeface="Calibri"/>
              <a:ea typeface="Calibri"/>
              <a:cs typeface="Calibri"/>
              <a:sym typeface="Calibri"/>
            </a:endParaRPr>
          </a:p>
        </p:txBody>
      </p:sp>
      <p:sp>
        <p:nvSpPr>
          <p:cNvPr id="322" name="Google Shape;322;p20"/>
          <p:cNvSpPr/>
          <p:nvPr/>
        </p:nvSpPr>
        <p:spPr>
          <a:xfrm>
            <a:off x="877458" y="2093976"/>
            <a:ext cx="5846683" cy="9144"/>
          </a:xfrm>
          <a:prstGeom prst="rect">
            <a:avLst/>
          </a:prstGeom>
          <a:solidFill>
            <a:srgbClr val="D6BDD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FFFFFF"/>
              </a:solidFill>
              <a:latin typeface="Calibri"/>
              <a:ea typeface="Calibri"/>
              <a:cs typeface="Calibri"/>
              <a:sym typeface="Calibri"/>
            </a:endParaRPr>
          </a:p>
        </p:txBody>
      </p:sp>
      <p:sp>
        <p:nvSpPr>
          <p:cNvPr id="323" name="Google Shape;323;p20"/>
          <p:cNvSpPr txBox="1">
            <a:spLocks noGrp="1"/>
          </p:cNvSpPr>
          <p:nvPr>
            <p:ph type="body" idx="1"/>
          </p:nvPr>
        </p:nvSpPr>
        <p:spPr>
          <a:xfrm>
            <a:off x="841246" y="2114551"/>
            <a:ext cx="5993892" cy="4109830"/>
          </a:xfrm>
          <a:prstGeom prst="rect">
            <a:avLst/>
          </a:prstGeom>
          <a:noFill/>
          <a:ln>
            <a:noFill/>
          </a:ln>
        </p:spPr>
        <p:txBody>
          <a:bodyPr spcFirstLastPara="1" wrap="square" lIns="91425" tIns="45700" rIns="91425" bIns="45700" anchor="t" anchorCtr="0">
            <a:normAutofit lnSpcReduction="10000"/>
          </a:bodyPr>
          <a:lstStyle/>
          <a:p>
            <a:pPr marL="0" lvl="0" indent="0" algn="l" rtl="0">
              <a:lnSpc>
                <a:spcPct val="100000"/>
              </a:lnSpc>
              <a:spcBef>
                <a:spcPts val="0"/>
              </a:spcBef>
              <a:spcAft>
                <a:spcPts val="0"/>
              </a:spcAft>
              <a:buClr>
                <a:schemeClr val="dk1"/>
              </a:buClr>
              <a:buSzPct val="100000"/>
              <a:buNone/>
            </a:pPr>
            <a:r>
              <a:rPr lang="el-GR" sz="1400" b="1" dirty="0">
                <a:latin typeface="Tahoma"/>
                <a:ea typeface="Tahoma"/>
                <a:cs typeface="Tahoma"/>
                <a:sym typeface="Tahoma"/>
              </a:rPr>
              <a:t>Κοινή κλίμακα (μ=0, σ=1): </a:t>
            </a:r>
            <a:endParaRPr sz="1400" b="1" dirty="0">
              <a:latin typeface="Tahoma"/>
              <a:ea typeface="Tahoma"/>
              <a:cs typeface="Tahoma"/>
              <a:sym typeface="Tahoma"/>
            </a:endParaRPr>
          </a:p>
          <a:p>
            <a:pPr marL="228600" lvl="0" indent="-228600" algn="l" rtl="0">
              <a:lnSpc>
                <a:spcPct val="100000"/>
              </a:lnSpc>
              <a:spcBef>
                <a:spcPts val="1000"/>
              </a:spcBef>
              <a:spcAft>
                <a:spcPts val="0"/>
              </a:spcAft>
              <a:buClr>
                <a:schemeClr val="dk1"/>
              </a:buClr>
              <a:buSzPct val="100000"/>
              <a:buFont typeface="Noto Sans Symbols"/>
              <a:buChar char="❑"/>
            </a:pPr>
            <a:r>
              <a:rPr lang="el-GR" sz="1400" dirty="0">
                <a:latin typeface="Tahoma"/>
                <a:ea typeface="Tahoma"/>
                <a:cs typeface="Tahoma"/>
                <a:sym typeface="Tahoma"/>
              </a:rPr>
              <a:t>Η Z-</a:t>
            </a:r>
            <a:r>
              <a:rPr lang="el-GR" sz="1400" dirty="0" err="1">
                <a:latin typeface="Tahoma"/>
                <a:ea typeface="Tahoma"/>
                <a:cs typeface="Tahoma"/>
                <a:sym typeface="Tahoma"/>
              </a:rPr>
              <a:t>score</a:t>
            </a:r>
            <a:r>
              <a:rPr lang="el-GR" sz="1400" dirty="0">
                <a:latin typeface="Tahoma"/>
                <a:ea typeface="Tahoma"/>
                <a:cs typeface="Tahoma"/>
                <a:sym typeface="Tahoma"/>
              </a:rPr>
              <a:t> </a:t>
            </a:r>
            <a:r>
              <a:rPr lang="el-GR" sz="1400" dirty="0" err="1">
                <a:latin typeface="Tahoma"/>
                <a:ea typeface="Tahoma"/>
                <a:cs typeface="Tahoma"/>
                <a:sym typeface="Tahoma"/>
              </a:rPr>
              <a:t>κανονικοποίηση</a:t>
            </a:r>
            <a:r>
              <a:rPr lang="el-GR" sz="1400" dirty="0">
                <a:latin typeface="Tahoma"/>
                <a:ea typeface="Tahoma"/>
                <a:cs typeface="Tahoma"/>
                <a:sym typeface="Tahoma"/>
              </a:rPr>
              <a:t> έφερε όλες τις μεταβλητές σε κοινό πεδίο (μ=0, σ=1). </a:t>
            </a:r>
            <a:endParaRPr sz="1400" b="1" dirty="0">
              <a:latin typeface="Tahoma"/>
              <a:ea typeface="Tahoma"/>
              <a:cs typeface="Tahoma"/>
              <a:sym typeface="Tahoma"/>
            </a:endParaRPr>
          </a:p>
          <a:p>
            <a:pPr marL="228600" lvl="0" indent="-228600" algn="l" rtl="0">
              <a:lnSpc>
                <a:spcPct val="100000"/>
              </a:lnSpc>
              <a:spcBef>
                <a:spcPts val="1000"/>
              </a:spcBef>
              <a:spcAft>
                <a:spcPts val="0"/>
              </a:spcAft>
              <a:buClr>
                <a:schemeClr val="dk1"/>
              </a:buClr>
              <a:buSzPct val="100000"/>
              <a:buFont typeface="Noto Sans Symbols"/>
              <a:buChar char="❑"/>
            </a:pPr>
            <a:r>
              <a:rPr lang="el-GR" sz="1400" dirty="0">
                <a:latin typeface="Tahoma"/>
                <a:ea typeface="Tahoma"/>
                <a:cs typeface="Tahoma"/>
                <a:sym typeface="Tahoma"/>
              </a:rPr>
              <a:t>Οι περισσότεροι χρήστες/συνεδρίες δεν είχαν κλήσεις → αρχικά τιμή = 0 σε πολύ μεγάλο ποσοστό δειγμάτων.</a:t>
            </a:r>
            <a:endParaRPr sz="1400" dirty="0">
              <a:latin typeface="Tahoma"/>
              <a:ea typeface="Tahoma"/>
              <a:cs typeface="Tahoma"/>
              <a:sym typeface="Tahoma"/>
            </a:endParaRPr>
          </a:p>
          <a:p>
            <a:pPr marL="228600" lvl="0" indent="-228600" algn="l" rtl="0">
              <a:lnSpc>
                <a:spcPct val="100000"/>
              </a:lnSpc>
              <a:spcBef>
                <a:spcPts val="1000"/>
              </a:spcBef>
              <a:spcAft>
                <a:spcPts val="0"/>
              </a:spcAft>
              <a:buClr>
                <a:schemeClr val="dk1"/>
              </a:buClr>
              <a:buSzPct val="100000"/>
              <a:buFont typeface="Noto Sans Symbols"/>
              <a:buChar char="❑"/>
            </a:pPr>
            <a:r>
              <a:rPr lang="el-GR" sz="1400" dirty="0">
                <a:latin typeface="Tahoma"/>
                <a:ea typeface="Tahoma"/>
                <a:cs typeface="Tahoma"/>
                <a:sym typeface="Tahoma"/>
              </a:rPr>
              <a:t>Υπολογίζουμε 𝑧=(𝑥−𝜇)/𝜎​ , όπου 𝑥 είναι η αρχική τιμή </a:t>
            </a:r>
            <a:r>
              <a:rPr lang="el-GR" sz="1400" dirty="0" err="1">
                <a:latin typeface="Tahoma"/>
                <a:ea typeface="Tahoma"/>
                <a:cs typeface="Tahoma"/>
                <a:sym typeface="Tahoma"/>
              </a:rPr>
              <a:t>callin</a:t>
            </a:r>
            <a:r>
              <a:rPr lang="el-GR" sz="1400" dirty="0">
                <a:latin typeface="Tahoma"/>
                <a:ea typeface="Tahoma"/>
                <a:cs typeface="Tahoma"/>
                <a:sym typeface="Tahoma"/>
              </a:rPr>
              <a:t>, 𝜇 ο μέσος όλων των τιμών, και 𝜎 η τυπική απόκλιση. Για όλα τα ακριβώς μηδενικά 𝑥=0, ο τύπος δίνει πάντα την ίδια αριθμητική τιμή, (0−𝜇)/𝜎=𝑐 </a:t>
            </a:r>
            <a:endParaRPr dirty="0"/>
          </a:p>
          <a:p>
            <a:pPr marL="228600" lvl="0" indent="-228600" algn="l" rtl="0">
              <a:lnSpc>
                <a:spcPct val="100000"/>
              </a:lnSpc>
              <a:spcBef>
                <a:spcPts val="1000"/>
              </a:spcBef>
              <a:spcAft>
                <a:spcPts val="0"/>
              </a:spcAft>
              <a:buClr>
                <a:schemeClr val="dk1"/>
              </a:buClr>
              <a:buSzPct val="100000"/>
              <a:buFont typeface="Noto Sans Symbols"/>
              <a:buChar char="❑"/>
            </a:pPr>
            <a:r>
              <a:rPr lang="el-GR" sz="1400" dirty="0">
                <a:latin typeface="Tahoma"/>
                <a:ea typeface="Tahoma"/>
                <a:cs typeface="Tahoma"/>
                <a:sym typeface="Tahoma"/>
              </a:rPr>
              <a:t>Όλα αυτά τα χιλιάδες σημεία με 𝑥=0 γίνονται ένα μόνο </a:t>
            </a:r>
            <a:r>
              <a:rPr lang="el-GR" sz="1400" dirty="0" err="1">
                <a:latin typeface="Tahoma"/>
                <a:ea typeface="Tahoma"/>
                <a:cs typeface="Tahoma"/>
                <a:sym typeface="Tahoma"/>
              </a:rPr>
              <a:t>bin</a:t>
            </a:r>
            <a:r>
              <a:rPr lang="el-GR" sz="1400" dirty="0">
                <a:latin typeface="Tahoma"/>
                <a:ea typeface="Tahoma"/>
                <a:cs typeface="Tahoma"/>
                <a:sym typeface="Tahoma"/>
              </a:rPr>
              <a:t> στην τιμή 𝑧=𝑐. </a:t>
            </a:r>
            <a:r>
              <a:rPr lang="el-GR" sz="1400" dirty="0" err="1">
                <a:latin typeface="Tahoma"/>
                <a:ea typeface="Tahoma"/>
                <a:cs typeface="Tahoma"/>
                <a:sym typeface="Tahoma"/>
              </a:rPr>
              <a:t>Εξού</a:t>
            </a:r>
            <a:r>
              <a:rPr lang="el-GR" sz="1400" dirty="0">
                <a:latin typeface="Tahoma"/>
                <a:ea typeface="Tahoma"/>
                <a:cs typeface="Tahoma"/>
                <a:sym typeface="Tahoma"/>
              </a:rPr>
              <a:t> και η πολύ ψηλή στήλη: απεικονίζει τον όγκο των “μηδενικών” δειγμάτων ως ένα σημείο στην </a:t>
            </a:r>
            <a:r>
              <a:rPr lang="el-GR" sz="1400" dirty="0" err="1">
                <a:latin typeface="Tahoma"/>
                <a:ea typeface="Tahoma"/>
                <a:cs typeface="Tahoma"/>
                <a:sym typeface="Tahoma"/>
              </a:rPr>
              <a:t>κανονικοποιημένη</a:t>
            </a:r>
            <a:r>
              <a:rPr lang="el-GR" sz="1400" dirty="0">
                <a:latin typeface="Tahoma"/>
                <a:ea typeface="Tahoma"/>
                <a:cs typeface="Tahoma"/>
                <a:sym typeface="Tahoma"/>
              </a:rPr>
              <a:t> κλίμακα.</a:t>
            </a:r>
            <a:endParaRPr sz="1400" dirty="0">
              <a:latin typeface="Tahoma"/>
              <a:ea typeface="Tahoma"/>
              <a:cs typeface="Tahoma"/>
              <a:sym typeface="Tahoma"/>
            </a:endParaRPr>
          </a:p>
          <a:p>
            <a:pPr marL="228600" lvl="0" indent="-228600" algn="l" rtl="0">
              <a:lnSpc>
                <a:spcPct val="100000"/>
              </a:lnSpc>
              <a:spcBef>
                <a:spcPts val="1000"/>
              </a:spcBef>
              <a:spcAft>
                <a:spcPts val="0"/>
              </a:spcAft>
              <a:buClr>
                <a:schemeClr val="dk1"/>
              </a:buClr>
              <a:buSzPct val="100000"/>
              <a:buFont typeface="Noto Sans Symbols"/>
              <a:buChar char="❑"/>
            </a:pPr>
            <a:r>
              <a:rPr lang="el-GR" sz="1400" dirty="0">
                <a:latin typeface="Tahoma"/>
                <a:ea typeface="Tahoma"/>
                <a:cs typeface="Tahoma"/>
                <a:sym typeface="Tahoma"/>
              </a:rPr>
              <a:t>Κάθε διαφορετική αρχική τιμή 𝑥&gt;0 μετατρέπεται σε διαφορετικό 𝑧 και έτσι «απλώνεται» δεξιά από το </a:t>
            </a:r>
            <a:r>
              <a:rPr lang="el-GR" sz="1400" dirty="0" err="1">
                <a:latin typeface="Tahoma"/>
                <a:ea typeface="Tahoma"/>
                <a:cs typeface="Tahoma"/>
                <a:sym typeface="Tahoma"/>
              </a:rPr>
              <a:t>spike</a:t>
            </a:r>
            <a:r>
              <a:rPr lang="el-GR" sz="1400" dirty="0">
                <a:latin typeface="Tahoma"/>
                <a:ea typeface="Tahoma"/>
                <a:cs typeface="Tahoma"/>
                <a:sym typeface="Tahoma"/>
              </a:rPr>
              <a:t>. Επειδή όμως οι μη-μηδενικές τιμές είναι σχετικά σπάνιες, αυτές οι στήλες έχουν πολύ μικρότερη συχνότητα.</a:t>
            </a:r>
            <a:endParaRPr dirty="0"/>
          </a:p>
        </p:txBody>
      </p:sp>
      <p:pic>
        <p:nvPicPr>
          <p:cNvPr id="324" name="Google Shape;324;p20" descr="A green line graph with numbers&#10;&#10;AI-generated content may be incorrect."/>
          <p:cNvPicPr preferRelativeResize="0"/>
          <p:nvPr/>
        </p:nvPicPr>
        <p:blipFill rotWithShape="1">
          <a:blip r:embed="rId3">
            <a:alphaModFix/>
          </a:blip>
          <a:srcRect/>
          <a:stretch/>
        </p:blipFill>
        <p:spPr>
          <a:xfrm>
            <a:off x="7679814" y="1383954"/>
            <a:ext cx="4097657" cy="3989507"/>
          </a:xfrm>
          <a:prstGeom prst="rect">
            <a:avLst/>
          </a:prstGeom>
          <a:ln>
            <a:noFill/>
          </a:ln>
          <a:effectLst>
            <a:outerShdw blurRad="190500" algn="tl" rotWithShape="0">
              <a:srgbClr val="000000">
                <a:alpha val="70000"/>
              </a:srgbClr>
            </a:outerShdw>
          </a:effec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41"/>
        <p:cNvGrpSpPr/>
        <p:nvPr/>
      </p:nvGrpSpPr>
      <p:grpSpPr>
        <a:xfrm>
          <a:off x="0" y="0"/>
          <a:ext cx="0" cy="0"/>
          <a:chOff x="0" y="0"/>
          <a:chExt cx="0" cy="0"/>
        </a:xfrm>
      </p:grpSpPr>
      <p:sp>
        <p:nvSpPr>
          <p:cNvPr id="342" name="Google Shape;342;p22"/>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venir"/>
              <a:ea typeface="Avenir"/>
              <a:cs typeface="Avenir"/>
              <a:sym typeface="Avenir"/>
            </a:endParaRPr>
          </a:p>
        </p:txBody>
      </p:sp>
      <p:sp>
        <p:nvSpPr>
          <p:cNvPr id="343" name="Google Shape;343;p22"/>
          <p:cNvSpPr txBox="1">
            <a:spLocks noGrp="1"/>
          </p:cNvSpPr>
          <p:nvPr>
            <p:ph type="title"/>
          </p:nvPr>
        </p:nvSpPr>
        <p:spPr>
          <a:xfrm>
            <a:off x="411480" y="991443"/>
            <a:ext cx="4443154" cy="1087819"/>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dk1"/>
              </a:buClr>
              <a:buSzPts val="3400"/>
              <a:buFont typeface="Avenir"/>
              <a:buNone/>
            </a:pPr>
            <a:r>
              <a:rPr lang="el-GR" sz="3400" dirty="0" err="1">
                <a:latin typeface="Tahoma" panose="020B0604030504040204" pitchFamily="34" charset="0"/>
                <a:ea typeface="Tahoma" panose="020B0604030504040204" pitchFamily="34" charset="0"/>
                <a:cs typeface="Tahoma" panose="020B0604030504040204" pitchFamily="34" charset="0"/>
              </a:rPr>
              <a:t>Pair</a:t>
            </a:r>
            <a:r>
              <a:rPr lang="el-GR" sz="3400" dirty="0">
                <a:latin typeface="Tahoma" panose="020B0604030504040204" pitchFamily="34" charset="0"/>
                <a:ea typeface="Tahoma" panose="020B0604030504040204" pitchFamily="34" charset="0"/>
                <a:cs typeface="Tahoma" panose="020B0604030504040204" pitchFamily="34" charset="0"/>
              </a:rPr>
              <a:t> </a:t>
            </a:r>
            <a:r>
              <a:rPr lang="el-GR" sz="3400" dirty="0" err="1">
                <a:latin typeface="Tahoma" panose="020B0604030504040204" pitchFamily="34" charset="0"/>
                <a:ea typeface="Tahoma" panose="020B0604030504040204" pitchFamily="34" charset="0"/>
                <a:cs typeface="Tahoma" panose="020B0604030504040204" pitchFamily="34" charset="0"/>
              </a:rPr>
              <a:t>Plot</a:t>
            </a:r>
            <a:endParaRPr sz="3400" dirty="0">
              <a:latin typeface="Tahoma" panose="020B0604030504040204" pitchFamily="34" charset="0"/>
              <a:ea typeface="Tahoma" panose="020B0604030504040204" pitchFamily="34" charset="0"/>
              <a:cs typeface="Tahoma" panose="020B0604030504040204" pitchFamily="34" charset="0"/>
            </a:endParaRPr>
          </a:p>
        </p:txBody>
      </p:sp>
      <p:sp>
        <p:nvSpPr>
          <p:cNvPr id="344" name="Google Shape;344;p22"/>
          <p:cNvSpPr/>
          <p:nvPr/>
        </p:nvSpPr>
        <p:spPr>
          <a:xfrm rot="5400000">
            <a:off x="649223" y="387939"/>
            <a:ext cx="73152" cy="54864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FFFFFF"/>
              </a:solidFill>
              <a:latin typeface="Calibri"/>
              <a:ea typeface="Calibri"/>
              <a:cs typeface="Calibri"/>
              <a:sym typeface="Calibri"/>
            </a:endParaRPr>
          </a:p>
        </p:txBody>
      </p:sp>
      <p:sp>
        <p:nvSpPr>
          <p:cNvPr id="345" name="Google Shape;345;p22"/>
          <p:cNvSpPr/>
          <p:nvPr/>
        </p:nvSpPr>
        <p:spPr>
          <a:xfrm>
            <a:off x="411480" y="2285541"/>
            <a:ext cx="4389120" cy="18288"/>
          </a:xfrm>
          <a:prstGeom prst="rect">
            <a:avLst/>
          </a:prstGeom>
          <a:solidFill>
            <a:srgbClr val="D6BDD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FFFFFF"/>
              </a:solidFill>
              <a:latin typeface="Calibri"/>
              <a:ea typeface="Calibri"/>
              <a:cs typeface="Calibri"/>
              <a:sym typeface="Calibri"/>
            </a:endParaRPr>
          </a:p>
        </p:txBody>
      </p:sp>
      <p:sp>
        <p:nvSpPr>
          <p:cNvPr id="346" name="Google Shape;346;p22"/>
          <p:cNvSpPr txBox="1">
            <a:spLocks noGrp="1"/>
          </p:cNvSpPr>
          <p:nvPr>
            <p:ph type="body" idx="1"/>
          </p:nvPr>
        </p:nvSpPr>
        <p:spPr>
          <a:xfrm>
            <a:off x="411480" y="2684095"/>
            <a:ext cx="4443154" cy="3492868"/>
          </a:xfrm>
          <a:prstGeom prst="rect">
            <a:avLst/>
          </a:prstGeom>
          <a:noFill/>
          <a:ln>
            <a:noFill/>
          </a:ln>
        </p:spPr>
        <p:txBody>
          <a:bodyPr spcFirstLastPara="1" wrap="square" lIns="91425" tIns="45700" rIns="91425" bIns="45700" anchor="t" anchorCtr="0">
            <a:normAutofit fontScale="92500" lnSpcReduction="20000"/>
          </a:bodyPr>
          <a:lstStyle/>
          <a:p>
            <a:pPr marL="228600" lvl="0" indent="-228631" algn="l" rtl="0">
              <a:lnSpc>
                <a:spcPct val="110000"/>
              </a:lnSpc>
              <a:spcBef>
                <a:spcPts val="0"/>
              </a:spcBef>
              <a:spcAft>
                <a:spcPts val="0"/>
              </a:spcAft>
              <a:buClr>
                <a:schemeClr val="dk1"/>
              </a:buClr>
              <a:buSzPct val="100000"/>
              <a:buFont typeface="Noto Sans Symbols"/>
              <a:buChar char="❑"/>
            </a:pPr>
            <a:r>
              <a:rPr lang="el-GR" sz="1700">
                <a:latin typeface="Tahoma"/>
                <a:ea typeface="Tahoma"/>
                <a:cs typeface="Tahoma"/>
                <a:sym typeface="Tahoma"/>
              </a:rPr>
              <a:t>Ενα σύνολο από διαγράμματα διασποράς και κατανομές, γνωστό ως pair plot ή scatter plot matrix. Στη διαγώνιο εμφανίζονται οι κατανομές των αντίστοιχων μεταβλητών, ενώ στις υπόλοιπες θέσεις υπάρχουν διαγράμματα διασποράς που δείχνουν τη σχέση μεταξύ δύο μεταβλητών κάθε φορά. </a:t>
            </a:r>
            <a:endParaRPr sz="1700">
              <a:latin typeface="Tahoma"/>
              <a:ea typeface="Tahoma"/>
              <a:cs typeface="Tahoma"/>
              <a:sym typeface="Tahoma"/>
            </a:endParaRPr>
          </a:p>
          <a:p>
            <a:pPr marL="228600" lvl="0" indent="-228631" algn="l" rtl="0">
              <a:lnSpc>
                <a:spcPct val="110000"/>
              </a:lnSpc>
              <a:spcBef>
                <a:spcPts val="1000"/>
              </a:spcBef>
              <a:spcAft>
                <a:spcPts val="0"/>
              </a:spcAft>
              <a:buClr>
                <a:schemeClr val="dk1"/>
              </a:buClr>
              <a:buSzPct val="100000"/>
              <a:buFont typeface="Noto Sans Symbols"/>
              <a:buChar char="❑"/>
            </a:pPr>
            <a:r>
              <a:rPr lang="el-GR" sz="1700">
                <a:latin typeface="Tahoma"/>
                <a:ea typeface="Tahoma"/>
                <a:cs typeface="Tahoma"/>
                <a:sym typeface="Tahoma"/>
              </a:rPr>
              <a:t>Υψηλό ποσοστό μηδενικών σημαίνει ότι πολλοί χρήστες/συνεδρίες δεν χρησιμοποιούν κάποια υπηρεσία. Οι ισχυρές συσχετίσεις SMS↔SMS και κλήσεων↔κλήσεων δείχνουν ότι όποιος στέλνει ή λαμβάνει SMS/κλήσεις συνήθως κάνει και το αντίστροφο.</a:t>
            </a:r>
            <a:endParaRPr sz="1700">
              <a:latin typeface="Tahoma"/>
              <a:ea typeface="Tahoma"/>
              <a:cs typeface="Tahoma"/>
              <a:sym typeface="Tahoma"/>
            </a:endParaRPr>
          </a:p>
        </p:txBody>
      </p:sp>
      <p:pic>
        <p:nvPicPr>
          <p:cNvPr id="347" name="Google Shape;347;p22" descr="A group of blue dots&#10;&#10;AI-generated content may be incorrect."/>
          <p:cNvPicPr preferRelativeResize="0"/>
          <p:nvPr/>
        </p:nvPicPr>
        <p:blipFill rotWithShape="1">
          <a:blip r:embed="rId3">
            <a:alphaModFix/>
          </a:blip>
          <a:srcRect/>
          <a:stretch/>
        </p:blipFill>
        <p:spPr>
          <a:xfrm>
            <a:off x="5723314" y="410974"/>
            <a:ext cx="5824790" cy="6036052"/>
          </a:xfrm>
          <a:prstGeom prst="rect">
            <a:avLst/>
          </a:prstGeom>
          <a:ln>
            <a:noFill/>
          </a:ln>
          <a:effectLst>
            <a:outerShdw blurRad="190500" algn="tl" rotWithShape="0">
              <a:srgbClr val="000000">
                <a:alpha val="70000"/>
              </a:srgbClr>
            </a:outerShdw>
          </a:effec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52"/>
        <p:cNvGrpSpPr/>
        <p:nvPr/>
      </p:nvGrpSpPr>
      <p:grpSpPr>
        <a:xfrm>
          <a:off x="0" y="0"/>
          <a:ext cx="0" cy="0"/>
          <a:chOff x="0" y="0"/>
          <a:chExt cx="0" cy="0"/>
        </a:xfrm>
      </p:grpSpPr>
      <p:sp>
        <p:nvSpPr>
          <p:cNvPr id="353" name="Google Shape;353;p23"/>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venir"/>
              <a:ea typeface="Avenir"/>
              <a:cs typeface="Avenir"/>
              <a:sym typeface="Avenir"/>
            </a:endParaRPr>
          </a:p>
        </p:txBody>
      </p:sp>
      <p:sp>
        <p:nvSpPr>
          <p:cNvPr id="354" name="Google Shape;354;p23"/>
          <p:cNvSpPr txBox="1">
            <a:spLocks noGrp="1"/>
          </p:cNvSpPr>
          <p:nvPr>
            <p:ph type="title"/>
          </p:nvPr>
        </p:nvSpPr>
        <p:spPr>
          <a:xfrm>
            <a:off x="411480" y="991443"/>
            <a:ext cx="4443154" cy="1087819"/>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dk1"/>
              </a:buClr>
              <a:buSzPts val="3400"/>
              <a:buFont typeface="Avenir"/>
              <a:buNone/>
            </a:pPr>
            <a:r>
              <a:rPr lang="el-GR" sz="3400" dirty="0" err="1">
                <a:latin typeface="Tahoma" panose="020B0604030504040204" pitchFamily="34" charset="0"/>
                <a:ea typeface="Tahoma" panose="020B0604030504040204" pitchFamily="34" charset="0"/>
                <a:cs typeface="Tahoma" panose="020B0604030504040204" pitchFamily="34" charset="0"/>
              </a:rPr>
              <a:t>Correlation</a:t>
            </a:r>
            <a:r>
              <a:rPr lang="el-GR" sz="3400" dirty="0">
                <a:latin typeface="Tahoma" panose="020B0604030504040204" pitchFamily="34" charset="0"/>
                <a:ea typeface="Tahoma" panose="020B0604030504040204" pitchFamily="34" charset="0"/>
                <a:cs typeface="Tahoma" panose="020B0604030504040204" pitchFamily="34" charset="0"/>
              </a:rPr>
              <a:t> </a:t>
            </a:r>
            <a:r>
              <a:rPr lang="el-GR" sz="3400" dirty="0" err="1">
                <a:latin typeface="Tahoma" panose="020B0604030504040204" pitchFamily="34" charset="0"/>
                <a:ea typeface="Tahoma" panose="020B0604030504040204" pitchFamily="34" charset="0"/>
                <a:cs typeface="Tahoma" panose="020B0604030504040204" pitchFamily="34" charset="0"/>
              </a:rPr>
              <a:t>Matrix</a:t>
            </a:r>
            <a:endParaRPr sz="3400" dirty="0">
              <a:latin typeface="Tahoma" panose="020B0604030504040204" pitchFamily="34" charset="0"/>
              <a:ea typeface="Tahoma" panose="020B0604030504040204" pitchFamily="34" charset="0"/>
              <a:cs typeface="Tahoma" panose="020B0604030504040204" pitchFamily="34" charset="0"/>
            </a:endParaRPr>
          </a:p>
        </p:txBody>
      </p:sp>
      <p:sp>
        <p:nvSpPr>
          <p:cNvPr id="355" name="Google Shape;355;p23"/>
          <p:cNvSpPr/>
          <p:nvPr/>
        </p:nvSpPr>
        <p:spPr>
          <a:xfrm rot="5400000">
            <a:off x="649223" y="387939"/>
            <a:ext cx="73152" cy="54864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FFFFFF"/>
              </a:solidFill>
              <a:latin typeface="Calibri"/>
              <a:ea typeface="Calibri"/>
              <a:cs typeface="Calibri"/>
              <a:sym typeface="Calibri"/>
            </a:endParaRPr>
          </a:p>
        </p:txBody>
      </p:sp>
      <p:sp>
        <p:nvSpPr>
          <p:cNvPr id="356" name="Google Shape;356;p23"/>
          <p:cNvSpPr/>
          <p:nvPr/>
        </p:nvSpPr>
        <p:spPr>
          <a:xfrm>
            <a:off x="411480" y="2285541"/>
            <a:ext cx="4389120" cy="18288"/>
          </a:xfrm>
          <a:prstGeom prst="rect">
            <a:avLst/>
          </a:prstGeom>
          <a:solidFill>
            <a:srgbClr val="D6BDD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FFFFFF"/>
              </a:solidFill>
              <a:latin typeface="Calibri"/>
              <a:ea typeface="Calibri"/>
              <a:cs typeface="Calibri"/>
              <a:sym typeface="Calibri"/>
            </a:endParaRPr>
          </a:p>
        </p:txBody>
      </p:sp>
      <p:sp>
        <p:nvSpPr>
          <p:cNvPr id="357" name="Google Shape;357;p23"/>
          <p:cNvSpPr txBox="1">
            <a:spLocks noGrp="1"/>
          </p:cNvSpPr>
          <p:nvPr>
            <p:ph type="body" idx="1"/>
          </p:nvPr>
        </p:nvSpPr>
        <p:spPr>
          <a:xfrm>
            <a:off x="411480" y="2584016"/>
            <a:ext cx="4443154" cy="3993796"/>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100000"/>
              </a:lnSpc>
              <a:spcBef>
                <a:spcPts val="0"/>
              </a:spcBef>
              <a:spcAft>
                <a:spcPts val="0"/>
              </a:spcAft>
              <a:buClr>
                <a:schemeClr val="dk1"/>
              </a:buClr>
              <a:buSzPts val="1600"/>
              <a:buFont typeface="Noto Sans Symbols"/>
              <a:buChar char="❑"/>
            </a:pPr>
            <a:r>
              <a:rPr lang="el-GR" sz="1600" dirty="0">
                <a:latin typeface="Tahoma"/>
                <a:ea typeface="Tahoma"/>
                <a:cs typeface="Tahoma"/>
                <a:sym typeface="Tahoma"/>
              </a:rPr>
              <a:t>Το </a:t>
            </a:r>
            <a:r>
              <a:rPr lang="el-GR" sz="1600" dirty="0" err="1">
                <a:latin typeface="Tahoma"/>
                <a:ea typeface="Tahoma"/>
                <a:cs typeface="Tahoma"/>
                <a:sym typeface="Tahoma"/>
              </a:rPr>
              <a:t>heatmap</a:t>
            </a:r>
            <a:r>
              <a:rPr lang="el-GR" sz="1600" dirty="0">
                <a:latin typeface="Tahoma"/>
                <a:ea typeface="Tahoma"/>
                <a:cs typeface="Tahoma"/>
                <a:sym typeface="Tahoma"/>
              </a:rPr>
              <a:t> απεικονίζει τους συντελεστές συσχέτισης μεταξύ των </a:t>
            </a:r>
            <a:r>
              <a:rPr lang="el-GR" sz="1600" dirty="0" err="1">
                <a:latin typeface="Tahoma"/>
                <a:ea typeface="Tahoma"/>
                <a:cs typeface="Tahoma"/>
                <a:sym typeface="Tahoma"/>
              </a:rPr>
              <a:t>κανονικοποιημένων</a:t>
            </a:r>
            <a:r>
              <a:rPr lang="el-GR" sz="1600" dirty="0">
                <a:latin typeface="Tahoma"/>
                <a:ea typeface="Tahoma"/>
                <a:cs typeface="Tahoma"/>
                <a:sym typeface="Tahoma"/>
              </a:rPr>
              <a:t> λογαριθμικών τιμών των μεταβλητών (</a:t>
            </a:r>
            <a:r>
              <a:rPr lang="el-GR" sz="1600" dirty="0" err="1">
                <a:latin typeface="Tahoma"/>
                <a:ea typeface="Tahoma"/>
                <a:cs typeface="Tahoma"/>
                <a:sym typeface="Tahoma"/>
              </a:rPr>
              <a:t>smsin</a:t>
            </a:r>
            <a:r>
              <a:rPr lang="el-GR" sz="1600" dirty="0">
                <a:latin typeface="Tahoma"/>
                <a:ea typeface="Tahoma"/>
                <a:cs typeface="Tahoma"/>
                <a:sym typeface="Tahoma"/>
              </a:rPr>
              <a:t>, </a:t>
            </a:r>
            <a:r>
              <a:rPr lang="el-GR" sz="1600" dirty="0" err="1">
                <a:latin typeface="Tahoma"/>
                <a:ea typeface="Tahoma"/>
                <a:cs typeface="Tahoma"/>
                <a:sym typeface="Tahoma"/>
              </a:rPr>
              <a:t>smsout</a:t>
            </a:r>
            <a:r>
              <a:rPr lang="el-GR" sz="1600" dirty="0">
                <a:latin typeface="Tahoma"/>
                <a:ea typeface="Tahoma"/>
                <a:cs typeface="Tahoma"/>
                <a:sym typeface="Tahoma"/>
              </a:rPr>
              <a:t>, </a:t>
            </a:r>
            <a:r>
              <a:rPr lang="el-GR" sz="1600" dirty="0" err="1">
                <a:latin typeface="Tahoma"/>
                <a:ea typeface="Tahoma"/>
                <a:cs typeface="Tahoma"/>
                <a:sym typeface="Tahoma"/>
              </a:rPr>
              <a:t>callin</a:t>
            </a:r>
            <a:r>
              <a:rPr lang="el-GR" sz="1600" dirty="0">
                <a:latin typeface="Tahoma"/>
                <a:ea typeface="Tahoma"/>
                <a:cs typeface="Tahoma"/>
                <a:sym typeface="Tahoma"/>
              </a:rPr>
              <a:t>, </a:t>
            </a:r>
            <a:r>
              <a:rPr lang="el-GR" sz="1600" dirty="0" err="1">
                <a:latin typeface="Tahoma"/>
                <a:ea typeface="Tahoma"/>
                <a:cs typeface="Tahoma"/>
                <a:sym typeface="Tahoma"/>
              </a:rPr>
              <a:t>callout</a:t>
            </a:r>
            <a:r>
              <a:rPr lang="el-GR" sz="1600" dirty="0">
                <a:latin typeface="Tahoma"/>
                <a:ea typeface="Tahoma"/>
                <a:cs typeface="Tahoma"/>
                <a:sym typeface="Tahoma"/>
              </a:rPr>
              <a:t>, </a:t>
            </a:r>
            <a:r>
              <a:rPr lang="el-GR" sz="1600" dirty="0" err="1">
                <a:latin typeface="Tahoma"/>
                <a:ea typeface="Tahoma"/>
                <a:cs typeface="Tahoma"/>
                <a:sym typeface="Tahoma"/>
              </a:rPr>
              <a:t>internet</a:t>
            </a:r>
            <a:r>
              <a:rPr lang="el-GR" sz="1600" dirty="0">
                <a:latin typeface="Tahoma"/>
                <a:ea typeface="Tahoma"/>
                <a:cs typeface="Tahoma"/>
                <a:sym typeface="Tahoma"/>
              </a:rPr>
              <a:t>). Τιμές κοντά στο 1 υποδηλώνουν ισχυρή θετική συσχέτιση, ενώ τιμές κοντά στο 0 δείχνουν ελάχιστη ή μηδαμινή συσχέτιση.</a:t>
            </a:r>
            <a:endParaRPr sz="1600" dirty="0">
              <a:latin typeface="Tahoma"/>
              <a:ea typeface="Tahoma"/>
              <a:cs typeface="Tahoma"/>
              <a:sym typeface="Tahoma"/>
            </a:endParaRPr>
          </a:p>
          <a:p>
            <a:pPr marL="228600" lvl="0" indent="-228600" algn="l" rtl="0">
              <a:lnSpc>
                <a:spcPct val="100000"/>
              </a:lnSpc>
              <a:spcBef>
                <a:spcPts val="1000"/>
              </a:spcBef>
              <a:spcAft>
                <a:spcPts val="0"/>
              </a:spcAft>
              <a:buClr>
                <a:schemeClr val="dk1"/>
              </a:buClr>
              <a:buSzPts val="1600"/>
              <a:buFont typeface="Noto Sans Symbols"/>
              <a:buChar char="❑"/>
            </a:pPr>
            <a:r>
              <a:rPr lang="el-GR" sz="1600" b="1" dirty="0">
                <a:latin typeface="Tahoma"/>
                <a:ea typeface="Tahoma"/>
                <a:cs typeface="Tahoma"/>
                <a:sym typeface="Tahoma"/>
              </a:rPr>
              <a:t>Ισχυρές συσχετίσεις SMS↔SMS και </a:t>
            </a:r>
            <a:r>
              <a:rPr lang="el-GR" sz="1600" b="1" dirty="0" err="1">
                <a:latin typeface="Tahoma"/>
                <a:ea typeface="Tahoma"/>
                <a:cs typeface="Tahoma"/>
                <a:sym typeface="Tahoma"/>
              </a:rPr>
              <a:t>κλήσεων↔κλήσεων</a:t>
            </a:r>
            <a:r>
              <a:rPr lang="el-GR" sz="1600" b="1" dirty="0">
                <a:latin typeface="Tahoma"/>
                <a:ea typeface="Tahoma"/>
                <a:cs typeface="Tahoma"/>
                <a:sym typeface="Tahoma"/>
              </a:rPr>
              <a:t>:</a:t>
            </a:r>
            <a:endParaRPr dirty="0"/>
          </a:p>
          <a:p>
            <a:pPr marL="685800" lvl="1" indent="-228600" algn="l" rtl="0">
              <a:lnSpc>
                <a:spcPct val="100000"/>
              </a:lnSpc>
              <a:spcBef>
                <a:spcPts val="500"/>
              </a:spcBef>
              <a:spcAft>
                <a:spcPts val="0"/>
              </a:spcAft>
              <a:buClr>
                <a:schemeClr val="dk1"/>
              </a:buClr>
              <a:buSzPts val="1600"/>
              <a:buFont typeface="Noto Sans Symbols"/>
              <a:buChar char="❑"/>
            </a:pPr>
            <a:r>
              <a:rPr lang="el-GR" sz="1600" dirty="0" err="1">
                <a:latin typeface="Tahoma"/>
                <a:ea typeface="Tahoma"/>
                <a:cs typeface="Tahoma"/>
                <a:sym typeface="Tahoma"/>
              </a:rPr>
              <a:t>smsin</a:t>
            </a:r>
            <a:r>
              <a:rPr lang="el-GR" sz="1600" dirty="0">
                <a:latin typeface="Tahoma"/>
                <a:ea typeface="Tahoma"/>
                <a:cs typeface="Tahoma"/>
                <a:sym typeface="Tahoma"/>
              </a:rPr>
              <a:t> – </a:t>
            </a:r>
            <a:r>
              <a:rPr lang="el-GR" sz="1600" dirty="0" err="1">
                <a:latin typeface="Tahoma"/>
                <a:ea typeface="Tahoma"/>
                <a:cs typeface="Tahoma"/>
                <a:sym typeface="Tahoma"/>
              </a:rPr>
              <a:t>smsout</a:t>
            </a:r>
            <a:r>
              <a:rPr lang="el-GR" sz="1600" dirty="0">
                <a:latin typeface="Tahoma"/>
                <a:ea typeface="Tahoma"/>
                <a:cs typeface="Tahoma"/>
                <a:sym typeface="Tahoma"/>
              </a:rPr>
              <a:t>: 0.58 → όποιος στέλνει SMS τείνει να λαμβάνει επίσης (ή το αντίστροφο). </a:t>
            </a:r>
            <a:endParaRPr dirty="0"/>
          </a:p>
          <a:p>
            <a:pPr marL="685800" lvl="1" indent="-228600" algn="l" rtl="0">
              <a:lnSpc>
                <a:spcPct val="100000"/>
              </a:lnSpc>
              <a:spcBef>
                <a:spcPts val="500"/>
              </a:spcBef>
              <a:spcAft>
                <a:spcPts val="0"/>
              </a:spcAft>
              <a:buClr>
                <a:schemeClr val="dk1"/>
              </a:buClr>
              <a:buSzPts val="1600"/>
              <a:buFont typeface="Noto Sans Symbols"/>
              <a:buChar char="❑"/>
            </a:pPr>
            <a:r>
              <a:rPr lang="el-GR" sz="1600" dirty="0" err="1">
                <a:latin typeface="Tahoma"/>
                <a:ea typeface="Tahoma"/>
                <a:cs typeface="Tahoma"/>
                <a:sym typeface="Tahoma"/>
              </a:rPr>
              <a:t>callin</a:t>
            </a:r>
            <a:r>
              <a:rPr lang="el-GR" sz="1600" dirty="0">
                <a:latin typeface="Tahoma"/>
                <a:ea typeface="Tahoma"/>
                <a:cs typeface="Tahoma"/>
                <a:sym typeface="Tahoma"/>
              </a:rPr>
              <a:t> – </a:t>
            </a:r>
            <a:r>
              <a:rPr lang="el-GR" sz="1600" dirty="0" err="1">
                <a:latin typeface="Tahoma"/>
                <a:ea typeface="Tahoma"/>
                <a:cs typeface="Tahoma"/>
                <a:sym typeface="Tahoma"/>
              </a:rPr>
              <a:t>callout</a:t>
            </a:r>
            <a:r>
              <a:rPr lang="el-GR" sz="1600" dirty="0">
                <a:latin typeface="Tahoma"/>
                <a:ea typeface="Tahoma"/>
                <a:cs typeface="Tahoma"/>
                <a:sym typeface="Tahoma"/>
              </a:rPr>
              <a:t>: 0.39 → αναλογικά αλλά πιο αδύναμα, όποιος δέχεται κλήσεις τείνει να κάνει κι ο ίδιος. </a:t>
            </a:r>
            <a:endParaRPr dirty="0"/>
          </a:p>
        </p:txBody>
      </p:sp>
      <p:pic>
        <p:nvPicPr>
          <p:cNvPr id="358" name="Google Shape;358;p23" descr="A screenshot of a graph&#10;&#10;AI-generated content may be incorrect."/>
          <p:cNvPicPr preferRelativeResize="0"/>
          <p:nvPr/>
        </p:nvPicPr>
        <p:blipFill rotWithShape="1">
          <a:blip r:embed="rId3">
            <a:alphaModFix/>
          </a:blip>
          <a:srcRect/>
          <a:stretch/>
        </p:blipFill>
        <p:spPr>
          <a:xfrm>
            <a:off x="5131467" y="1391131"/>
            <a:ext cx="6423735" cy="4896663"/>
          </a:xfrm>
          <a:prstGeom prst="rect">
            <a:avLst/>
          </a:prstGeom>
          <a:ln>
            <a:noFill/>
          </a:ln>
          <a:effectLst>
            <a:outerShdw blurRad="190500" algn="tl" rotWithShape="0">
              <a:srgbClr val="000000">
                <a:alpha val="70000"/>
              </a:srgbClr>
            </a:outerShdw>
          </a:effec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63"/>
        <p:cNvGrpSpPr/>
        <p:nvPr/>
      </p:nvGrpSpPr>
      <p:grpSpPr>
        <a:xfrm>
          <a:off x="0" y="0"/>
          <a:ext cx="0" cy="0"/>
          <a:chOff x="0" y="0"/>
          <a:chExt cx="0" cy="0"/>
        </a:xfrm>
      </p:grpSpPr>
      <p:sp>
        <p:nvSpPr>
          <p:cNvPr id="364" name="Google Shape;364;p24"/>
          <p:cNvSpPr/>
          <p:nvPr/>
        </p:nvSpPr>
        <p:spPr>
          <a:xfrm>
            <a:off x="0" y="0"/>
            <a:ext cx="1219200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venir"/>
              <a:ea typeface="Avenir"/>
              <a:cs typeface="Avenir"/>
              <a:sym typeface="Avenir"/>
            </a:endParaRPr>
          </a:p>
        </p:txBody>
      </p:sp>
      <p:sp>
        <p:nvSpPr>
          <p:cNvPr id="365" name="Google Shape;365;p24"/>
          <p:cNvSpPr/>
          <p:nvPr/>
        </p:nvSpPr>
        <p:spPr>
          <a:xfrm>
            <a:off x="-1" y="0"/>
            <a:ext cx="4818889" cy="6858000"/>
          </a:xfrm>
          <a:custGeom>
            <a:avLst/>
            <a:gdLst/>
            <a:ahLst/>
            <a:cxnLst/>
            <a:rect l="l" t="t" r="r" b="b"/>
            <a:pathLst>
              <a:path w="4818889" h="6858000" extrusionOk="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solidFill>
            <a:schemeClr val="lt1"/>
          </a:solidFill>
          <a:ln w="9525" cap="flat" cmpd="sng">
            <a:solidFill>
              <a:srgbClr val="F1E3F1"/>
            </a:solidFill>
            <a:prstDash val="solid"/>
            <a:miter lim="800000"/>
            <a:headEnd type="none" w="sm" len="sm"/>
            <a:tailEnd type="none" w="sm" len="sm"/>
          </a:ln>
          <a:effectLst>
            <a:outerShdw blurRad="50800" dist="38100" algn="l" rotWithShape="0">
              <a:srgbClr val="D8D8D8">
                <a:alpha val="29803"/>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FFFFFF"/>
              </a:solidFill>
              <a:latin typeface="Calibri"/>
              <a:ea typeface="Calibri"/>
              <a:cs typeface="Calibri"/>
              <a:sym typeface="Calibri"/>
            </a:endParaRPr>
          </a:p>
        </p:txBody>
      </p:sp>
      <p:sp>
        <p:nvSpPr>
          <p:cNvPr id="366" name="Google Shape;366;p24"/>
          <p:cNvSpPr/>
          <p:nvPr/>
        </p:nvSpPr>
        <p:spPr>
          <a:xfrm>
            <a:off x="1" y="0"/>
            <a:ext cx="4811477" cy="6858000"/>
          </a:xfrm>
          <a:custGeom>
            <a:avLst/>
            <a:gdLst/>
            <a:ahLst/>
            <a:cxnLst/>
            <a:rect l="l" t="t" r="r" b="b"/>
            <a:pathLst>
              <a:path w="4811477" h="6858000" extrusionOk="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FFFFFF"/>
              </a:solidFill>
              <a:latin typeface="Calibri"/>
              <a:ea typeface="Calibri"/>
              <a:cs typeface="Calibri"/>
              <a:sym typeface="Calibri"/>
            </a:endParaRPr>
          </a:p>
        </p:txBody>
      </p:sp>
      <p:sp>
        <p:nvSpPr>
          <p:cNvPr id="367" name="Google Shape;367;p24"/>
          <p:cNvSpPr txBox="1">
            <a:spLocks noGrp="1"/>
          </p:cNvSpPr>
          <p:nvPr>
            <p:ph type="title"/>
          </p:nvPr>
        </p:nvSpPr>
        <p:spPr>
          <a:xfrm>
            <a:off x="621792" y="1161288"/>
            <a:ext cx="3602736" cy="452628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700"/>
              <a:buFont typeface="Avenir"/>
              <a:buNone/>
            </a:pPr>
            <a:r>
              <a:rPr lang="el-GR" sz="3700" dirty="0">
                <a:latin typeface="Tahoma" panose="020B0604030504040204" pitchFamily="34" charset="0"/>
                <a:ea typeface="Tahoma" panose="020B0604030504040204" pitchFamily="34" charset="0"/>
                <a:cs typeface="Tahoma" panose="020B0604030504040204" pitchFamily="34" charset="0"/>
              </a:rPr>
              <a:t>Ανακεφαλαίωση</a:t>
            </a:r>
            <a:endParaRPr dirty="0">
              <a:latin typeface="Tahoma" panose="020B0604030504040204" pitchFamily="34" charset="0"/>
              <a:ea typeface="Tahoma" panose="020B0604030504040204" pitchFamily="34" charset="0"/>
              <a:cs typeface="Tahoma" panose="020B0604030504040204" pitchFamily="34" charset="0"/>
            </a:endParaRPr>
          </a:p>
        </p:txBody>
      </p:sp>
      <p:sp>
        <p:nvSpPr>
          <p:cNvPr id="368" name="Google Shape;368;p24"/>
          <p:cNvSpPr/>
          <p:nvPr/>
        </p:nvSpPr>
        <p:spPr>
          <a:xfrm>
            <a:off x="0" y="3102049"/>
            <a:ext cx="128016" cy="653903"/>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FFFFFF"/>
              </a:solidFill>
              <a:latin typeface="Calibri"/>
              <a:ea typeface="Calibri"/>
              <a:cs typeface="Calibri"/>
              <a:sym typeface="Calibri"/>
            </a:endParaRPr>
          </a:p>
        </p:txBody>
      </p:sp>
      <p:sp>
        <p:nvSpPr>
          <p:cNvPr id="369" name="Google Shape;369;p24"/>
          <p:cNvSpPr txBox="1">
            <a:spLocks noGrp="1"/>
          </p:cNvSpPr>
          <p:nvPr>
            <p:ph type="body" idx="1"/>
          </p:nvPr>
        </p:nvSpPr>
        <p:spPr>
          <a:xfrm>
            <a:off x="5026731" y="578686"/>
            <a:ext cx="6957428" cy="6071496"/>
          </a:xfrm>
          <a:prstGeom prst="rect">
            <a:avLst/>
          </a:prstGeom>
          <a:noFill/>
          <a:ln>
            <a:noFill/>
          </a:ln>
        </p:spPr>
        <p:txBody>
          <a:bodyPr spcFirstLastPara="1" wrap="square" lIns="91425" tIns="45700" rIns="91425" bIns="45700" anchor="t" anchorCtr="0">
            <a:normAutofit fontScale="92500" lnSpcReduction="10000"/>
          </a:bodyPr>
          <a:lstStyle/>
          <a:p>
            <a:pPr marL="228600" lvl="0" indent="-228600" algn="l" rtl="0">
              <a:lnSpc>
                <a:spcPct val="110000"/>
              </a:lnSpc>
              <a:spcBef>
                <a:spcPts val="0"/>
              </a:spcBef>
              <a:spcAft>
                <a:spcPts val="0"/>
              </a:spcAft>
              <a:buClr>
                <a:schemeClr val="dk1"/>
              </a:buClr>
              <a:buSzPct val="100000"/>
              <a:buFont typeface="Noto Sans Symbols"/>
              <a:buChar char="❑"/>
            </a:pPr>
            <a:r>
              <a:rPr lang="el-GR" sz="1800" b="1">
                <a:latin typeface="Tahoma"/>
                <a:ea typeface="Tahoma"/>
                <a:cs typeface="Tahoma"/>
                <a:sym typeface="Tahoma"/>
              </a:rPr>
              <a:t>Αρχιτεκτονική GAN - Δυαδικό “παιχνίδι” εκπαίδευσης (παραχαράκτης vs τραπεζικός υπάλληλος): </a:t>
            </a:r>
            <a:r>
              <a:rPr lang="el-GR" sz="1800">
                <a:latin typeface="Tahoma"/>
                <a:ea typeface="Tahoma"/>
                <a:cs typeface="Tahoma"/>
                <a:sym typeface="Tahoma"/>
              </a:rPr>
              <a:t>Η γεννήτρια παράγει «πλαστά» δείγματα ενώ ο διαχωριστής τα ελέγχει και βελτιώνει την διάκριση πραγματικών/ψευδών με την γεννήτρια δυσκολεύει τη διάκριση. Τελικά τα παραγόμενα δείγματα γίνονται αδιάκριτα από τα αληθινά.</a:t>
            </a:r>
            <a:endParaRPr/>
          </a:p>
          <a:p>
            <a:pPr marL="228600" lvl="0" indent="-228600" algn="l" rtl="0">
              <a:lnSpc>
                <a:spcPct val="110000"/>
              </a:lnSpc>
              <a:spcBef>
                <a:spcPts val="1000"/>
              </a:spcBef>
              <a:spcAft>
                <a:spcPts val="0"/>
              </a:spcAft>
              <a:buClr>
                <a:schemeClr val="dk1"/>
              </a:buClr>
              <a:buSzPct val="100000"/>
              <a:buFont typeface="Noto Sans Symbols"/>
              <a:buChar char="❑"/>
            </a:pPr>
            <a:r>
              <a:rPr lang="el-GR" sz="1800" b="1">
                <a:latin typeface="Tahoma"/>
                <a:ea typeface="Tahoma"/>
                <a:cs typeface="Tahoma"/>
                <a:sym typeface="Tahoma"/>
              </a:rPr>
              <a:t>Πηγή δεδομένων – CDRs Telecom Italia: </a:t>
            </a:r>
            <a:r>
              <a:rPr lang="el-GR" sz="1800">
                <a:latin typeface="Tahoma"/>
                <a:ea typeface="Tahoma"/>
                <a:cs typeface="Tahoma"/>
                <a:sym typeface="Tahoma"/>
              </a:rPr>
              <a:t>1 εβδομάδα, Μιλάνο &amp; Τρεντίνο με στήλες smsin/out, callin/out, internet κατανεμημένες χωρικά &amp; χρονικά από RBS.</a:t>
            </a:r>
            <a:endParaRPr sz="1800">
              <a:latin typeface="Tahoma"/>
              <a:ea typeface="Tahoma"/>
              <a:cs typeface="Tahoma"/>
              <a:sym typeface="Tahoma"/>
            </a:endParaRPr>
          </a:p>
          <a:p>
            <a:pPr marL="228600" lvl="0" indent="-228600" algn="l" rtl="0">
              <a:lnSpc>
                <a:spcPct val="110000"/>
              </a:lnSpc>
              <a:spcBef>
                <a:spcPts val="1000"/>
              </a:spcBef>
              <a:spcAft>
                <a:spcPts val="0"/>
              </a:spcAft>
              <a:buClr>
                <a:schemeClr val="dk1"/>
              </a:buClr>
              <a:buSzPct val="100000"/>
              <a:buFont typeface="Noto Sans Symbols"/>
              <a:buChar char="❑"/>
            </a:pPr>
            <a:r>
              <a:rPr lang="el-GR" sz="1800" b="1">
                <a:latin typeface="Tahoma"/>
                <a:ea typeface="Tahoma"/>
                <a:cs typeface="Tahoma"/>
                <a:sym typeface="Tahoma"/>
              </a:rPr>
              <a:t>Στόχος μοντέλου: </a:t>
            </a:r>
            <a:r>
              <a:rPr lang="el-GR" sz="1800">
                <a:latin typeface="Tahoma"/>
                <a:ea typeface="Tahoma"/>
                <a:cs typeface="Tahoma"/>
                <a:sym typeface="Tahoma"/>
              </a:rPr>
              <a:t>Προσέγγιση της άγνωστης κατανομής P(X) των χρονοσειρών traffic μέσω μοντέλου Pθ, μαθαίνοντας τα μοτίβα μιας ημέρας από το SMS Call Internet Dataset του Milano.</a:t>
            </a:r>
            <a:endParaRPr sz="1800">
              <a:latin typeface="Tahoma"/>
              <a:ea typeface="Tahoma"/>
              <a:cs typeface="Tahoma"/>
              <a:sym typeface="Tahoma"/>
            </a:endParaRPr>
          </a:p>
          <a:p>
            <a:pPr marL="228600" lvl="0" indent="-228600" algn="l" rtl="0">
              <a:lnSpc>
                <a:spcPct val="110000"/>
              </a:lnSpc>
              <a:spcBef>
                <a:spcPts val="1000"/>
              </a:spcBef>
              <a:spcAft>
                <a:spcPts val="0"/>
              </a:spcAft>
              <a:buClr>
                <a:schemeClr val="dk1"/>
              </a:buClr>
              <a:buSzPct val="100000"/>
              <a:buFont typeface="Noto Sans Symbols"/>
              <a:buChar char="❑"/>
            </a:pPr>
            <a:r>
              <a:rPr lang="el-GR" sz="1800" b="1">
                <a:latin typeface="Tahoma"/>
                <a:ea typeface="Tahoma"/>
                <a:cs typeface="Tahoma"/>
                <a:sym typeface="Tahoma"/>
              </a:rPr>
              <a:t>Λύση Κανονικοποίησης: </a:t>
            </a:r>
            <a:r>
              <a:rPr lang="el-GR" sz="1800">
                <a:latin typeface="Tahoma"/>
                <a:ea typeface="Tahoma"/>
                <a:cs typeface="Tahoma"/>
                <a:sym typeface="Tahoma"/>
              </a:rPr>
              <a:t>Χαρτογράφηση θορύβου Z ~ Pz (γνωστή, κανονικοποιημένη κατανομή) → χώρος δεδομένων, ώστε η κατανομή PG της γεννήτριας να συγκλίνει σε P(X).</a:t>
            </a:r>
            <a:endParaRPr/>
          </a:p>
          <a:p>
            <a:pPr marL="228600" lvl="0" indent="-228600" algn="l" rtl="0">
              <a:lnSpc>
                <a:spcPct val="110000"/>
              </a:lnSpc>
              <a:spcBef>
                <a:spcPts val="1000"/>
              </a:spcBef>
              <a:spcAft>
                <a:spcPts val="0"/>
              </a:spcAft>
              <a:buClr>
                <a:schemeClr val="dk1"/>
              </a:buClr>
              <a:buSzPct val="100000"/>
              <a:buFont typeface="Noto Sans Symbols"/>
              <a:buChar char="❑"/>
            </a:pPr>
            <a:r>
              <a:rPr lang="el-GR" sz="1800" b="1">
                <a:latin typeface="Tahoma"/>
                <a:ea typeface="Tahoma"/>
                <a:cs typeface="Tahoma"/>
                <a:sym typeface="Tahoma"/>
              </a:rPr>
              <a:t>Ικανότητες μοντέλου μετά την εκπαίδευση</a:t>
            </a:r>
            <a:endParaRPr/>
          </a:p>
          <a:p>
            <a:pPr marL="685800" lvl="1" indent="-228600" algn="l" rtl="0">
              <a:lnSpc>
                <a:spcPct val="110000"/>
              </a:lnSpc>
              <a:spcBef>
                <a:spcPts val="500"/>
              </a:spcBef>
              <a:spcAft>
                <a:spcPts val="0"/>
              </a:spcAft>
              <a:buClr>
                <a:schemeClr val="dk1"/>
              </a:buClr>
              <a:buSzPct val="100000"/>
              <a:buFont typeface="Noto Sans Symbols"/>
              <a:buChar char="❑"/>
            </a:pPr>
            <a:r>
              <a:rPr lang="el-GR" sz="1800">
                <a:latin typeface="Tahoma"/>
                <a:ea typeface="Tahoma"/>
                <a:cs typeface="Tahoma"/>
                <a:sym typeface="Tahoma"/>
              </a:rPr>
              <a:t>Παραγωγή ρεαλιστικών συνθετικών δεδομένων traffic (P(traffic))</a:t>
            </a:r>
            <a:endParaRPr/>
          </a:p>
          <a:p>
            <a:pPr marL="685800" lvl="1" indent="-228600" algn="l" rtl="0">
              <a:lnSpc>
                <a:spcPct val="110000"/>
              </a:lnSpc>
              <a:spcBef>
                <a:spcPts val="500"/>
              </a:spcBef>
              <a:spcAft>
                <a:spcPts val="0"/>
              </a:spcAft>
              <a:buClr>
                <a:schemeClr val="dk1"/>
              </a:buClr>
              <a:buSzPct val="100000"/>
              <a:buFont typeface="Noto Sans Symbols"/>
              <a:buChar char="❑"/>
            </a:pPr>
            <a:r>
              <a:rPr lang="el-GR" sz="1800">
                <a:latin typeface="Tahoma"/>
                <a:ea typeface="Tahoma"/>
                <a:cs typeface="Tahoma"/>
                <a:sym typeface="Tahoma"/>
              </a:rPr>
              <a:t>Εντοπισμός δειγμάτων εκτός συνόλου (P(not-traffic)) – διάκριση traffic/μη-traffic με βάση τα μάθει χαρακτηριστικά.</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434"/>
        <p:cNvGrpSpPr/>
        <p:nvPr/>
      </p:nvGrpSpPr>
      <p:grpSpPr>
        <a:xfrm>
          <a:off x="0" y="0"/>
          <a:ext cx="0" cy="0"/>
          <a:chOff x="0" y="0"/>
          <a:chExt cx="0" cy="0"/>
        </a:xfrm>
      </p:grpSpPr>
      <p:sp>
        <p:nvSpPr>
          <p:cNvPr id="435" name="Google Shape;435;p30"/>
          <p:cNvSpPr/>
          <p:nvPr/>
        </p:nvSpPr>
        <p:spPr>
          <a:xfrm>
            <a:off x="0" y="0"/>
            <a:ext cx="12192000" cy="68580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FFFFFF"/>
              </a:solidFill>
              <a:latin typeface="Avenir"/>
              <a:ea typeface="Avenir"/>
              <a:cs typeface="Avenir"/>
              <a:sym typeface="Avenir"/>
            </a:endParaRPr>
          </a:p>
        </p:txBody>
      </p:sp>
      <p:cxnSp>
        <p:nvCxnSpPr>
          <p:cNvPr id="436" name="Google Shape;436;p30"/>
          <p:cNvCxnSpPr/>
          <p:nvPr/>
        </p:nvCxnSpPr>
        <p:spPr>
          <a:xfrm>
            <a:off x="800100" y="723900"/>
            <a:ext cx="1638300" cy="0"/>
          </a:xfrm>
          <a:prstGeom prst="straightConnector1">
            <a:avLst/>
          </a:prstGeom>
          <a:noFill/>
          <a:ln w="44450" cap="flat" cmpd="sng">
            <a:solidFill>
              <a:schemeClr val="lt1"/>
            </a:solidFill>
            <a:prstDash val="solid"/>
            <a:miter lim="800000"/>
            <a:headEnd type="none" w="sm" len="sm"/>
            <a:tailEnd type="none" w="sm" len="sm"/>
          </a:ln>
        </p:spPr>
      </p:cxnSp>
      <p:pic>
        <p:nvPicPr>
          <p:cNvPr id="437" name="Google Shape;437;p30" descr="Topview of mint green workspace with laptop, coffee, notebook, pen, glasses, and mouse"/>
          <p:cNvPicPr preferRelativeResize="0"/>
          <p:nvPr/>
        </p:nvPicPr>
        <p:blipFill rotWithShape="1">
          <a:blip r:embed="rId3">
            <a:alphaModFix/>
          </a:blip>
          <a:srcRect b="15730"/>
          <a:stretch/>
        </p:blipFill>
        <p:spPr>
          <a:xfrm>
            <a:off x="21" y="10"/>
            <a:ext cx="12191979" cy="6857990"/>
          </a:xfrm>
          <a:prstGeom prst="rect">
            <a:avLst/>
          </a:prstGeom>
          <a:noFill/>
          <a:ln>
            <a:noFill/>
          </a:ln>
        </p:spPr>
      </p:pic>
      <p:sp>
        <p:nvSpPr>
          <p:cNvPr id="438" name="Google Shape;438;p30"/>
          <p:cNvSpPr/>
          <p:nvPr/>
        </p:nvSpPr>
        <p:spPr>
          <a:xfrm rot="-5400000" flipH="1">
            <a:off x="5167042" y="-166956"/>
            <a:ext cx="6858002" cy="7191913"/>
          </a:xfrm>
          <a:prstGeom prst="rect">
            <a:avLst/>
          </a:prstGeom>
          <a:gradFill>
            <a:gsLst>
              <a:gs pos="0">
                <a:srgbClr val="000000">
                  <a:alpha val="0"/>
                </a:srgbClr>
              </a:gs>
              <a:gs pos="25000">
                <a:srgbClr val="000000">
                  <a:alpha val="37647"/>
                </a:srgbClr>
              </a:gs>
              <a:gs pos="46000">
                <a:srgbClr val="000000">
                  <a:alpha val="54901"/>
                </a:srgbClr>
              </a:gs>
              <a:gs pos="100000">
                <a:srgbClr val="000000">
                  <a:alpha val="60000"/>
                </a:srgbClr>
              </a:gs>
            </a:gsLst>
            <a:lin ang="5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FFFFFF"/>
              </a:solidFill>
              <a:latin typeface="Avenir"/>
              <a:ea typeface="Avenir"/>
              <a:cs typeface="Avenir"/>
              <a:sym typeface="Avenir"/>
            </a:endParaRPr>
          </a:p>
        </p:txBody>
      </p:sp>
      <p:sp>
        <p:nvSpPr>
          <p:cNvPr id="439" name="Google Shape;439;p30"/>
          <p:cNvSpPr txBox="1">
            <a:spLocks noGrp="1"/>
          </p:cNvSpPr>
          <p:nvPr>
            <p:ph type="ctrTitle"/>
          </p:nvPr>
        </p:nvSpPr>
        <p:spPr>
          <a:xfrm>
            <a:off x="7756183" y="1124712"/>
            <a:ext cx="4023360" cy="3200400"/>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rgbClr val="FF0000"/>
              </a:buClr>
              <a:buSzPts val="4400"/>
              <a:buFont typeface="Tahoma"/>
              <a:buNone/>
            </a:pPr>
            <a:r>
              <a:rPr lang="el-GR" sz="4400" b="1" dirty="0">
                <a:solidFill>
                  <a:srgbClr val="FF0000"/>
                </a:solidFill>
                <a:latin typeface="Tahoma"/>
                <a:ea typeface="Tahoma"/>
                <a:cs typeface="Tahoma"/>
                <a:sym typeface="Tahoma"/>
              </a:rPr>
              <a:t>W</a:t>
            </a:r>
            <a:r>
              <a:rPr lang="el-GR" sz="4400" b="1" dirty="0">
                <a:latin typeface="Tahoma"/>
                <a:ea typeface="Tahoma"/>
                <a:cs typeface="Tahoma"/>
                <a:sym typeface="Tahoma"/>
              </a:rPr>
              <a:t>GAN</a:t>
            </a:r>
            <a:endParaRPr sz="4400" b="1" dirty="0">
              <a:latin typeface="Tahoma"/>
              <a:ea typeface="Tahoma"/>
              <a:cs typeface="Tahoma"/>
              <a:sym typeface="Tahoma"/>
            </a:endParaRPr>
          </a:p>
        </p:txBody>
      </p:sp>
      <p:sp>
        <p:nvSpPr>
          <p:cNvPr id="440" name="Google Shape;440;p30"/>
          <p:cNvSpPr/>
          <p:nvPr/>
        </p:nvSpPr>
        <p:spPr>
          <a:xfrm rot="5400000">
            <a:off x="8040616" y="346791"/>
            <a:ext cx="146304" cy="704088"/>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FFFFFF"/>
              </a:solidFill>
              <a:latin typeface="Calibri"/>
              <a:ea typeface="Calibri"/>
              <a:cs typeface="Calibri"/>
              <a:sym typeface="Calibri"/>
            </a:endParaRPr>
          </a:p>
        </p:txBody>
      </p:sp>
      <p:sp>
        <p:nvSpPr>
          <p:cNvPr id="441" name="Google Shape;441;p30"/>
          <p:cNvSpPr/>
          <p:nvPr/>
        </p:nvSpPr>
        <p:spPr>
          <a:xfrm>
            <a:off x="7761724" y="4546920"/>
            <a:ext cx="3977640" cy="18288"/>
          </a:xfrm>
          <a:prstGeom prst="rect">
            <a:avLst/>
          </a:prstGeom>
          <a:solidFill>
            <a:srgbClr val="F8F8F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46"/>
        <p:cNvGrpSpPr/>
        <p:nvPr/>
      </p:nvGrpSpPr>
      <p:grpSpPr>
        <a:xfrm>
          <a:off x="0" y="0"/>
          <a:ext cx="0" cy="0"/>
          <a:chOff x="0" y="0"/>
          <a:chExt cx="0" cy="0"/>
        </a:xfrm>
      </p:grpSpPr>
      <p:sp>
        <p:nvSpPr>
          <p:cNvPr id="447" name="Google Shape;447;p31"/>
          <p:cNvSpPr txBox="1">
            <a:spLocks noGrp="1"/>
          </p:cNvSpPr>
          <p:nvPr>
            <p:ph type="title"/>
          </p:nvPr>
        </p:nvSpPr>
        <p:spPr>
          <a:xfrm>
            <a:off x="1115568" y="548640"/>
            <a:ext cx="10168128" cy="1179576"/>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000"/>
              <a:buFont typeface="Avenir"/>
              <a:buNone/>
            </a:pPr>
            <a:r>
              <a:rPr lang="el-GR" dirty="0">
                <a:latin typeface="Tahoma" panose="020B0604030504040204" pitchFamily="34" charset="0"/>
                <a:ea typeface="Tahoma" panose="020B0604030504040204" pitchFamily="34" charset="0"/>
                <a:cs typeface="Tahoma" panose="020B0604030504040204" pitchFamily="34" charset="0"/>
              </a:rPr>
              <a:t>Αρχιτεκτονική WGAN</a:t>
            </a:r>
            <a:endParaRPr dirty="0">
              <a:latin typeface="Tahoma" panose="020B0604030504040204" pitchFamily="34" charset="0"/>
              <a:ea typeface="Tahoma" panose="020B0604030504040204" pitchFamily="34" charset="0"/>
              <a:cs typeface="Tahoma" panose="020B0604030504040204" pitchFamily="34" charset="0"/>
            </a:endParaRPr>
          </a:p>
        </p:txBody>
      </p:sp>
      <p:sp>
        <p:nvSpPr>
          <p:cNvPr id="448" name="Google Shape;448;p31"/>
          <p:cNvSpPr txBox="1">
            <a:spLocks noGrp="1"/>
          </p:cNvSpPr>
          <p:nvPr>
            <p:ph type="body" idx="1"/>
          </p:nvPr>
        </p:nvSpPr>
        <p:spPr>
          <a:xfrm>
            <a:off x="826629" y="2475029"/>
            <a:ext cx="10746000" cy="4562400"/>
          </a:xfrm>
          <a:prstGeom prst="rect">
            <a:avLst/>
          </a:prstGeom>
          <a:noFill/>
          <a:ln>
            <a:noFill/>
          </a:ln>
        </p:spPr>
        <p:txBody>
          <a:bodyPr spcFirstLastPara="1" wrap="square" lIns="91425" tIns="45700" rIns="91425" bIns="45700" anchor="t" anchorCtr="0">
            <a:normAutofit/>
          </a:bodyPr>
          <a:lstStyle/>
          <a:p>
            <a:pPr marL="228600" lvl="0" indent="-228600" algn="l" rtl="0">
              <a:lnSpc>
                <a:spcPct val="110000"/>
              </a:lnSpc>
              <a:spcBef>
                <a:spcPts val="0"/>
              </a:spcBef>
              <a:spcAft>
                <a:spcPts val="0"/>
              </a:spcAft>
              <a:buClr>
                <a:schemeClr val="dk1"/>
              </a:buClr>
              <a:buSzPts val="1800"/>
              <a:buFont typeface="Noto Sans Symbols"/>
              <a:buChar char="❑"/>
            </a:pPr>
            <a:r>
              <a:rPr lang="el-GR" sz="1800" dirty="0">
                <a:latin typeface="Tahoma"/>
                <a:ea typeface="Tahoma"/>
                <a:cs typeface="Tahoma"/>
                <a:sym typeface="Tahoma"/>
              </a:rPr>
              <a:t>Η δομή του WGAN είναι ίδια με αυτή των κλασικών </a:t>
            </a:r>
            <a:r>
              <a:rPr lang="el-GR" sz="1800" dirty="0" err="1">
                <a:latin typeface="Tahoma"/>
                <a:ea typeface="Tahoma"/>
                <a:cs typeface="Tahoma"/>
                <a:sym typeface="Tahoma"/>
              </a:rPr>
              <a:t>GANs</a:t>
            </a:r>
            <a:r>
              <a:rPr lang="el-GR" sz="1800" dirty="0">
                <a:latin typeface="Tahoma"/>
                <a:ea typeface="Tahoma"/>
                <a:cs typeface="Tahoma"/>
                <a:sym typeface="Tahoma"/>
              </a:rPr>
              <a:t>: ο Generator δημιουργεί δείγματα από τυχαίο θόρυβο, και ο </a:t>
            </a:r>
            <a:r>
              <a:rPr lang="el-GR" sz="1800" dirty="0" err="1">
                <a:latin typeface="Tahoma"/>
                <a:ea typeface="Tahoma"/>
                <a:cs typeface="Tahoma"/>
                <a:sym typeface="Tahoma"/>
              </a:rPr>
              <a:t>Critic</a:t>
            </a:r>
            <a:r>
              <a:rPr lang="el-GR" sz="1800" dirty="0">
                <a:latin typeface="Tahoma"/>
                <a:ea typeface="Tahoma"/>
                <a:cs typeface="Tahoma"/>
                <a:sym typeface="Tahoma"/>
              </a:rPr>
              <a:t> (αντί για </a:t>
            </a:r>
            <a:r>
              <a:rPr lang="el-GR" sz="1800" dirty="0" err="1">
                <a:latin typeface="Tahoma"/>
                <a:ea typeface="Tahoma"/>
                <a:cs typeface="Tahoma"/>
                <a:sym typeface="Tahoma"/>
              </a:rPr>
              <a:t>Discriminator</a:t>
            </a:r>
            <a:r>
              <a:rPr lang="el-GR" sz="1800" dirty="0">
                <a:latin typeface="Tahoma"/>
                <a:ea typeface="Tahoma"/>
                <a:cs typeface="Tahoma"/>
                <a:sym typeface="Tahoma"/>
              </a:rPr>
              <a:t>) αξιολογεί την ποιότητά τους.</a:t>
            </a:r>
            <a:endParaRPr sz="1800" dirty="0">
              <a:latin typeface="Tahoma"/>
              <a:ea typeface="Tahoma"/>
              <a:cs typeface="Tahoma"/>
              <a:sym typeface="Tahoma"/>
            </a:endParaRPr>
          </a:p>
          <a:p>
            <a:pPr marL="228600" lvl="0" indent="-228600" algn="l" rtl="0">
              <a:lnSpc>
                <a:spcPct val="110000"/>
              </a:lnSpc>
              <a:spcBef>
                <a:spcPts val="1000"/>
              </a:spcBef>
              <a:spcAft>
                <a:spcPts val="0"/>
              </a:spcAft>
              <a:buClr>
                <a:schemeClr val="dk1"/>
              </a:buClr>
              <a:buSzPts val="1800"/>
              <a:buFont typeface="Noto Sans Symbols"/>
              <a:buChar char="❑"/>
            </a:pPr>
            <a:r>
              <a:rPr lang="el-GR" sz="1800" dirty="0">
                <a:latin typeface="Tahoma"/>
                <a:ea typeface="Tahoma"/>
                <a:cs typeface="Tahoma"/>
                <a:sym typeface="Tahoma"/>
              </a:rPr>
              <a:t>Ο παραδοσιακός </a:t>
            </a:r>
            <a:r>
              <a:rPr lang="el-GR" sz="1800" dirty="0" err="1">
                <a:latin typeface="Tahoma"/>
                <a:ea typeface="Tahoma"/>
                <a:cs typeface="Tahoma"/>
                <a:sym typeface="Tahoma"/>
              </a:rPr>
              <a:t>Discriminator</a:t>
            </a:r>
            <a:r>
              <a:rPr lang="el-GR" sz="1800" dirty="0">
                <a:latin typeface="Tahoma"/>
                <a:ea typeface="Tahoma"/>
                <a:cs typeface="Tahoma"/>
                <a:sym typeface="Tahoma"/>
              </a:rPr>
              <a:t> επιστρέφει μια δυαδική έξοδο (REAL ή FAKE), υποδηλώνοντας αν ένα δείγμα είναι αληθινό ή ψεύτικο. </a:t>
            </a:r>
            <a:endParaRPr sz="1800" dirty="0">
              <a:latin typeface="Tahoma"/>
              <a:ea typeface="Tahoma"/>
              <a:cs typeface="Tahoma"/>
              <a:sym typeface="Tahoma"/>
            </a:endParaRPr>
          </a:p>
          <a:p>
            <a:pPr marL="228600" lvl="0" indent="-228600" algn="l" rtl="0">
              <a:spcBef>
                <a:spcPts val="1000"/>
              </a:spcBef>
              <a:spcAft>
                <a:spcPts val="0"/>
              </a:spcAft>
              <a:buSzPts val="1800"/>
              <a:buFont typeface="Noto Sans Symbols"/>
              <a:buChar char="❑"/>
            </a:pPr>
            <a:r>
              <a:rPr lang="el-GR" sz="1800" dirty="0">
                <a:latin typeface="Tahoma"/>
                <a:ea typeface="Tahoma"/>
                <a:cs typeface="Tahoma"/>
                <a:sym typeface="Tahoma"/>
              </a:rPr>
              <a:t>Αυτή η δυαδική πληροφορία χρησιμοποιείται ως ανάδραση προς τον Generator, όμως, δεδομένου ότι η πληροφορία αυτή είναι αρκετά ασαφής, θα ήταν χρήσιμο αν ο διαχωριστής παρείχε ανάδραση σχετικά με τον βαθμό “</a:t>
            </a:r>
            <a:r>
              <a:rPr lang="el-GR" sz="1800" dirty="0" err="1">
                <a:latin typeface="Tahoma"/>
                <a:ea typeface="Tahoma"/>
                <a:cs typeface="Tahoma"/>
                <a:sym typeface="Tahoma"/>
              </a:rPr>
              <a:t>ψευδότητας</a:t>
            </a:r>
            <a:r>
              <a:rPr lang="el-GR" sz="1800" dirty="0">
                <a:latin typeface="Tahoma"/>
                <a:ea typeface="Tahoma"/>
                <a:cs typeface="Tahoma"/>
                <a:sym typeface="Tahoma"/>
              </a:rPr>
              <a:t>” των δεδομένων. </a:t>
            </a:r>
            <a:endParaRPr sz="1800" dirty="0">
              <a:latin typeface="Tahoma"/>
              <a:ea typeface="Tahoma"/>
              <a:cs typeface="Tahoma"/>
              <a:sym typeface="Tahoma"/>
            </a:endParaRPr>
          </a:p>
          <a:p>
            <a:pPr marL="228600" lvl="0" indent="-228600" algn="l" rtl="0">
              <a:spcBef>
                <a:spcPts val="1000"/>
              </a:spcBef>
              <a:spcAft>
                <a:spcPts val="0"/>
              </a:spcAft>
              <a:buSzPts val="1800"/>
              <a:buFont typeface="Noto Sans Symbols"/>
              <a:buChar char="❑"/>
            </a:pPr>
            <a:r>
              <a:rPr lang="el-GR" sz="1800" dirty="0">
                <a:latin typeface="Tahoma"/>
                <a:ea typeface="Tahoma"/>
                <a:cs typeface="Tahoma"/>
                <a:sym typeface="Tahoma"/>
              </a:rPr>
              <a:t>Αυτό ακριβώς προσφέρει ο </a:t>
            </a:r>
            <a:r>
              <a:rPr lang="el-GR" sz="1800" dirty="0" err="1">
                <a:latin typeface="Tahoma"/>
                <a:ea typeface="Tahoma"/>
                <a:cs typeface="Tahoma"/>
                <a:sym typeface="Tahoma"/>
              </a:rPr>
              <a:t>Critic</a:t>
            </a:r>
            <a:r>
              <a:rPr lang="el-GR" sz="1800" dirty="0">
                <a:latin typeface="Tahoma"/>
                <a:ea typeface="Tahoma"/>
                <a:cs typeface="Tahoma"/>
                <a:sym typeface="Tahoma"/>
              </a:rPr>
              <a:t> μέσω της </a:t>
            </a:r>
            <a:r>
              <a:rPr lang="el-GR" sz="1800" dirty="0" err="1">
                <a:latin typeface="Tahoma"/>
                <a:ea typeface="Tahoma"/>
                <a:cs typeface="Tahoma"/>
                <a:sym typeface="Tahoma"/>
              </a:rPr>
              <a:t>Wasserstein</a:t>
            </a:r>
            <a:r>
              <a:rPr lang="el-GR" sz="1800" dirty="0">
                <a:latin typeface="Tahoma"/>
                <a:ea typeface="Tahoma"/>
                <a:cs typeface="Tahoma"/>
                <a:sym typeface="Tahoma"/>
              </a:rPr>
              <a:t> </a:t>
            </a:r>
            <a:r>
              <a:rPr lang="el-GR" sz="1800" dirty="0" err="1">
                <a:latin typeface="Tahoma"/>
                <a:ea typeface="Tahoma"/>
                <a:cs typeface="Tahoma"/>
                <a:sym typeface="Tahoma"/>
              </a:rPr>
              <a:t>Loss</a:t>
            </a:r>
            <a:r>
              <a:rPr lang="el-GR" sz="1800" dirty="0">
                <a:latin typeface="Tahoma"/>
                <a:ea typeface="Tahoma"/>
                <a:cs typeface="Tahoma"/>
                <a:sym typeface="Tahoma"/>
              </a:rPr>
              <a:t>, καθώς αποδίδει μια πραγματική τιμή που εκφράζει το πόσο κοντά είναι το δείγμα στην κατανομή των πραγματικών δεδομένων—π.χ. ένα αυθεντικό δείγμα μπορεί να λάβει σκορ +10 και ένα τεχνητό -10.</a:t>
            </a:r>
            <a:endParaRPr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53"/>
        <p:cNvGrpSpPr/>
        <p:nvPr/>
      </p:nvGrpSpPr>
      <p:grpSpPr>
        <a:xfrm>
          <a:off x="0" y="0"/>
          <a:ext cx="0" cy="0"/>
          <a:chOff x="0" y="0"/>
          <a:chExt cx="0" cy="0"/>
        </a:xfrm>
      </p:grpSpPr>
      <p:sp>
        <p:nvSpPr>
          <p:cNvPr id="454" name="Google Shape;454;p32"/>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venir"/>
              <a:ea typeface="Avenir"/>
              <a:cs typeface="Avenir"/>
              <a:sym typeface="Avenir"/>
            </a:endParaRPr>
          </a:p>
        </p:txBody>
      </p:sp>
      <p:sp>
        <p:nvSpPr>
          <p:cNvPr id="455" name="Google Shape;455;p32"/>
          <p:cNvSpPr txBox="1">
            <a:spLocks noGrp="1"/>
          </p:cNvSpPr>
          <p:nvPr>
            <p:ph type="title"/>
          </p:nvPr>
        </p:nvSpPr>
        <p:spPr>
          <a:xfrm>
            <a:off x="411480" y="987552"/>
            <a:ext cx="4485861" cy="1088136"/>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dk1"/>
              </a:buClr>
              <a:buSzPts val="3400"/>
              <a:buFont typeface="Avenir"/>
              <a:buNone/>
            </a:pPr>
            <a:r>
              <a:rPr lang="el-GR" sz="3400" dirty="0">
                <a:latin typeface="Tahoma" panose="020B0604030504040204" pitchFamily="34" charset="0"/>
                <a:ea typeface="Tahoma" panose="020B0604030504040204" pitchFamily="34" charset="0"/>
                <a:cs typeface="Tahoma" panose="020B0604030504040204" pitchFamily="34" charset="0"/>
              </a:rPr>
              <a:t>Κριτής</a:t>
            </a:r>
            <a:endParaRPr dirty="0">
              <a:latin typeface="Tahoma" panose="020B0604030504040204" pitchFamily="34" charset="0"/>
              <a:ea typeface="Tahoma" panose="020B0604030504040204" pitchFamily="34" charset="0"/>
              <a:cs typeface="Tahoma" panose="020B0604030504040204" pitchFamily="34" charset="0"/>
            </a:endParaRPr>
          </a:p>
        </p:txBody>
      </p:sp>
      <p:sp>
        <p:nvSpPr>
          <p:cNvPr id="456" name="Google Shape;456;p32"/>
          <p:cNvSpPr/>
          <p:nvPr/>
        </p:nvSpPr>
        <p:spPr>
          <a:xfrm rot="5400000">
            <a:off x="649223" y="387939"/>
            <a:ext cx="73152" cy="54864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FFFFFF"/>
              </a:solidFill>
              <a:latin typeface="Calibri"/>
              <a:ea typeface="Calibri"/>
              <a:cs typeface="Calibri"/>
              <a:sym typeface="Calibri"/>
            </a:endParaRPr>
          </a:p>
        </p:txBody>
      </p:sp>
      <p:sp>
        <p:nvSpPr>
          <p:cNvPr id="457" name="Google Shape;457;p32"/>
          <p:cNvSpPr/>
          <p:nvPr/>
        </p:nvSpPr>
        <p:spPr>
          <a:xfrm>
            <a:off x="411480" y="2286000"/>
            <a:ext cx="4389120" cy="18288"/>
          </a:xfrm>
          <a:prstGeom prst="rect">
            <a:avLst/>
          </a:prstGeom>
          <a:solidFill>
            <a:srgbClr val="D6BDD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FFFFFF"/>
              </a:solidFill>
              <a:latin typeface="Calibri"/>
              <a:ea typeface="Calibri"/>
              <a:cs typeface="Calibri"/>
              <a:sym typeface="Calibri"/>
            </a:endParaRPr>
          </a:p>
        </p:txBody>
      </p:sp>
      <p:sp>
        <p:nvSpPr>
          <p:cNvPr id="458" name="Google Shape;458;p32"/>
          <p:cNvSpPr txBox="1">
            <a:spLocks noGrp="1"/>
          </p:cNvSpPr>
          <p:nvPr>
            <p:ph type="body" idx="1"/>
          </p:nvPr>
        </p:nvSpPr>
        <p:spPr>
          <a:xfrm>
            <a:off x="411479" y="2505260"/>
            <a:ext cx="4498848" cy="4239674"/>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100000"/>
              </a:lnSpc>
              <a:spcBef>
                <a:spcPts val="0"/>
              </a:spcBef>
              <a:spcAft>
                <a:spcPts val="0"/>
              </a:spcAft>
              <a:buClr>
                <a:schemeClr val="dk1"/>
              </a:buClr>
              <a:buSzPts val="1600"/>
              <a:buFont typeface="Noto Sans Symbols"/>
              <a:buChar char="❑"/>
            </a:pPr>
            <a:r>
              <a:rPr lang="el-GR" sz="1600" dirty="0">
                <a:latin typeface="Tahoma"/>
                <a:ea typeface="Tahoma"/>
                <a:cs typeface="Tahoma"/>
                <a:sym typeface="Tahoma"/>
              </a:rPr>
              <a:t>Ο παραχαράκτης (Generator) κρατά ένα χαρτονόμισμα και προσπαθεί να το περάσει ως αληθινό.</a:t>
            </a:r>
            <a:endParaRPr dirty="0"/>
          </a:p>
          <a:p>
            <a:pPr marL="228600" lvl="0" indent="-228600" algn="l" rtl="0">
              <a:lnSpc>
                <a:spcPct val="100000"/>
              </a:lnSpc>
              <a:spcBef>
                <a:spcPts val="1000"/>
              </a:spcBef>
              <a:spcAft>
                <a:spcPts val="0"/>
              </a:spcAft>
              <a:buClr>
                <a:schemeClr val="dk1"/>
              </a:buClr>
              <a:buSzPts val="1600"/>
              <a:buFont typeface="Noto Sans Symbols"/>
              <a:buChar char="❑"/>
            </a:pPr>
            <a:r>
              <a:rPr lang="el-GR" sz="1600" dirty="0">
                <a:latin typeface="Tahoma"/>
                <a:ea typeface="Tahoma"/>
                <a:cs typeface="Tahoma"/>
                <a:sym typeface="Tahoma"/>
              </a:rPr>
              <a:t>Στην αριστερή εκδοχή μπροστά του βρίσκεται ο τραπεζικός υπάλληλος (</a:t>
            </a:r>
            <a:r>
              <a:rPr lang="el-GR" sz="1600" dirty="0" err="1">
                <a:latin typeface="Tahoma"/>
                <a:ea typeface="Tahoma"/>
                <a:cs typeface="Tahoma"/>
                <a:sym typeface="Tahoma"/>
              </a:rPr>
              <a:t>Discriminator</a:t>
            </a:r>
            <a:r>
              <a:rPr lang="el-GR" sz="1600" dirty="0">
                <a:latin typeface="Tahoma"/>
                <a:ea typeface="Tahoma"/>
                <a:cs typeface="Tahoma"/>
                <a:sym typeface="Tahoma"/>
              </a:rPr>
              <a:t>), ο οποίος κοιτάζει το χαρτονόμισμα και αποφασίζει αν είναι ψεύτικο ή αληθινό. Το σύστημα παράγει μια δυαδική έξοδο γνήσιο ή όχι. </a:t>
            </a:r>
            <a:endParaRPr sz="1600" dirty="0">
              <a:latin typeface="Tahoma"/>
              <a:ea typeface="Tahoma"/>
              <a:cs typeface="Tahoma"/>
              <a:sym typeface="Tahoma"/>
            </a:endParaRPr>
          </a:p>
          <a:p>
            <a:pPr marL="228600" lvl="0" indent="-228600" algn="l" rtl="0">
              <a:lnSpc>
                <a:spcPct val="100000"/>
              </a:lnSpc>
              <a:spcBef>
                <a:spcPts val="1000"/>
              </a:spcBef>
              <a:spcAft>
                <a:spcPts val="0"/>
              </a:spcAft>
              <a:buClr>
                <a:schemeClr val="dk1"/>
              </a:buClr>
              <a:buSzPts val="1600"/>
              <a:buFont typeface="Noto Sans Symbols"/>
              <a:buChar char="❑"/>
            </a:pPr>
            <a:r>
              <a:rPr lang="el-GR" sz="1600" dirty="0">
                <a:latin typeface="Tahoma"/>
                <a:ea typeface="Tahoma"/>
                <a:cs typeface="Tahoma"/>
                <a:sym typeface="Tahoma"/>
              </a:rPr>
              <a:t>Στην δεξιά εκδοχή ο ίδιος υπάλληλος (</a:t>
            </a:r>
            <a:r>
              <a:rPr lang="el-GR" sz="1600" dirty="0" err="1">
                <a:latin typeface="Tahoma"/>
                <a:ea typeface="Tahoma"/>
                <a:cs typeface="Tahoma"/>
                <a:sym typeface="Tahoma"/>
              </a:rPr>
              <a:t>Critic</a:t>
            </a:r>
            <a:r>
              <a:rPr lang="el-GR" sz="1600" dirty="0">
                <a:latin typeface="Tahoma"/>
                <a:ea typeface="Tahoma"/>
                <a:cs typeface="Tahoma"/>
                <a:sym typeface="Tahoma"/>
              </a:rPr>
              <a:t>) έχει έναν μεγεθυντικό φακό και βαθμολογεί το χαρτονόμισμα με έναν αριθμό. Ο παραχαράκτης προσπαθεί να αυξήσει αυτό το σκορ κάθε φορά, μέσω συνεχούς ανατροφοδότησης, βελτιώνοντας την ποιότητα των χρημάτων του ώστε να φαίνονται όσο το δυνατόν πιο αυθεντικά.  </a:t>
            </a:r>
            <a:endParaRPr dirty="0"/>
          </a:p>
        </p:txBody>
      </p:sp>
      <p:pic>
        <p:nvPicPr>
          <p:cNvPr id="459" name="Google Shape;459;p32" descr="A cartoon of a person holding a magnifying glass and money&#10;&#10;AI-generated content may be incorrect."/>
          <p:cNvPicPr preferRelativeResize="0"/>
          <p:nvPr/>
        </p:nvPicPr>
        <p:blipFill rotWithShape="1">
          <a:blip r:embed="rId3">
            <a:alphaModFix/>
          </a:blip>
          <a:srcRect b="13390"/>
          <a:stretch/>
        </p:blipFill>
        <p:spPr>
          <a:xfrm>
            <a:off x="5388058" y="2286000"/>
            <a:ext cx="6435937" cy="3716107"/>
          </a:xfrm>
          <a:prstGeom prst="rect">
            <a:avLst/>
          </a:prstGeom>
          <a:ln>
            <a:noFill/>
          </a:ln>
          <a:effectLst>
            <a:outerShdw blurRad="190500" algn="tl" rotWithShape="0">
              <a:srgbClr val="000000">
                <a:alpha val="70000"/>
              </a:srgbClr>
            </a:outerShdw>
          </a:effec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72"/>
        <p:cNvGrpSpPr/>
        <p:nvPr/>
      </p:nvGrpSpPr>
      <p:grpSpPr>
        <a:xfrm>
          <a:off x="0" y="0"/>
          <a:ext cx="0" cy="0"/>
          <a:chOff x="0" y="0"/>
          <a:chExt cx="0" cy="0"/>
        </a:xfrm>
      </p:grpSpPr>
      <p:sp>
        <p:nvSpPr>
          <p:cNvPr id="473" name="Google Shape;473;p33"/>
          <p:cNvSpPr txBox="1">
            <a:spLocks noGrp="1"/>
          </p:cNvSpPr>
          <p:nvPr>
            <p:ph type="title"/>
          </p:nvPr>
        </p:nvSpPr>
        <p:spPr>
          <a:xfrm>
            <a:off x="1115568" y="548640"/>
            <a:ext cx="10168128" cy="1179576"/>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Avenir"/>
              <a:buNone/>
            </a:pPr>
            <a:r>
              <a:rPr lang="el-GR" dirty="0" err="1">
                <a:latin typeface="Tahoma" panose="020B0604030504040204" pitchFamily="34" charset="0"/>
                <a:ea typeface="Tahoma" panose="020B0604030504040204" pitchFamily="34" charset="0"/>
                <a:cs typeface="Tahoma" panose="020B0604030504040204" pitchFamily="34" charset="0"/>
              </a:rPr>
              <a:t>Aπόσταση</a:t>
            </a:r>
            <a:r>
              <a:rPr lang="el-GR" dirty="0">
                <a:latin typeface="Tahoma" panose="020B0604030504040204" pitchFamily="34" charset="0"/>
                <a:ea typeface="Tahoma" panose="020B0604030504040204" pitchFamily="34" charset="0"/>
                <a:cs typeface="Tahoma" panose="020B0604030504040204" pitchFamily="34" charset="0"/>
              </a:rPr>
              <a:t> </a:t>
            </a:r>
            <a:r>
              <a:rPr lang="el-GR" dirty="0" err="1">
                <a:latin typeface="Tahoma" panose="020B0604030504040204" pitchFamily="34" charset="0"/>
                <a:ea typeface="Tahoma" panose="020B0604030504040204" pitchFamily="34" charset="0"/>
                <a:cs typeface="Tahoma" panose="020B0604030504040204" pitchFamily="34" charset="0"/>
              </a:rPr>
              <a:t>Wasserstein</a:t>
            </a:r>
            <a:r>
              <a:rPr lang="el-GR" dirty="0">
                <a:latin typeface="Tahoma" panose="020B0604030504040204" pitchFamily="34" charset="0"/>
                <a:ea typeface="Tahoma" panose="020B0604030504040204" pitchFamily="34" charset="0"/>
                <a:cs typeface="Tahoma" panose="020B0604030504040204" pitchFamily="34" charset="0"/>
              </a:rPr>
              <a:t> (</a:t>
            </a:r>
            <a:r>
              <a:rPr lang="el-GR" dirty="0" err="1">
                <a:latin typeface="Tahoma" panose="020B0604030504040204" pitchFamily="34" charset="0"/>
                <a:ea typeface="Tahoma" panose="020B0604030504040204" pitchFamily="34" charset="0"/>
                <a:cs typeface="Tahoma" panose="020B0604030504040204" pitchFamily="34" charset="0"/>
              </a:rPr>
              <a:t>Earth</a:t>
            </a:r>
            <a:r>
              <a:rPr lang="el-GR" dirty="0">
                <a:latin typeface="Tahoma" panose="020B0604030504040204" pitchFamily="34" charset="0"/>
                <a:ea typeface="Tahoma" panose="020B0604030504040204" pitchFamily="34" charset="0"/>
                <a:cs typeface="Tahoma" panose="020B0604030504040204" pitchFamily="34" charset="0"/>
              </a:rPr>
              <a:t> </a:t>
            </a:r>
            <a:r>
              <a:rPr lang="el-GR" dirty="0" err="1">
                <a:latin typeface="Tahoma" panose="020B0604030504040204" pitchFamily="34" charset="0"/>
                <a:ea typeface="Tahoma" panose="020B0604030504040204" pitchFamily="34" charset="0"/>
                <a:cs typeface="Tahoma" panose="020B0604030504040204" pitchFamily="34" charset="0"/>
              </a:rPr>
              <a:t>Mover’s</a:t>
            </a:r>
            <a:r>
              <a:rPr lang="el-GR" dirty="0">
                <a:latin typeface="Tahoma" panose="020B0604030504040204" pitchFamily="34" charset="0"/>
                <a:ea typeface="Tahoma" panose="020B0604030504040204" pitchFamily="34" charset="0"/>
                <a:cs typeface="Tahoma" panose="020B0604030504040204" pitchFamily="34" charset="0"/>
              </a:rPr>
              <a:t> </a:t>
            </a:r>
            <a:r>
              <a:rPr lang="el-GR" dirty="0" err="1">
                <a:latin typeface="Tahoma" panose="020B0604030504040204" pitchFamily="34" charset="0"/>
                <a:ea typeface="Tahoma" panose="020B0604030504040204" pitchFamily="34" charset="0"/>
                <a:cs typeface="Tahoma" panose="020B0604030504040204" pitchFamily="34" charset="0"/>
              </a:rPr>
              <a:t>Distance</a:t>
            </a:r>
            <a:r>
              <a:rPr lang="el-GR" dirty="0">
                <a:latin typeface="Tahoma" panose="020B0604030504040204" pitchFamily="34" charset="0"/>
                <a:ea typeface="Tahoma" panose="020B0604030504040204" pitchFamily="34" charset="0"/>
                <a:cs typeface="Tahoma" panose="020B0604030504040204" pitchFamily="34" charset="0"/>
              </a:rPr>
              <a:t>)</a:t>
            </a:r>
            <a:endParaRPr dirty="0">
              <a:latin typeface="Tahoma" panose="020B0604030504040204" pitchFamily="34" charset="0"/>
              <a:ea typeface="Tahoma" panose="020B0604030504040204" pitchFamily="34" charset="0"/>
              <a:cs typeface="Tahoma" panose="020B0604030504040204" pitchFamily="34" charset="0"/>
            </a:endParaRPr>
          </a:p>
        </p:txBody>
      </p:sp>
      <p:sp>
        <p:nvSpPr>
          <p:cNvPr id="474" name="Google Shape;474;p33"/>
          <p:cNvSpPr txBox="1">
            <a:spLocks noGrp="1"/>
          </p:cNvSpPr>
          <p:nvPr>
            <p:ph type="body" idx="1"/>
          </p:nvPr>
        </p:nvSpPr>
        <p:spPr>
          <a:xfrm>
            <a:off x="761998" y="2187372"/>
            <a:ext cx="10349347" cy="4562272"/>
          </a:xfrm>
          <a:prstGeom prst="rect">
            <a:avLst/>
          </a:prstGeom>
          <a:noFill/>
          <a:ln>
            <a:noFill/>
          </a:ln>
        </p:spPr>
        <p:txBody>
          <a:bodyPr spcFirstLastPara="1" wrap="square" lIns="91425" tIns="45700" rIns="91425" bIns="45700" anchor="t" anchorCtr="0">
            <a:normAutofit/>
          </a:bodyPr>
          <a:lstStyle/>
          <a:p>
            <a:pPr marL="228600" lvl="0" indent="-228600" algn="l" rtl="0">
              <a:lnSpc>
                <a:spcPct val="110000"/>
              </a:lnSpc>
              <a:spcBef>
                <a:spcPts val="0"/>
              </a:spcBef>
              <a:spcAft>
                <a:spcPts val="0"/>
              </a:spcAft>
              <a:buClr>
                <a:schemeClr val="dk1"/>
              </a:buClr>
              <a:buSzPts val="1600"/>
              <a:buFont typeface="Noto Sans Symbols"/>
              <a:buChar char="❑"/>
            </a:pPr>
            <a:r>
              <a:rPr lang="el-GR" sz="1600" dirty="0">
                <a:latin typeface="Tahoma"/>
                <a:ea typeface="Tahoma"/>
                <a:cs typeface="Tahoma"/>
                <a:sym typeface="Tahoma"/>
              </a:rPr>
              <a:t>Το παραδοσιακό μοντέλο GAN παρουσίασε αστάθεια κατά την εκπαίδευση, το WGAN αντιμετωπίζει αυτό το ζήτημα χρησιμοποιώντας την απόσταση </a:t>
            </a:r>
            <a:r>
              <a:rPr lang="el-GR" sz="1600" dirty="0" err="1">
                <a:latin typeface="Tahoma"/>
                <a:ea typeface="Tahoma"/>
                <a:cs typeface="Tahoma"/>
                <a:sym typeface="Tahoma"/>
              </a:rPr>
              <a:t>Wasserstein</a:t>
            </a:r>
            <a:r>
              <a:rPr lang="el-GR" sz="1600" dirty="0">
                <a:latin typeface="Tahoma"/>
                <a:ea typeface="Tahoma"/>
                <a:cs typeface="Tahoma"/>
                <a:sym typeface="Tahoma"/>
              </a:rPr>
              <a:t> ως συνάρτηση απώλειας. </a:t>
            </a:r>
            <a:endParaRPr sz="1600" dirty="0">
              <a:latin typeface="Tahoma"/>
              <a:ea typeface="Tahoma"/>
              <a:cs typeface="Tahoma"/>
              <a:sym typeface="Tahoma"/>
            </a:endParaRPr>
          </a:p>
          <a:p>
            <a:pPr marL="228600" lvl="0" indent="0" algn="l" rtl="0">
              <a:lnSpc>
                <a:spcPct val="110000"/>
              </a:lnSpc>
              <a:spcBef>
                <a:spcPts val="0"/>
              </a:spcBef>
              <a:spcAft>
                <a:spcPts val="0"/>
              </a:spcAft>
              <a:buNone/>
            </a:pPr>
            <a:r>
              <a:rPr lang="el-GR" sz="1600" dirty="0">
                <a:latin typeface="Tahoma"/>
                <a:ea typeface="Tahoma"/>
                <a:cs typeface="Tahoma"/>
                <a:sym typeface="Tahoma"/>
              </a:rPr>
              <a:t>Η απόσταση αυτή ορίζεται ως </a:t>
            </a:r>
            <a:r>
              <a:rPr lang="el-GR" sz="1600" dirty="0">
                <a:solidFill>
                  <a:schemeClr val="tx1"/>
                </a:solidFill>
                <a:latin typeface="Tahoma"/>
                <a:ea typeface="Tahoma"/>
                <a:cs typeface="Tahoma"/>
                <a:sym typeface="Tahoma"/>
              </a:rPr>
              <a:t>το ελάχιστο έργο μεταφοράς (δηλαδή το κόστος μετακίνησης της μάζας) που απαιτείται για να μετατραπεί η πραγματική κατανομή 𝑃𝑟​ στην παραγόμενη 𝑃𝑔</a:t>
            </a:r>
            <a:r>
              <a:rPr lang="el-GR" sz="1600" dirty="0">
                <a:latin typeface="Tahoma"/>
                <a:ea typeface="Tahoma"/>
                <a:cs typeface="Tahoma"/>
                <a:sym typeface="Tahoma"/>
              </a:rPr>
              <a:t>. Έτσι, το WGAN στοχεύει στην ελαχιστοποίηση της διαφοράς μεταξύ των δύο κατανομών, αντί να ελαχιστοποιεί απλώς τη διαφορά μεταξύ των πιθανοτήτων, προσφέροντας πιο ουσιαστικές κλίσεις στη γεννήτρια, δείχνοντάς της πόσο και σε ποια κατεύθυνση πρέπει να τροποποιήσει τις παραμέτρους της ώστε να προσεγγίσει τα πραγματικά δεδομένα.</a:t>
            </a:r>
            <a:endParaRPr dirty="0"/>
          </a:p>
          <a:p>
            <a:pPr marL="228600" lvl="0" indent="-228600" algn="l" rtl="0">
              <a:lnSpc>
                <a:spcPct val="110000"/>
              </a:lnSpc>
              <a:spcBef>
                <a:spcPts val="1000"/>
              </a:spcBef>
              <a:spcAft>
                <a:spcPts val="0"/>
              </a:spcAft>
              <a:buClr>
                <a:schemeClr val="dk1"/>
              </a:buClr>
              <a:buSzPts val="1600"/>
              <a:buFont typeface="Noto Sans Symbols"/>
              <a:buChar char="❑"/>
            </a:pPr>
            <a:r>
              <a:rPr lang="el-GR" sz="1600" dirty="0">
                <a:latin typeface="Tahoma"/>
                <a:ea typeface="Tahoma"/>
                <a:cs typeface="Tahoma"/>
                <a:sym typeface="Tahoma"/>
              </a:rPr>
              <a:t>Συγκεκριμένα, αναζητούμε την ελάχιστη τιμή του κόστους μεταφοράς σε όλο το σύνολο Π(𝑃𝑟,𝑃𝑔), το οποίο περιέχει όλες τις από κοινού κατανομές 𝛾(𝑥,𝑦), όπου η συνάρτηση κόστους 𝑐(𝑥,𝑦) εκφράζει το κόστος της μετακίνησης μάζας από το 𝑥 στο 𝑦 και η 𝛾(𝑥,𝑦) αντιπροσωπεύει την</a:t>
            </a:r>
            <a:r>
              <a:rPr lang="el-GR" sz="1600" dirty="0">
                <a:solidFill>
                  <a:srgbClr val="000000"/>
                </a:solidFill>
                <a:latin typeface="Tahoma"/>
                <a:ea typeface="Tahoma"/>
                <a:cs typeface="Tahoma"/>
                <a:sym typeface="Tahoma"/>
              </a:rPr>
              <a:t> ποσότητα μάζας που απαιτείται για τη μετατροπή της 𝑃𝑟 στην 𝑃𝑔. </a:t>
            </a:r>
            <a:endParaRPr dirty="0">
              <a:solidFill>
                <a:srgbClr val="000000"/>
              </a:solidFill>
            </a:endParaRPr>
          </a:p>
        </p:txBody>
      </p:sp>
      <p:pic>
        <p:nvPicPr>
          <p:cNvPr id="475" name="Google Shape;475;p33" descr="Eq. 1: Wasserstein Distance between distributions P_r and P_g."/>
          <p:cNvPicPr preferRelativeResize="0"/>
          <p:nvPr/>
        </p:nvPicPr>
        <p:blipFill rotWithShape="1">
          <a:blip r:embed="rId3">
            <a:alphaModFix/>
          </a:blip>
          <a:srcRect/>
          <a:stretch/>
        </p:blipFill>
        <p:spPr>
          <a:xfrm>
            <a:off x="4173001" y="5629254"/>
            <a:ext cx="6419275" cy="603479"/>
          </a:xfrm>
          <a:prstGeom prst="rect">
            <a:avLst/>
          </a:prstGeom>
          <a:noFill/>
          <a:ln>
            <a:noFill/>
          </a:ln>
          <a:effectLst>
            <a:outerShdw blurRad="190500" algn="tl" rotWithShape="0">
              <a:srgbClr val="000000">
                <a:alpha val="69803"/>
              </a:srgbClr>
            </a:outerShdw>
          </a:effec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90"/>
        <p:cNvGrpSpPr/>
        <p:nvPr/>
      </p:nvGrpSpPr>
      <p:grpSpPr>
        <a:xfrm>
          <a:off x="0" y="0"/>
          <a:ext cx="0" cy="0"/>
          <a:chOff x="0" y="0"/>
          <a:chExt cx="0" cy="0"/>
        </a:xfrm>
      </p:grpSpPr>
      <p:sp>
        <p:nvSpPr>
          <p:cNvPr id="491" name="Google Shape;491;p35"/>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venir"/>
              <a:ea typeface="Avenir"/>
              <a:cs typeface="Avenir"/>
              <a:sym typeface="Avenir"/>
            </a:endParaRPr>
          </a:p>
        </p:txBody>
      </p:sp>
      <p:sp>
        <p:nvSpPr>
          <p:cNvPr id="492" name="Google Shape;492;p35"/>
          <p:cNvSpPr txBox="1">
            <a:spLocks noGrp="1"/>
          </p:cNvSpPr>
          <p:nvPr>
            <p:ph type="title"/>
          </p:nvPr>
        </p:nvSpPr>
        <p:spPr>
          <a:xfrm>
            <a:off x="411480" y="991443"/>
            <a:ext cx="4443154" cy="1087819"/>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dk1"/>
              </a:buClr>
              <a:buSzPts val="3400"/>
              <a:buFont typeface="Avenir"/>
              <a:buNone/>
            </a:pPr>
            <a:r>
              <a:rPr lang="el-GR" sz="3400" dirty="0">
                <a:latin typeface="Tahoma" panose="020B0604030504040204" pitchFamily="34" charset="0"/>
                <a:ea typeface="Tahoma" panose="020B0604030504040204" pitchFamily="34" charset="0"/>
                <a:cs typeface="Tahoma" panose="020B0604030504040204" pitchFamily="34" charset="0"/>
              </a:rPr>
              <a:t>Συμπεριφορά Κλίσεων κατά την Εκπαίδευση</a:t>
            </a:r>
            <a:endParaRPr dirty="0">
              <a:latin typeface="Tahoma" panose="020B0604030504040204" pitchFamily="34" charset="0"/>
              <a:ea typeface="Tahoma" panose="020B0604030504040204" pitchFamily="34" charset="0"/>
              <a:cs typeface="Tahoma" panose="020B0604030504040204" pitchFamily="34" charset="0"/>
            </a:endParaRPr>
          </a:p>
        </p:txBody>
      </p:sp>
      <p:sp>
        <p:nvSpPr>
          <p:cNvPr id="493" name="Google Shape;493;p35"/>
          <p:cNvSpPr/>
          <p:nvPr/>
        </p:nvSpPr>
        <p:spPr>
          <a:xfrm rot="5400000">
            <a:off x="649223" y="387939"/>
            <a:ext cx="73152" cy="54864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FFFFFF"/>
              </a:solidFill>
              <a:latin typeface="Calibri"/>
              <a:ea typeface="Calibri"/>
              <a:cs typeface="Calibri"/>
              <a:sym typeface="Calibri"/>
            </a:endParaRPr>
          </a:p>
        </p:txBody>
      </p:sp>
      <p:sp>
        <p:nvSpPr>
          <p:cNvPr id="494" name="Google Shape;494;p35"/>
          <p:cNvSpPr/>
          <p:nvPr/>
        </p:nvSpPr>
        <p:spPr>
          <a:xfrm>
            <a:off x="411480" y="2285541"/>
            <a:ext cx="4389120" cy="18288"/>
          </a:xfrm>
          <a:prstGeom prst="rect">
            <a:avLst/>
          </a:prstGeom>
          <a:solidFill>
            <a:srgbClr val="D6BDD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FFFFFF"/>
              </a:solidFill>
              <a:latin typeface="Calibri"/>
              <a:ea typeface="Calibri"/>
              <a:cs typeface="Calibri"/>
              <a:sym typeface="Calibri"/>
            </a:endParaRPr>
          </a:p>
        </p:txBody>
      </p:sp>
      <p:sp>
        <p:nvSpPr>
          <p:cNvPr id="495" name="Google Shape;495;p35"/>
          <p:cNvSpPr txBox="1">
            <a:spLocks noGrp="1"/>
          </p:cNvSpPr>
          <p:nvPr>
            <p:ph type="body" idx="1"/>
          </p:nvPr>
        </p:nvSpPr>
        <p:spPr>
          <a:xfrm>
            <a:off x="411478" y="2371870"/>
            <a:ext cx="6301403" cy="4389148"/>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110000"/>
              </a:lnSpc>
              <a:spcBef>
                <a:spcPts val="0"/>
              </a:spcBef>
              <a:spcAft>
                <a:spcPts val="0"/>
              </a:spcAft>
              <a:buClr>
                <a:schemeClr val="dk1"/>
              </a:buClr>
              <a:buSzPts val="1600"/>
              <a:buNone/>
            </a:pPr>
            <a:r>
              <a:rPr lang="el-GR" sz="1600" dirty="0">
                <a:latin typeface="Tahoma"/>
                <a:ea typeface="Tahoma"/>
                <a:cs typeface="Tahoma"/>
                <a:sym typeface="Tahoma"/>
              </a:rPr>
              <a:t>Στην εικόνα παρουσιάζονται τέσσερα βασικά στοιχεία:</a:t>
            </a:r>
            <a:endParaRPr dirty="0"/>
          </a:p>
          <a:p>
            <a:pPr marL="228600" lvl="0" indent="-228600" algn="l" rtl="0">
              <a:lnSpc>
                <a:spcPct val="110000"/>
              </a:lnSpc>
              <a:spcBef>
                <a:spcPts val="1000"/>
              </a:spcBef>
              <a:spcAft>
                <a:spcPts val="0"/>
              </a:spcAft>
              <a:buClr>
                <a:schemeClr val="dk1"/>
              </a:buClr>
              <a:buSzPts val="1600"/>
              <a:buFont typeface="Noto Sans Symbols"/>
              <a:buChar char="❑"/>
            </a:pPr>
            <a:r>
              <a:rPr lang="el-GR" sz="1600" dirty="0">
                <a:latin typeface="Tahoma"/>
                <a:ea typeface="Tahoma"/>
                <a:cs typeface="Tahoma"/>
                <a:sym typeface="Tahoma"/>
              </a:rPr>
              <a:t>Η </a:t>
            </a:r>
            <a:r>
              <a:rPr lang="el-GR" sz="1600" b="1" dirty="0">
                <a:latin typeface="Tahoma"/>
                <a:ea typeface="Tahoma"/>
                <a:cs typeface="Tahoma"/>
                <a:sym typeface="Tahoma"/>
              </a:rPr>
              <a:t>μπλε καμπύλη</a:t>
            </a:r>
            <a:r>
              <a:rPr lang="el-GR" sz="1600" dirty="0">
                <a:latin typeface="Tahoma"/>
                <a:ea typeface="Tahoma"/>
                <a:cs typeface="Tahoma"/>
                <a:sym typeface="Tahoma"/>
              </a:rPr>
              <a:t> και τα σημεία δείχνουν την </a:t>
            </a:r>
            <a:r>
              <a:rPr lang="el-GR" sz="1600" b="1" dirty="0">
                <a:latin typeface="Tahoma"/>
                <a:ea typeface="Tahoma"/>
                <a:cs typeface="Tahoma"/>
                <a:sym typeface="Tahoma"/>
              </a:rPr>
              <a:t>κατανομή των πραγματικών δεδομένων</a:t>
            </a:r>
            <a:endParaRPr sz="1600" dirty="0">
              <a:latin typeface="Tahoma"/>
              <a:ea typeface="Tahoma"/>
              <a:cs typeface="Tahoma"/>
              <a:sym typeface="Tahoma"/>
            </a:endParaRPr>
          </a:p>
          <a:p>
            <a:pPr marL="228600" lvl="0" indent="-228600" algn="l" rtl="0">
              <a:lnSpc>
                <a:spcPct val="110000"/>
              </a:lnSpc>
              <a:spcBef>
                <a:spcPts val="1000"/>
              </a:spcBef>
              <a:spcAft>
                <a:spcPts val="0"/>
              </a:spcAft>
              <a:buClr>
                <a:schemeClr val="dk1"/>
              </a:buClr>
              <a:buSzPts val="1600"/>
              <a:buFont typeface="Noto Sans Symbols"/>
              <a:buChar char="❑"/>
            </a:pPr>
            <a:r>
              <a:rPr lang="el-GR" sz="1600" dirty="0">
                <a:latin typeface="Tahoma"/>
                <a:ea typeface="Tahoma"/>
                <a:cs typeface="Tahoma"/>
                <a:sym typeface="Tahoma"/>
              </a:rPr>
              <a:t>Η </a:t>
            </a:r>
            <a:r>
              <a:rPr lang="el-GR" sz="1600" b="1" dirty="0">
                <a:latin typeface="Tahoma"/>
                <a:ea typeface="Tahoma"/>
                <a:cs typeface="Tahoma"/>
                <a:sym typeface="Tahoma"/>
              </a:rPr>
              <a:t>πράσινη καμπύλη</a:t>
            </a:r>
            <a:r>
              <a:rPr lang="el-GR" sz="1600" dirty="0">
                <a:latin typeface="Tahoma"/>
                <a:ea typeface="Tahoma"/>
                <a:cs typeface="Tahoma"/>
                <a:sym typeface="Tahoma"/>
              </a:rPr>
              <a:t> και τα σημεία δείχνουν την </a:t>
            </a:r>
            <a:r>
              <a:rPr lang="el-GR" sz="1600" b="1" dirty="0">
                <a:latin typeface="Tahoma"/>
                <a:ea typeface="Tahoma"/>
                <a:cs typeface="Tahoma"/>
                <a:sym typeface="Tahoma"/>
              </a:rPr>
              <a:t>κατανομή των παραγόμενων δεδομένων</a:t>
            </a:r>
            <a:endParaRPr sz="1600" dirty="0">
              <a:latin typeface="Tahoma"/>
              <a:ea typeface="Tahoma"/>
              <a:cs typeface="Tahoma"/>
              <a:sym typeface="Tahoma"/>
            </a:endParaRPr>
          </a:p>
          <a:p>
            <a:pPr marL="228600" lvl="0" indent="-228600" algn="l" rtl="0">
              <a:lnSpc>
                <a:spcPct val="110000"/>
              </a:lnSpc>
              <a:spcBef>
                <a:spcPts val="1000"/>
              </a:spcBef>
              <a:spcAft>
                <a:spcPts val="0"/>
              </a:spcAft>
              <a:buClr>
                <a:schemeClr val="dk1"/>
              </a:buClr>
              <a:buSzPts val="1600"/>
              <a:buFont typeface="Noto Sans Symbols"/>
              <a:buChar char="❑"/>
            </a:pPr>
            <a:r>
              <a:rPr lang="el-GR" sz="1600" dirty="0">
                <a:latin typeface="Tahoma"/>
                <a:ea typeface="Tahoma"/>
                <a:cs typeface="Tahoma"/>
                <a:sym typeface="Tahoma"/>
              </a:rPr>
              <a:t>Η </a:t>
            </a:r>
            <a:r>
              <a:rPr lang="el-GR" sz="1600" b="1" dirty="0">
                <a:latin typeface="Tahoma"/>
                <a:ea typeface="Tahoma"/>
                <a:cs typeface="Tahoma"/>
                <a:sym typeface="Tahoma"/>
              </a:rPr>
              <a:t>κόκκινη καμπύλη</a:t>
            </a:r>
            <a:r>
              <a:rPr lang="el-GR" sz="1600" dirty="0">
                <a:latin typeface="Tahoma"/>
                <a:ea typeface="Tahoma"/>
                <a:cs typeface="Tahoma"/>
                <a:sym typeface="Tahoma"/>
              </a:rPr>
              <a:t> είναι η </a:t>
            </a:r>
            <a:r>
              <a:rPr lang="el-GR" sz="1600" b="1" dirty="0">
                <a:latin typeface="Tahoma"/>
                <a:ea typeface="Tahoma"/>
                <a:cs typeface="Tahoma"/>
                <a:sym typeface="Tahoma"/>
              </a:rPr>
              <a:t>έξοδος του διακριτή (</a:t>
            </a:r>
            <a:r>
              <a:rPr lang="el-GR" sz="1600" b="1" dirty="0" err="1">
                <a:latin typeface="Tahoma"/>
                <a:ea typeface="Tahoma"/>
                <a:cs typeface="Tahoma"/>
                <a:sym typeface="Tahoma"/>
              </a:rPr>
              <a:t>discriminator</a:t>
            </a:r>
            <a:r>
              <a:rPr lang="el-GR" sz="1600" b="1" dirty="0">
                <a:latin typeface="Tahoma"/>
                <a:ea typeface="Tahoma"/>
                <a:cs typeface="Tahoma"/>
                <a:sym typeface="Tahoma"/>
              </a:rPr>
              <a:t>) σε παραδοσιακό GAN</a:t>
            </a:r>
            <a:endParaRPr sz="1600" dirty="0">
              <a:latin typeface="Tahoma"/>
              <a:ea typeface="Tahoma"/>
              <a:cs typeface="Tahoma"/>
              <a:sym typeface="Tahoma"/>
            </a:endParaRPr>
          </a:p>
          <a:p>
            <a:pPr marL="228600" lvl="0" indent="-228600" algn="l" rtl="0">
              <a:lnSpc>
                <a:spcPct val="110000"/>
              </a:lnSpc>
              <a:spcBef>
                <a:spcPts val="1000"/>
              </a:spcBef>
              <a:spcAft>
                <a:spcPts val="0"/>
              </a:spcAft>
              <a:buClr>
                <a:schemeClr val="dk1"/>
              </a:buClr>
              <a:buSzPts val="1600"/>
              <a:buFont typeface="Noto Sans Symbols"/>
              <a:buChar char="❑"/>
            </a:pPr>
            <a:r>
              <a:rPr lang="el-GR" sz="1600" dirty="0">
                <a:latin typeface="Tahoma"/>
                <a:ea typeface="Tahoma"/>
                <a:cs typeface="Tahoma"/>
                <a:sym typeface="Tahoma"/>
              </a:rPr>
              <a:t>Η </a:t>
            </a:r>
            <a:r>
              <a:rPr lang="el-GR" sz="1600" b="1" dirty="0">
                <a:latin typeface="Tahoma"/>
                <a:ea typeface="Tahoma"/>
                <a:cs typeface="Tahoma"/>
                <a:sym typeface="Tahoma"/>
              </a:rPr>
              <a:t>γαλάζια γραμμή</a:t>
            </a:r>
            <a:r>
              <a:rPr lang="el-GR" sz="1600" dirty="0">
                <a:latin typeface="Tahoma"/>
                <a:ea typeface="Tahoma"/>
                <a:cs typeface="Tahoma"/>
                <a:sym typeface="Tahoma"/>
              </a:rPr>
              <a:t> είναι η </a:t>
            </a:r>
            <a:r>
              <a:rPr lang="el-GR" sz="1600" b="1" dirty="0">
                <a:latin typeface="Tahoma"/>
                <a:ea typeface="Tahoma"/>
                <a:cs typeface="Tahoma"/>
                <a:sym typeface="Tahoma"/>
              </a:rPr>
              <a:t>έξοδος του κριτή (</a:t>
            </a:r>
            <a:r>
              <a:rPr lang="el-GR" sz="1600" b="1" dirty="0" err="1">
                <a:latin typeface="Tahoma"/>
                <a:ea typeface="Tahoma"/>
                <a:cs typeface="Tahoma"/>
                <a:sym typeface="Tahoma"/>
              </a:rPr>
              <a:t>critic</a:t>
            </a:r>
            <a:r>
              <a:rPr lang="el-GR" sz="1600" b="1" dirty="0">
                <a:latin typeface="Tahoma"/>
                <a:ea typeface="Tahoma"/>
                <a:cs typeface="Tahoma"/>
                <a:sym typeface="Tahoma"/>
              </a:rPr>
              <a:t>) σε WGAN.</a:t>
            </a:r>
            <a:endParaRPr dirty="0"/>
          </a:p>
          <a:p>
            <a:pPr marL="0" lvl="0" indent="0" algn="l" rtl="0">
              <a:lnSpc>
                <a:spcPct val="110000"/>
              </a:lnSpc>
              <a:spcBef>
                <a:spcPts val="1000"/>
              </a:spcBef>
              <a:spcAft>
                <a:spcPts val="0"/>
              </a:spcAft>
              <a:buClr>
                <a:schemeClr val="dk1"/>
              </a:buClr>
              <a:buSzPts val="1600"/>
              <a:buNone/>
            </a:pPr>
            <a:r>
              <a:rPr lang="el-GR" sz="1600" dirty="0">
                <a:solidFill>
                  <a:schemeClr val="tx1"/>
                </a:solidFill>
                <a:latin typeface="Tahoma"/>
                <a:ea typeface="Tahoma"/>
                <a:cs typeface="Tahoma"/>
                <a:sym typeface="Tahoma"/>
              </a:rPr>
              <a:t>Καθώς στο κλασικό GAN ο διαχωριστής βελτιώνεται, οι κλίσεις στη γεννήτρια τείνουν στο μηδέν (</a:t>
            </a:r>
            <a:r>
              <a:rPr lang="el-GR" sz="1600" dirty="0" err="1">
                <a:solidFill>
                  <a:schemeClr val="tx1"/>
                </a:solidFill>
                <a:latin typeface="Tahoma"/>
                <a:ea typeface="Tahoma"/>
                <a:cs typeface="Tahoma"/>
                <a:sym typeface="Tahoma"/>
              </a:rPr>
              <a:t>vanishing</a:t>
            </a:r>
            <a:r>
              <a:rPr lang="el-GR" sz="1600" dirty="0">
                <a:solidFill>
                  <a:schemeClr val="tx1"/>
                </a:solidFill>
                <a:latin typeface="Tahoma"/>
                <a:ea typeface="Tahoma"/>
                <a:cs typeface="Tahoma"/>
                <a:sym typeface="Tahoma"/>
              </a:rPr>
              <a:t> </a:t>
            </a:r>
            <a:r>
              <a:rPr lang="el-GR" sz="1600" dirty="0" err="1">
                <a:solidFill>
                  <a:schemeClr val="tx1"/>
                </a:solidFill>
                <a:latin typeface="Tahoma"/>
                <a:ea typeface="Tahoma"/>
                <a:cs typeface="Tahoma"/>
                <a:sym typeface="Tahoma"/>
              </a:rPr>
              <a:t>gradients</a:t>
            </a:r>
            <a:r>
              <a:rPr lang="el-GR" sz="1600" dirty="0">
                <a:solidFill>
                  <a:schemeClr val="tx1"/>
                </a:solidFill>
                <a:latin typeface="Tahoma"/>
                <a:ea typeface="Tahoma"/>
                <a:cs typeface="Tahoma"/>
                <a:sym typeface="Tahoma"/>
              </a:rPr>
              <a:t>), όπως φαίνεται στην επίπεδη κόκκινη καμπύλη. Αντίθετα, στο WGAN που χρησιμοποιεί </a:t>
            </a:r>
            <a:r>
              <a:rPr lang="el-GR" sz="1600" b="1" dirty="0">
                <a:solidFill>
                  <a:schemeClr val="tx1"/>
                </a:solidFill>
                <a:latin typeface="Tahoma"/>
                <a:ea typeface="Tahoma"/>
                <a:cs typeface="Tahoma"/>
                <a:sym typeface="Tahoma"/>
              </a:rPr>
              <a:t>Απόσταση </a:t>
            </a:r>
            <a:r>
              <a:rPr lang="el-GR" sz="1600" b="1" dirty="0" err="1">
                <a:solidFill>
                  <a:schemeClr val="tx1"/>
                </a:solidFill>
                <a:latin typeface="Tahoma"/>
                <a:ea typeface="Tahoma"/>
                <a:cs typeface="Tahoma"/>
                <a:sym typeface="Tahoma"/>
              </a:rPr>
              <a:t>Wasserstein</a:t>
            </a:r>
            <a:r>
              <a:rPr lang="el-GR" sz="1600" dirty="0">
                <a:solidFill>
                  <a:schemeClr val="tx1"/>
                </a:solidFill>
                <a:latin typeface="Tahoma"/>
                <a:ea typeface="Tahoma"/>
                <a:cs typeface="Tahoma"/>
                <a:sym typeface="Tahoma"/>
              </a:rPr>
              <a:t>, οι κλίσεις παραμένουν γραμμικές και σταθερές, επιτρέποντας ομαλότερη και πιο αποτελεσματική εκπαίδευση.</a:t>
            </a:r>
            <a:endParaRPr dirty="0">
              <a:solidFill>
                <a:schemeClr val="tx1"/>
              </a:solidFill>
            </a:endParaRPr>
          </a:p>
        </p:txBody>
      </p:sp>
      <p:pic>
        <p:nvPicPr>
          <p:cNvPr id="496" name="Google Shape;496;p35" descr="A graph of a graph showing the density of real and varnish&#10;&#10;AI-generated content may be incorrect."/>
          <p:cNvPicPr preferRelativeResize="0"/>
          <p:nvPr/>
        </p:nvPicPr>
        <p:blipFill rotWithShape="1">
          <a:blip r:embed="rId3">
            <a:alphaModFix/>
          </a:blip>
          <a:srcRect/>
          <a:stretch/>
        </p:blipFill>
        <p:spPr>
          <a:xfrm>
            <a:off x="6842190" y="1285295"/>
            <a:ext cx="5479118" cy="4287410"/>
          </a:xfrm>
          <a:prstGeom prst="rect">
            <a:avLst/>
          </a:prstGeom>
          <a:noFill/>
          <a:ln>
            <a:noFill/>
          </a:ln>
          <a:effectLst>
            <a:reflection stA="30000" endPos="30000" dist="5000" dir="5400000" sy="-100000" algn="bl" rotWithShape="0"/>
          </a:effec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501"/>
        <p:cNvGrpSpPr/>
        <p:nvPr/>
      </p:nvGrpSpPr>
      <p:grpSpPr>
        <a:xfrm>
          <a:off x="0" y="0"/>
          <a:ext cx="0" cy="0"/>
          <a:chOff x="0" y="0"/>
          <a:chExt cx="0" cy="0"/>
        </a:xfrm>
      </p:grpSpPr>
      <p:sp>
        <p:nvSpPr>
          <p:cNvPr id="502" name="Google Shape;502;p36"/>
          <p:cNvSpPr txBox="1">
            <a:spLocks noGrp="1"/>
          </p:cNvSpPr>
          <p:nvPr>
            <p:ph type="title"/>
          </p:nvPr>
        </p:nvSpPr>
        <p:spPr>
          <a:xfrm>
            <a:off x="1115568" y="548640"/>
            <a:ext cx="10168128" cy="1179576"/>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000"/>
              <a:buFont typeface="Avenir"/>
              <a:buNone/>
            </a:pPr>
            <a:r>
              <a:rPr lang="el-GR" dirty="0">
                <a:latin typeface="Tahoma" panose="020B0604030504040204" pitchFamily="34" charset="0"/>
                <a:ea typeface="Tahoma" panose="020B0604030504040204" pitchFamily="34" charset="0"/>
                <a:cs typeface="Tahoma" panose="020B0604030504040204" pitchFamily="34" charset="0"/>
              </a:rPr>
              <a:t>Λύση στην Εξαφάνιση Κλίσεων</a:t>
            </a:r>
            <a:endParaRPr dirty="0">
              <a:latin typeface="Tahoma" panose="020B0604030504040204" pitchFamily="34" charset="0"/>
              <a:ea typeface="Tahoma" panose="020B0604030504040204" pitchFamily="34" charset="0"/>
              <a:cs typeface="Tahoma" panose="020B0604030504040204" pitchFamily="34" charset="0"/>
            </a:endParaRPr>
          </a:p>
        </p:txBody>
      </p:sp>
      <p:sp>
        <p:nvSpPr>
          <p:cNvPr id="503" name="Google Shape;503;p36"/>
          <p:cNvSpPr txBox="1">
            <a:spLocks noGrp="1"/>
          </p:cNvSpPr>
          <p:nvPr>
            <p:ph type="body" idx="1"/>
          </p:nvPr>
        </p:nvSpPr>
        <p:spPr>
          <a:xfrm>
            <a:off x="826654" y="2175654"/>
            <a:ext cx="10745955" cy="4562272"/>
          </a:xfrm>
          <a:prstGeom prst="rect">
            <a:avLst/>
          </a:prstGeom>
          <a:noFill/>
          <a:ln>
            <a:noFill/>
          </a:ln>
        </p:spPr>
        <p:txBody>
          <a:bodyPr spcFirstLastPara="1" wrap="square" lIns="91425" tIns="45700" rIns="91425" bIns="45700" anchor="t" anchorCtr="0">
            <a:normAutofit/>
          </a:bodyPr>
          <a:lstStyle/>
          <a:p>
            <a:pPr marL="228600" lvl="0" indent="-228600" algn="l" rtl="0">
              <a:lnSpc>
                <a:spcPct val="110000"/>
              </a:lnSpc>
              <a:spcBef>
                <a:spcPts val="0"/>
              </a:spcBef>
              <a:spcAft>
                <a:spcPts val="0"/>
              </a:spcAft>
              <a:buClr>
                <a:schemeClr val="dk1"/>
              </a:buClr>
              <a:buSzPts val="1800"/>
              <a:buFont typeface="Noto Sans Symbols"/>
              <a:buChar char="❑"/>
            </a:pPr>
            <a:r>
              <a:rPr lang="el-GR" sz="1800" dirty="0">
                <a:latin typeface="Tahoma"/>
                <a:ea typeface="Tahoma"/>
                <a:cs typeface="Tahoma"/>
                <a:sym typeface="Tahoma"/>
              </a:rPr>
              <a:t>Στο κλασικό GAN, όταν ο διαχωριστής γίνεται πολύ καλός στο να ξεχωρίζει πραγματικά από παραγόμενα δείγματα, αρχίζει να δίνει ακραίες τιμές  (1 για τα πραγματικά και 0 για τα ψεύτικα). Αυτό φαίνεται στην κόκκινη καμπύλη, που γίνεται σχεδόν επίπεδη στις περιοχές των δεδομένων. Το αποτέλεσμα είναι ότι οι κλίσεις που χρησιμοποιεί η γεννήτρια για να βελτιωθεί γίνονται πολύ μικρές ή μηδενικές, με </a:t>
            </a:r>
            <a:r>
              <a:rPr lang="el-GR" sz="1800" dirty="0">
                <a:solidFill>
                  <a:schemeClr val="tx1"/>
                </a:solidFill>
                <a:latin typeface="Tahoma"/>
                <a:ea typeface="Tahoma"/>
                <a:cs typeface="Tahoma"/>
                <a:sym typeface="Tahoma"/>
              </a:rPr>
              <a:t>αποτέλεσμα να μπλοκάρεται η εκπαίδευσή της</a:t>
            </a:r>
            <a:r>
              <a:rPr lang="en-GB" sz="1800" dirty="0">
                <a:solidFill>
                  <a:schemeClr val="tx1"/>
                </a:solidFill>
                <a:latin typeface="Tahoma"/>
                <a:ea typeface="Tahoma"/>
                <a:cs typeface="Tahoma"/>
                <a:sym typeface="Tahoma"/>
              </a:rPr>
              <a:t>, </a:t>
            </a:r>
            <a:r>
              <a:rPr lang="el-GR" sz="1800" dirty="0">
                <a:solidFill>
                  <a:schemeClr val="tx1"/>
                </a:solidFill>
                <a:latin typeface="Tahoma"/>
                <a:ea typeface="Tahoma"/>
                <a:cs typeface="Tahoma"/>
                <a:sym typeface="Tahoma"/>
              </a:rPr>
              <a:t>φαινόμενο γνωστό ως </a:t>
            </a:r>
            <a:r>
              <a:rPr lang="el-GR" sz="1800" dirty="0" err="1">
                <a:solidFill>
                  <a:schemeClr val="tx1"/>
                </a:solidFill>
                <a:latin typeface="Tahoma"/>
                <a:ea typeface="Tahoma"/>
                <a:cs typeface="Tahoma"/>
                <a:sym typeface="Tahoma"/>
              </a:rPr>
              <a:t>vanishing</a:t>
            </a:r>
            <a:r>
              <a:rPr lang="el-GR" sz="1800" dirty="0">
                <a:solidFill>
                  <a:schemeClr val="tx1"/>
                </a:solidFill>
                <a:latin typeface="Tahoma"/>
                <a:ea typeface="Tahoma"/>
                <a:cs typeface="Tahoma"/>
                <a:sym typeface="Tahoma"/>
              </a:rPr>
              <a:t> </a:t>
            </a:r>
            <a:r>
              <a:rPr lang="el-GR" sz="1800" dirty="0" err="1">
                <a:solidFill>
                  <a:schemeClr val="tx1"/>
                </a:solidFill>
                <a:latin typeface="Tahoma"/>
                <a:ea typeface="Tahoma"/>
                <a:cs typeface="Tahoma"/>
                <a:sym typeface="Tahoma"/>
              </a:rPr>
              <a:t>gradients</a:t>
            </a:r>
            <a:r>
              <a:rPr lang="el-GR" sz="1800" dirty="0">
                <a:solidFill>
                  <a:schemeClr val="tx1"/>
                </a:solidFill>
                <a:latin typeface="Tahoma"/>
                <a:ea typeface="Tahoma"/>
                <a:cs typeface="Tahoma"/>
                <a:sym typeface="Tahoma"/>
              </a:rPr>
              <a:t>.</a:t>
            </a:r>
            <a:endParaRPr sz="1800" dirty="0">
              <a:solidFill>
                <a:schemeClr val="tx1"/>
              </a:solidFill>
              <a:latin typeface="Tahoma"/>
              <a:ea typeface="Tahoma"/>
              <a:cs typeface="Tahoma"/>
              <a:sym typeface="Tahoma"/>
            </a:endParaRPr>
          </a:p>
          <a:p>
            <a:pPr marL="228600" lvl="0" indent="-228600" algn="l" rtl="0">
              <a:lnSpc>
                <a:spcPct val="110000"/>
              </a:lnSpc>
              <a:spcBef>
                <a:spcPts val="1000"/>
              </a:spcBef>
              <a:spcAft>
                <a:spcPts val="0"/>
              </a:spcAft>
              <a:buClr>
                <a:schemeClr val="dk1"/>
              </a:buClr>
              <a:buSzPts val="1800"/>
              <a:buFont typeface="Noto Sans Symbols"/>
              <a:buChar char="❑"/>
            </a:pPr>
            <a:r>
              <a:rPr lang="el-GR" sz="1800" dirty="0">
                <a:latin typeface="Tahoma"/>
                <a:ea typeface="Tahoma"/>
                <a:cs typeface="Tahoma"/>
                <a:sym typeface="Tahoma"/>
              </a:rPr>
              <a:t>Αντίθετα, στο WGAN, ο κριτής δεν προσπαθεί να ξεχωρίσει αν ένα δείγμα είναι αληθινό ή ψεύτικο, αλλά να μετρήσει πόσο διαφορετικά είναι τα παραγόμενα από τα πραγματικά, χρησιμοποιώντας την Απόσταση </a:t>
            </a:r>
            <a:r>
              <a:rPr lang="el-GR" sz="1800" dirty="0" err="1">
                <a:latin typeface="Tahoma"/>
                <a:ea typeface="Tahoma"/>
                <a:cs typeface="Tahoma"/>
                <a:sym typeface="Tahoma"/>
              </a:rPr>
              <a:t>Wasserstein</a:t>
            </a:r>
            <a:r>
              <a:rPr lang="el-GR" sz="1800" dirty="0">
                <a:latin typeface="Tahoma"/>
                <a:ea typeface="Tahoma"/>
                <a:cs typeface="Tahoma"/>
                <a:sym typeface="Tahoma"/>
              </a:rPr>
              <a:t>. Η έξοδος του </a:t>
            </a:r>
            <a:r>
              <a:rPr lang="el-GR" sz="1800" dirty="0" err="1">
                <a:latin typeface="Tahoma"/>
                <a:ea typeface="Tahoma"/>
                <a:cs typeface="Tahoma"/>
                <a:sym typeface="Tahoma"/>
              </a:rPr>
              <a:t>critic</a:t>
            </a:r>
            <a:r>
              <a:rPr lang="el-GR" sz="1800" dirty="0">
                <a:latin typeface="Tahoma"/>
                <a:ea typeface="Tahoma"/>
                <a:cs typeface="Tahoma"/>
                <a:sym typeface="Tahoma"/>
              </a:rPr>
              <a:t> είναι γραμμική και ομαλή, όπως φαίνεται στη γαλάζια γραμμή, και παρέχει σταθερές, μη μηδενικές κλίσεις σε όλο το εύρος. Αυτό επιτρέπει στη γεννήτρια να βελτιώνεται συνεχώς και αποτελεσματικά, ακόμη κι όταν τα δεδομένα της είναι πολύ διαφορετικά από τα πραγματικά. Το αποτέλεσμα είναι πιο σταθερή και αποδοτική εκπαίδευση, ιδιαίτερα όταν οι δύο κατανομές δεν επικαλύπτονται καθόλου.</a:t>
            </a:r>
            <a:endParaRPr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508"/>
        <p:cNvGrpSpPr/>
        <p:nvPr/>
      </p:nvGrpSpPr>
      <p:grpSpPr>
        <a:xfrm>
          <a:off x="0" y="0"/>
          <a:ext cx="0" cy="0"/>
          <a:chOff x="0" y="0"/>
          <a:chExt cx="0" cy="0"/>
        </a:xfrm>
      </p:grpSpPr>
      <p:sp>
        <p:nvSpPr>
          <p:cNvPr id="509" name="Google Shape;509;p37"/>
          <p:cNvSpPr txBox="1">
            <a:spLocks noGrp="1"/>
          </p:cNvSpPr>
          <p:nvPr>
            <p:ph type="title"/>
          </p:nvPr>
        </p:nvSpPr>
        <p:spPr>
          <a:xfrm>
            <a:off x="1115568" y="548640"/>
            <a:ext cx="10168128" cy="1179576"/>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000"/>
              <a:buFont typeface="Avenir"/>
              <a:buNone/>
            </a:pPr>
            <a:r>
              <a:rPr lang="el-GR" dirty="0" err="1">
                <a:latin typeface="Tahoma" panose="020B0604030504040204" pitchFamily="34" charset="0"/>
                <a:ea typeface="Tahoma" panose="020B0604030504040204" pitchFamily="34" charset="0"/>
                <a:cs typeface="Tahoma" panose="020B0604030504040204" pitchFamily="34" charset="0"/>
              </a:rPr>
              <a:t>Δυϊκότητα</a:t>
            </a:r>
            <a:r>
              <a:rPr lang="el-GR" dirty="0">
                <a:latin typeface="Tahoma" panose="020B0604030504040204" pitchFamily="34" charset="0"/>
                <a:ea typeface="Tahoma" panose="020B0604030504040204" pitchFamily="34" charset="0"/>
                <a:cs typeface="Tahoma" panose="020B0604030504040204" pitchFamily="34" charset="0"/>
              </a:rPr>
              <a:t> </a:t>
            </a:r>
            <a:r>
              <a:rPr lang="el-GR" dirty="0" err="1">
                <a:latin typeface="Tahoma" panose="020B0604030504040204" pitchFamily="34" charset="0"/>
                <a:ea typeface="Tahoma" panose="020B0604030504040204" pitchFamily="34" charset="0"/>
                <a:cs typeface="Tahoma" panose="020B0604030504040204" pitchFamily="34" charset="0"/>
              </a:rPr>
              <a:t>Kantorovich-Rubinstein</a:t>
            </a:r>
            <a:endParaRPr dirty="0">
              <a:latin typeface="Tahoma" panose="020B0604030504040204" pitchFamily="34" charset="0"/>
              <a:ea typeface="Tahoma" panose="020B0604030504040204" pitchFamily="34" charset="0"/>
              <a:cs typeface="Tahoma" panose="020B0604030504040204" pitchFamily="34" charset="0"/>
            </a:endParaRPr>
          </a:p>
        </p:txBody>
      </p:sp>
      <p:sp>
        <p:nvSpPr>
          <p:cNvPr id="510" name="Google Shape;510;p37"/>
          <p:cNvSpPr txBox="1">
            <a:spLocks noGrp="1"/>
          </p:cNvSpPr>
          <p:nvPr>
            <p:ph type="body" idx="1"/>
          </p:nvPr>
        </p:nvSpPr>
        <p:spPr>
          <a:xfrm>
            <a:off x="826654" y="2175654"/>
            <a:ext cx="10746000" cy="4562400"/>
          </a:xfrm>
          <a:prstGeom prst="rect">
            <a:avLst/>
          </a:prstGeom>
          <a:noFill/>
          <a:ln>
            <a:noFill/>
          </a:ln>
        </p:spPr>
        <p:txBody>
          <a:bodyPr spcFirstLastPara="1" wrap="square" lIns="91425" tIns="45700" rIns="91425" bIns="45700" anchor="t" anchorCtr="0">
            <a:normAutofit/>
          </a:bodyPr>
          <a:lstStyle/>
          <a:p>
            <a:pPr marL="228600" lvl="0" indent="-228600" algn="l" rtl="0">
              <a:lnSpc>
                <a:spcPct val="110000"/>
              </a:lnSpc>
              <a:spcBef>
                <a:spcPts val="0"/>
              </a:spcBef>
              <a:spcAft>
                <a:spcPts val="0"/>
              </a:spcAft>
              <a:buClr>
                <a:schemeClr val="dk1"/>
              </a:buClr>
              <a:buSzPts val="1800"/>
              <a:buFont typeface="Noto Sans Symbols"/>
              <a:buChar char="❑"/>
            </a:pPr>
            <a:r>
              <a:rPr lang="el-GR" sz="1800" dirty="0">
                <a:latin typeface="Tahoma"/>
                <a:ea typeface="Tahoma"/>
                <a:cs typeface="Tahoma"/>
                <a:sym typeface="Tahoma"/>
              </a:rPr>
              <a:t>Άρα η βελτιστοποίηση της Απόστασης </a:t>
            </a:r>
            <a:r>
              <a:rPr lang="el-GR" sz="1800" dirty="0" err="1">
                <a:latin typeface="Tahoma"/>
                <a:ea typeface="Tahoma"/>
                <a:cs typeface="Tahoma"/>
                <a:sym typeface="Tahoma"/>
              </a:rPr>
              <a:t>Wasserstein</a:t>
            </a:r>
            <a:r>
              <a:rPr lang="el-GR" sz="1800" dirty="0">
                <a:latin typeface="Tahoma"/>
                <a:ea typeface="Tahoma"/>
                <a:cs typeface="Tahoma"/>
                <a:sym typeface="Tahoma"/>
              </a:rPr>
              <a:t> έχει περισσότερο νόημα από τη βελτιστοποίηση της </a:t>
            </a:r>
            <a:r>
              <a:rPr lang="el-GR" sz="1800" dirty="0" err="1">
                <a:latin typeface="Tahoma"/>
                <a:ea typeface="Tahoma"/>
                <a:cs typeface="Tahoma"/>
                <a:sym typeface="Tahoma"/>
              </a:rPr>
              <a:t>Jensen-Shannon</a:t>
            </a:r>
            <a:r>
              <a:rPr lang="el-GR" sz="1800" dirty="0">
                <a:latin typeface="Tahoma"/>
                <a:ea typeface="Tahoma"/>
                <a:cs typeface="Tahoma"/>
                <a:sym typeface="Tahoma"/>
              </a:rPr>
              <a:t> </a:t>
            </a:r>
            <a:r>
              <a:rPr lang="el-GR" sz="1800" dirty="0" err="1">
                <a:latin typeface="Tahoma"/>
                <a:ea typeface="Tahoma"/>
                <a:cs typeface="Tahoma"/>
                <a:sym typeface="Tahoma"/>
              </a:rPr>
              <a:t>Divergence</a:t>
            </a:r>
            <a:r>
              <a:rPr lang="el-GR" sz="1800" dirty="0">
                <a:latin typeface="Tahoma"/>
                <a:ea typeface="Tahoma"/>
                <a:cs typeface="Tahoma"/>
                <a:sym typeface="Tahoma"/>
              </a:rPr>
              <a:t>. Όμως, η αρχική της μορφή είναι υπολογιστικά απροσπέλαστη, επειδή απαιτεί να βρούμε το </a:t>
            </a:r>
            <a:r>
              <a:rPr lang="el-GR" sz="1800" dirty="0" err="1">
                <a:latin typeface="Tahoma"/>
                <a:ea typeface="Tahoma"/>
                <a:cs typeface="Tahoma"/>
                <a:sym typeface="Tahoma"/>
              </a:rPr>
              <a:t>infimum</a:t>
            </a:r>
            <a:r>
              <a:rPr lang="el-GR" sz="1800" dirty="0">
                <a:latin typeface="Tahoma"/>
                <a:ea typeface="Tahoma"/>
                <a:cs typeface="Tahoma"/>
                <a:sym typeface="Tahoma"/>
              </a:rPr>
              <a:t> (μέγιστο κάτω φράγμα) για όλες τις κοινές κατανομές 𝛾∈Π(𝑃𝑟,𝑃𝑔). Χάρη στη </a:t>
            </a:r>
            <a:r>
              <a:rPr lang="el-GR" sz="1800" dirty="0" err="1">
                <a:latin typeface="Tahoma"/>
                <a:ea typeface="Tahoma"/>
                <a:cs typeface="Tahoma"/>
                <a:sym typeface="Tahoma"/>
              </a:rPr>
              <a:t>δυϊκότητα</a:t>
            </a:r>
            <a:r>
              <a:rPr lang="el-GR" sz="1800" dirty="0">
                <a:latin typeface="Tahoma"/>
                <a:ea typeface="Tahoma"/>
                <a:cs typeface="Tahoma"/>
                <a:sym typeface="Tahoma"/>
              </a:rPr>
              <a:t>, η </a:t>
            </a:r>
            <a:r>
              <a:rPr lang="el-GR" sz="1800" dirty="0" err="1">
                <a:latin typeface="Tahoma"/>
                <a:ea typeface="Tahoma"/>
                <a:cs typeface="Tahoma"/>
                <a:sym typeface="Tahoma"/>
              </a:rPr>
              <a:t>Wasserstein</a:t>
            </a:r>
            <a:r>
              <a:rPr lang="el-GR" sz="1800" dirty="0">
                <a:latin typeface="Tahoma"/>
                <a:ea typeface="Tahoma"/>
                <a:cs typeface="Tahoma"/>
                <a:sym typeface="Tahoma"/>
              </a:rPr>
              <a:t> μετασχηματίζεται σε μια πιο πρακτική μορφή, όπου υπολογίζουμε το </a:t>
            </a:r>
            <a:r>
              <a:rPr lang="el-GR" sz="1800" dirty="0" err="1">
                <a:latin typeface="Tahoma"/>
                <a:ea typeface="Tahoma"/>
                <a:cs typeface="Tahoma"/>
                <a:sym typeface="Tahoma"/>
              </a:rPr>
              <a:t>supremum</a:t>
            </a:r>
            <a:r>
              <a:rPr lang="el-GR" sz="1800" dirty="0">
                <a:latin typeface="Tahoma"/>
                <a:ea typeface="Tahoma"/>
                <a:cs typeface="Tahoma"/>
                <a:sym typeface="Tahoma"/>
              </a:rPr>
              <a:t> (ανώτατο φράγμα) για όλες τις 1-Lipschitz συναρτήσεις 𝑓:𝑋→𝑅, δηλαδή συναρτήσεις με κλίση μικρότερη ή ίση του 1.</a:t>
            </a:r>
            <a:endParaRPr sz="1800" dirty="0">
              <a:latin typeface="Tahoma"/>
              <a:ea typeface="Tahoma"/>
              <a:cs typeface="Tahoma"/>
              <a:sym typeface="Tahoma"/>
            </a:endParaRPr>
          </a:p>
          <a:p>
            <a:pPr marL="228600" lvl="0" indent="-228600" algn="l" rtl="0">
              <a:lnSpc>
                <a:spcPct val="110000"/>
              </a:lnSpc>
              <a:spcBef>
                <a:spcPts val="1000"/>
              </a:spcBef>
              <a:spcAft>
                <a:spcPts val="0"/>
              </a:spcAft>
              <a:buClr>
                <a:schemeClr val="dk1"/>
              </a:buClr>
              <a:buSzPts val="1800"/>
              <a:buFont typeface="Noto Sans Symbols"/>
              <a:buChar char="❑"/>
            </a:pPr>
            <a:r>
              <a:rPr lang="el-GR" sz="1800" dirty="0">
                <a:solidFill>
                  <a:schemeClr val="tx1"/>
                </a:solidFill>
                <a:latin typeface="Tahoma"/>
                <a:ea typeface="Tahoma"/>
                <a:cs typeface="Tahoma"/>
                <a:sym typeface="Tahoma"/>
              </a:rPr>
              <a:t>Στην πράξη, αντί να υπολογίζουμε τις κατανομές 𝛾(𝑥,𝑦), εκπαιδεύουμε ένα νευρωνικό δίκτυο (</a:t>
            </a:r>
            <a:r>
              <a:rPr lang="el-GR" sz="1800" dirty="0" err="1">
                <a:solidFill>
                  <a:schemeClr val="tx1"/>
                </a:solidFill>
                <a:latin typeface="Tahoma"/>
                <a:ea typeface="Tahoma"/>
                <a:cs typeface="Tahoma"/>
                <a:sym typeface="Tahoma"/>
              </a:rPr>
              <a:t>critic</a:t>
            </a:r>
            <a:r>
              <a:rPr lang="el-GR" sz="1800" dirty="0">
                <a:solidFill>
                  <a:schemeClr val="tx1"/>
                </a:solidFill>
                <a:latin typeface="Tahoma"/>
                <a:ea typeface="Tahoma"/>
                <a:cs typeface="Tahoma"/>
                <a:sym typeface="Tahoma"/>
              </a:rPr>
              <a:t>) να προσεγγίζει μια τέτοια συνάρτηση 𝑓, και να μεγιστοποιεί τη διαφορά των μέσων τιμών της f για πραγματικά </a:t>
            </a:r>
            <a:r>
              <a:rPr lang="el-GR" sz="1800" dirty="0" err="1">
                <a:solidFill>
                  <a:schemeClr val="tx1"/>
                </a:solidFill>
                <a:latin typeface="Tahoma"/>
                <a:ea typeface="Tahoma"/>
                <a:cs typeface="Tahoma"/>
                <a:sym typeface="Tahoma"/>
              </a:rPr>
              <a:t>x∼Pr</a:t>
            </a:r>
            <a:r>
              <a:rPr lang="el-GR" sz="1800" dirty="0">
                <a:solidFill>
                  <a:schemeClr val="tx1"/>
                </a:solidFill>
                <a:latin typeface="Tahoma"/>
                <a:ea typeface="Tahoma"/>
                <a:cs typeface="Tahoma"/>
                <a:sym typeface="Tahoma"/>
              </a:rPr>
              <a:t> και παραγόμενα δείγματα </a:t>
            </a:r>
            <a:r>
              <a:rPr lang="el-GR" sz="1800" dirty="0" err="1">
                <a:solidFill>
                  <a:schemeClr val="tx1"/>
                </a:solidFill>
                <a:latin typeface="Tahoma"/>
                <a:ea typeface="Tahoma"/>
                <a:cs typeface="Tahoma"/>
                <a:sym typeface="Tahoma"/>
              </a:rPr>
              <a:t>x∼Pg</a:t>
            </a:r>
            <a:r>
              <a:rPr lang="el-GR" sz="1800" dirty="0">
                <a:solidFill>
                  <a:schemeClr val="tx1"/>
                </a:solidFill>
                <a:latin typeface="Tahoma"/>
                <a:ea typeface="Tahoma"/>
                <a:cs typeface="Tahoma"/>
                <a:sym typeface="Tahoma"/>
              </a:rPr>
              <a:t>​. Γι’ αυτό στα </a:t>
            </a:r>
            <a:r>
              <a:rPr lang="el-GR" sz="1800" dirty="0" err="1">
                <a:solidFill>
                  <a:schemeClr val="tx1"/>
                </a:solidFill>
                <a:latin typeface="Tahoma"/>
                <a:ea typeface="Tahoma"/>
                <a:cs typeface="Tahoma"/>
                <a:sym typeface="Tahoma"/>
              </a:rPr>
              <a:t>WGANs</a:t>
            </a:r>
            <a:r>
              <a:rPr lang="el-GR" sz="1800" dirty="0">
                <a:solidFill>
                  <a:schemeClr val="tx1"/>
                </a:solidFill>
                <a:latin typeface="Tahoma"/>
                <a:ea typeface="Tahoma"/>
                <a:cs typeface="Tahoma"/>
                <a:sym typeface="Tahoma"/>
              </a:rPr>
              <a:t>, δεν χρησιμοποιούμε </a:t>
            </a:r>
            <a:r>
              <a:rPr lang="el-GR" sz="1800" dirty="0" err="1">
                <a:solidFill>
                  <a:schemeClr val="tx1"/>
                </a:solidFill>
                <a:latin typeface="Tahoma"/>
                <a:ea typeface="Tahoma"/>
                <a:cs typeface="Tahoma"/>
                <a:sym typeface="Tahoma"/>
              </a:rPr>
              <a:t>discriminator</a:t>
            </a:r>
            <a:r>
              <a:rPr lang="el-GR" sz="1800" dirty="0">
                <a:solidFill>
                  <a:schemeClr val="tx1"/>
                </a:solidFill>
                <a:latin typeface="Tahoma"/>
                <a:ea typeface="Tahoma"/>
                <a:cs typeface="Tahoma"/>
                <a:sym typeface="Tahoma"/>
              </a:rPr>
              <a:t> αλλά </a:t>
            </a:r>
            <a:r>
              <a:rPr lang="el-GR" sz="1800" dirty="0" err="1">
                <a:solidFill>
                  <a:schemeClr val="tx1"/>
                </a:solidFill>
                <a:latin typeface="Tahoma"/>
                <a:ea typeface="Tahoma"/>
                <a:cs typeface="Tahoma"/>
                <a:sym typeface="Tahoma"/>
              </a:rPr>
              <a:t>critic</a:t>
            </a:r>
            <a:r>
              <a:rPr lang="el-GR" sz="1800" dirty="0">
                <a:solidFill>
                  <a:schemeClr val="tx1"/>
                </a:solidFill>
                <a:latin typeface="Tahoma"/>
                <a:ea typeface="Tahoma"/>
                <a:cs typeface="Tahoma"/>
                <a:sym typeface="Tahoma"/>
              </a:rPr>
              <a:t>, ο οποίος υλοποιεί αυτή τη 1-Lipschitz συνάρτηση και καθοδηγεί τη γεννήτρια με πιο σταθερές και χρήσιμες κλίσεις.</a:t>
            </a:r>
            <a:endParaRPr dirty="0">
              <a:solidFill>
                <a:schemeClr val="tx1"/>
              </a:solidFill>
            </a:endParaRPr>
          </a:p>
        </p:txBody>
      </p:sp>
      <p:pic>
        <p:nvPicPr>
          <p:cNvPr id="511" name="Google Shape;511;p37" descr="Eq. 3: Wasserstein Distance under 1-Lipschitz condition."/>
          <p:cNvPicPr preferRelativeResize="0"/>
          <p:nvPr/>
        </p:nvPicPr>
        <p:blipFill rotWithShape="1">
          <a:blip r:embed="rId3">
            <a:alphaModFix/>
          </a:blip>
          <a:srcRect/>
          <a:stretch/>
        </p:blipFill>
        <p:spPr>
          <a:xfrm>
            <a:off x="2197595" y="5751635"/>
            <a:ext cx="7796830" cy="696435"/>
          </a:xfrm>
          <a:prstGeom prst="rect">
            <a:avLst/>
          </a:prstGeom>
          <a:noFill/>
          <a:ln>
            <a:noFill/>
          </a:ln>
          <a:effectLst>
            <a:outerShdw blurRad="190500" algn="tl" rotWithShape="0">
              <a:srgbClr val="000000">
                <a:alpha val="69803"/>
              </a:srgbClr>
            </a:outerShdw>
          </a:effec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516"/>
        <p:cNvGrpSpPr/>
        <p:nvPr/>
      </p:nvGrpSpPr>
      <p:grpSpPr>
        <a:xfrm>
          <a:off x="0" y="0"/>
          <a:ext cx="0" cy="0"/>
          <a:chOff x="0" y="0"/>
          <a:chExt cx="0" cy="0"/>
        </a:xfrm>
      </p:grpSpPr>
      <p:sp>
        <p:nvSpPr>
          <p:cNvPr id="517" name="Google Shape;517;p38"/>
          <p:cNvSpPr txBox="1">
            <a:spLocks noGrp="1"/>
          </p:cNvSpPr>
          <p:nvPr>
            <p:ph type="title"/>
          </p:nvPr>
        </p:nvSpPr>
        <p:spPr>
          <a:xfrm>
            <a:off x="1115568" y="548640"/>
            <a:ext cx="10168128" cy="1179576"/>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000"/>
              <a:buFont typeface="Avenir"/>
              <a:buNone/>
            </a:pPr>
            <a:r>
              <a:rPr lang="el-GR" dirty="0">
                <a:latin typeface="Tahoma" panose="020B0604030504040204" pitchFamily="34" charset="0"/>
                <a:ea typeface="Tahoma" panose="020B0604030504040204" pitchFamily="34" charset="0"/>
                <a:cs typeface="Tahoma" panose="020B0604030504040204" pitchFamily="34" charset="0"/>
              </a:rPr>
              <a:t>Συνθήκη </a:t>
            </a:r>
            <a:r>
              <a:rPr lang="el-GR" dirty="0" err="1">
                <a:latin typeface="Tahoma" panose="020B0604030504040204" pitchFamily="34" charset="0"/>
                <a:ea typeface="Tahoma" panose="020B0604030504040204" pitchFamily="34" charset="0"/>
                <a:cs typeface="Tahoma" panose="020B0604030504040204" pitchFamily="34" charset="0"/>
              </a:rPr>
              <a:t>Lipschitz</a:t>
            </a:r>
            <a:endParaRPr dirty="0">
              <a:latin typeface="Tahoma" panose="020B0604030504040204" pitchFamily="34" charset="0"/>
              <a:ea typeface="Tahoma" panose="020B0604030504040204" pitchFamily="34" charset="0"/>
              <a:cs typeface="Tahoma" panose="020B0604030504040204" pitchFamily="34" charset="0"/>
            </a:endParaRPr>
          </a:p>
        </p:txBody>
      </p:sp>
      <p:sp>
        <p:nvSpPr>
          <p:cNvPr id="518" name="Google Shape;518;p38"/>
          <p:cNvSpPr txBox="1">
            <a:spLocks noGrp="1"/>
          </p:cNvSpPr>
          <p:nvPr>
            <p:ph type="body" idx="1"/>
          </p:nvPr>
        </p:nvSpPr>
        <p:spPr>
          <a:xfrm>
            <a:off x="826654" y="2175654"/>
            <a:ext cx="10745955" cy="4562272"/>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110000"/>
              </a:lnSpc>
              <a:spcBef>
                <a:spcPts val="0"/>
              </a:spcBef>
              <a:spcAft>
                <a:spcPts val="0"/>
              </a:spcAft>
              <a:buClr>
                <a:schemeClr val="dk1"/>
              </a:buClr>
              <a:buSzPts val="1800"/>
              <a:buFont typeface="Noto Sans Symbols"/>
              <a:buChar char="❑"/>
            </a:pPr>
            <a:r>
              <a:rPr lang="el-GR" sz="1800" dirty="0">
                <a:latin typeface="Tahoma"/>
                <a:ea typeface="Tahoma"/>
                <a:cs typeface="Tahoma"/>
                <a:sym typeface="Tahoma"/>
              </a:rPr>
              <a:t>Για να εξασφαλιστεί ότι οι κλίσεις του διαχωριστή δεν εκρήγνυνται (γίνονται υπερβολικά μεγάλες) ή εξαφανίζονται (γίνονται πολύ μικρές), εισάγεται ένας όρος ποινής κλίσης (</a:t>
            </a:r>
            <a:r>
              <a:rPr lang="el-GR" sz="1800" dirty="0" err="1">
                <a:latin typeface="Tahoma"/>
                <a:ea typeface="Tahoma"/>
                <a:cs typeface="Tahoma"/>
                <a:sym typeface="Tahoma"/>
              </a:rPr>
              <a:t>gradient</a:t>
            </a:r>
            <a:r>
              <a:rPr lang="el-GR" sz="1800" dirty="0">
                <a:latin typeface="Tahoma"/>
                <a:ea typeface="Tahoma"/>
                <a:cs typeface="Tahoma"/>
                <a:sym typeface="Tahoma"/>
              </a:rPr>
              <a:t> </a:t>
            </a:r>
            <a:r>
              <a:rPr lang="el-GR" sz="1800" dirty="0" err="1">
                <a:latin typeface="Tahoma"/>
                <a:ea typeface="Tahoma"/>
                <a:cs typeface="Tahoma"/>
                <a:sym typeface="Tahoma"/>
              </a:rPr>
              <a:t>penalty</a:t>
            </a:r>
            <a:r>
              <a:rPr lang="el-GR" sz="1800" dirty="0">
                <a:latin typeface="Tahoma"/>
                <a:ea typeface="Tahoma"/>
                <a:cs typeface="Tahoma"/>
                <a:sym typeface="Tahoma"/>
              </a:rPr>
              <a:t>). Αντί να εφαρμόζεται το </a:t>
            </a:r>
            <a:r>
              <a:rPr lang="el-GR" sz="1800" dirty="0" err="1">
                <a:latin typeface="Tahoma"/>
                <a:ea typeface="Tahoma"/>
                <a:cs typeface="Tahoma"/>
                <a:sym typeface="Tahoma"/>
              </a:rPr>
              <a:t>weight</a:t>
            </a:r>
            <a:r>
              <a:rPr lang="el-GR" sz="1800" dirty="0">
                <a:latin typeface="Tahoma"/>
                <a:ea typeface="Tahoma"/>
                <a:cs typeface="Tahoma"/>
                <a:sym typeface="Tahoma"/>
              </a:rPr>
              <a:t> </a:t>
            </a:r>
            <a:r>
              <a:rPr lang="el-GR" sz="1800" dirty="0" err="1">
                <a:latin typeface="Tahoma"/>
                <a:ea typeface="Tahoma"/>
                <a:cs typeface="Tahoma"/>
                <a:sym typeface="Tahoma"/>
              </a:rPr>
              <a:t>clipping</a:t>
            </a:r>
            <a:r>
              <a:rPr lang="el-GR" sz="1800" dirty="0">
                <a:latin typeface="Tahoma"/>
                <a:ea typeface="Tahoma"/>
                <a:cs typeface="Tahoma"/>
                <a:sym typeface="Tahoma"/>
              </a:rPr>
              <a:t> (περιορισμός των βαρών σε συγκεκριμένο εύρος), χρησιμοποιείται η συνέπεια </a:t>
            </a:r>
            <a:r>
              <a:rPr lang="el-GR" sz="1800" dirty="0" err="1">
                <a:latin typeface="Tahoma"/>
                <a:ea typeface="Tahoma"/>
                <a:cs typeface="Tahoma"/>
                <a:sym typeface="Tahoma"/>
              </a:rPr>
              <a:t>Lipschitz</a:t>
            </a:r>
            <a:r>
              <a:rPr lang="el-GR" sz="1800" dirty="0">
                <a:latin typeface="Tahoma"/>
                <a:ea typeface="Tahoma"/>
                <a:cs typeface="Tahoma"/>
                <a:sym typeface="Tahoma"/>
              </a:rPr>
              <a:t> ως μορφή </a:t>
            </a:r>
            <a:r>
              <a:rPr lang="el-GR" sz="1800" dirty="0" err="1">
                <a:latin typeface="Tahoma"/>
                <a:ea typeface="Tahoma"/>
                <a:cs typeface="Tahoma"/>
                <a:sym typeface="Tahoma"/>
              </a:rPr>
              <a:t>κανονικοποίησης</a:t>
            </a:r>
            <a:r>
              <a:rPr lang="el-GR" sz="1800" dirty="0">
                <a:latin typeface="Tahoma"/>
                <a:ea typeface="Tahoma"/>
                <a:cs typeface="Tahoma"/>
                <a:sym typeface="Tahoma"/>
              </a:rPr>
              <a:t> σε όλη τη διάρκεια της εκπαίδευσης. Αυτή η τεχνική διατηρεί τις κλίσεις σταθερές, επιβάλλοντας ποινή όταν υπερβαίνουν ένα προκαθορισμένο όριο, εξασφαλίζοντας ότι ο διαχωριστής παραμένει 1-Lipschitz.</a:t>
            </a:r>
            <a:endParaRPr sz="1800" dirty="0">
              <a:latin typeface="Tahoma"/>
              <a:ea typeface="Tahoma"/>
              <a:cs typeface="Tahoma"/>
              <a:sym typeface="Tahoma"/>
            </a:endParaRPr>
          </a:p>
          <a:p>
            <a:pPr marL="228600" lvl="0" indent="-228600" algn="l" rtl="0">
              <a:lnSpc>
                <a:spcPct val="110000"/>
              </a:lnSpc>
              <a:spcBef>
                <a:spcPts val="1000"/>
              </a:spcBef>
              <a:spcAft>
                <a:spcPts val="0"/>
              </a:spcAft>
              <a:buClr>
                <a:schemeClr val="dk1"/>
              </a:buClr>
              <a:buSzPts val="1800"/>
              <a:buFont typeface="Noto Sans Symbols"/>
              <a:buChar char="❑"/>
            </a:pPr>
            <a:r>
              <a:rPr lang="el-GR" sz="1800" dirty="0">
                <a:latin typeface="Tahoma"/>
                <a:ea typeface="Tahoma"/>
                <a:cs typeface="Tahoma"/>
                <a:sym typeface="Tahoma"/>
              </a:rPr>
              <a:t>Μια συνάρτηση 𝑓 : 𝑅 𝑛 → 𝑅 f:R n →R είναι K-</a:t>
            </a:r>
            <a:r>
              <a:rPr lang="el-GR" sz="1800" dirty="0" err="1">
                <a:latin typeface="Tahoma"/>
                <a:ea typeface="Tahoma"/>
                <a:cs typeface="Tahoma"/>
                <a:sym typeface="Tahoma"/>
              </a:rPr>
              <a:t>Lipschitz</a:t>
            </a:r>
            <a:r>
              <a:rPr lang="el-GR" sz="1800" dirty="0">
                <a:latin typeface="Tahoma"/>
                <a:ea typeface="Tahoma"/>
                <a:cs typeface="Tahoma"/>
                <a:sym typeface="Tahoma"/>
              </a:rPr>
              <a:t> (ή ικανοποιεί την K-</a:t>
            </a:r>
            <a:r>
              <a:rPr lang="el-GR" sz="1800" dirty="0" err="1">
                <a:latin typeface="Tahoma"/>
                <a:ea typeface="Tahoma"/>
                <a:cs typeface="Tahoma"/>
                <a:sym typeface="Tahoma"/>
              </a:rPr>
              <a:t>Lipschitz</a:t>
            </a:r>
            <a:r>
              <a:rPr lang="el-GR" sz="1800" dirty="0">
                <a:latin typeface="Tahoma"/>
                <a:ea typeface="Tahoma"/>
                <a:cs typeface="Tahoma"/>
                <a:sym typeface="Tahoma"/>
              </a:rPr>
              <a:t> συνθήκη) αν υπάρχει σταθερά Κ ≥ 0 τέτοια ώστε: </a:t>
            </a:r>
            <a:endParaRPr sz="1800" dirty="0">
              <a:latin typeface="Tahoma"/>
              <a:ea typeface="Tahoma"/>
              <a:cs typeface="Tahoma"/>
              <a:sym typeface="Tahoma"/>
            </a:endParaRPr>
          </a:p>
          <a:p>
            <a:pPr marL="0" lvl="0" indent="0" algn="l" rtl="0">
              <a:lnSpc>
                <a:spcPct val="110000"/>
              </a:lnSpc>
              <a:spcBef>
                <a:spcPts val="1000"/>
              </a:spcBef>
              <a:spcAft>
                <a:spcPts val="0"/>
              </a:spcAft>
              <a:buNone/>
            </a:pPr>
            <a:endParaRPr sz="1800" dirty="0">
              <a:latin typeface="Tahoma"/>
              <a:ea typeface="Tahoma"/>
              <a:cs typeface="Tahoma"/>
              <a:sym typeface="Tahoma"/>
            </a:endParaRPr>
          </a:p>
          <a:p>
            <a:pPr marL="0" lvl="0" indent="0" algn="l" rtl="0">
              <a:lnSpc>
                <a:spcPct val="110000"/>
              </a:lnSpc>
              <a:spcBef>
                <a:spcPts val="1000"/>
              </a:spcBef>
              <a:spcAft>
                <a:spcPts val="0"/>
              </a:spcAft>
              <a:buNone/>
            </a:pPr>
            <a:r>
              <a:rPr lang="el-GR" sz="1800" dirty="0">
                <a:latin typeface="Tahoma"/>
                <a:ea typeface="Tahoma"/>
                <a:cs typeface="Tahoma"/>
                <a:sym typeface="Tahoma"/>
              </a:rPr>
              <a:t>ενώ το 𝐾=1 η f δεν αυξάνεται ή μειώνεται πιο γρήγορα από 1 μονάδα / μονάδα απόστασης στην είσοδο.</a:t>
            </a:r>
            <a:endParaRPr sz="1800" dirty="0">
              <a:latin typeface="Tahoma"/>
              <a:ea typeface="Tahoma"/>
              <a:cs typeface="Tahoma"/>
              <a:sym typeface="Tahoma"/>
            </a:endParaRPr>
          </a:p>
          <a:p>
            <a:pPr marL="0" lvl="0" indent="0" algn="l" rtl="0">
              <a:lnSpc>
                <a:spcPct val="110000"/>
              </a:lnSpc>
              <a:spcBef>
                <a:spcPts val="1000"/>
              </a:spcBef>
              <a:spcAft>
                <a:spcPts val="0"/>
              </a:spcAft>
              <a:buNone/>
            </a:pPr>
            <a:endParaRPr sz="1800" dirty="0">
              <a:latin typeface="Tahoma"/>
              <a:ea typeface="Tahoma"/>
              <a:cs typeface="Tahoma"/>
              <a:sym typeface="Tahoma"/>
            </a:endParaRPr>
          </a:p>
          <a:p>
            <a:pPr marL="0" lvl="0" indent="0" algn="l" rtl="0">
              <a:lnSpc>
                <a:spcPct val="110000"/>
              </a:lnSpc>
              <a:spcBef>
                <a:spcPts val="1000"/>
              </a:spcBef>
              <a:spcAft>
                <a:spcPts val="0"/>
              </a:spcAft>
              <a:buNone/>
            </a:pPr>
            <a:r>
              <a:rPr lang="el-GR" sz="1800" dirty="0">
                <a:solidFill>
                  <a:schemeClr val="tx1"/>
                </a:solidFill>
                <a:latin typeface="Tahoma"/>
                <a:ea typeface="Tahoma"/>
                <a:cs typeface="Tahoma"/>
                <a:sym typeface="Tahoma"/>
              </a:rPr>
              <a:t>Σε γεωμετρική αναλογία η κλίση της γραφικής παράστασης της συνάρτησης δεν είναι πιο απότομη από 45°.</a:t>
            </a:r>
            <a:endParaRPr sz="1800" dirty="0">
              <a:solidFill>
                <a:schemeClr val="tx1"/>
              </a:solidFill>
              <a:latin typeface="Tahoma"/>
              <a:ea typeface="Tahoma"/>
              <a:cs typeface="Tahoma"/>
              <a:sym typeface="Tahoma"/>
            </a:endParaRPr>
          </a:p>
          <a:p>
            <a:pPr marL="228600" lvl="0" indent="0" algn="l" rtl="0">
              <a:lnSpc>
                <a:spcPct val="110000"/>
              </a:lnSpc>
              <a:spcBef>
                <a:spcPts val="1000"/>
              </a:spcBef>
              <a:spcAft>
                <a:spcPts val="0"/>
              </a:spcAft>
              <a:buNone/>
            </a:pPr>
            <a:endParaRPr sz="1800" dirty="0">
              <a:latin typeface="Tahoma"/>
              <a:ea typeface="Tahoma"/>
              <a:cs typeface="Tahoma"/>
              <a:sym typeface="Tahoma"/>
            </a:endParaRPr>
          </a:p>
        </p:txBody>
      </p:sp>
      <p:pic>
        <p:nvPicPr>
          <p:cNvPr id="519" name="Google Shape;519;p38" descr="Eq. 3: K-Lipschitz Continuity."/>
          <p:cNvPicPr preferRelativeResize="0"/>
          <p:nvPr/>
        </p:nvPicPr>
        <p:blipFill rotWithShape="1">
          <a:blip r:embed="rId3">
            <a:alphaModFix/>
          </a:blip>
          <a:srcRect/>
          <a:stretch/>
        </p:blipFill>
        <p:spPr>
          <a:xfrm>
            <a:off x="5049486" y="4297705"/>
            <a:ext cx="6446984" cy="318152"/>
          </a:xfrm>
          <a:prstGeom prst="rect">
            <a:avLst/>
          </a:prstGeom>
          <a:noFill/>
          <a:ln>
            <a:noFill/>
          </a:ln>
          <a:effectLst>
            <a:outerShdw blurRad="292100" dist="139700" dir="2700000" algn="tl" rotWithShape="0">
              <a:srgbClr val="333333">
                <a:alpha val="64705"/>
              </a:srgbClr>
            </a:outerShdw>
          </a:effectLst>
        </p:spPr>
      </p:pic>
      <p:pic>
        <p:nvPicPr>
          <p:cNvPr id="520" name="Google Shape;520;p38"/>
          <p:cNvPicPr preferRelativeResize="0"/>
          <p:nvPr/>
        </p:nvPicPr>
        <p:blipFill>
          <a:blip r:embed="rId4">
            <a:alphaModFix/>
          </a:blip>
          <a:stretch>
            <a:fillRect/>
          </a:stretch>
        </p:blipFill>
        <p:spPr>
          <a:xfrm>
            <a:off x="4053117" y="5346089"/>
            <a:ext cx="3205700" cy="46705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534"/>
        <p:cNvGrpSpPr/>
        <p:nvPr/>
      </p:nvGrpSpPr>
      <p:grpSpPr>
        <a:xfrm>
          <a:off x="0" y="0"/>
          <a:ext cx="0" cy="0"/>
          <a:chOff x="0" y="0"/>
          <a:chExt cx="0" cy="0"/>
        </a:xfrm>
      </p:grpSpPr>
      <p:sp>
        <p:nvSpPr>
          <p:cNvPr id="535" name="Google Shape;535;p40"/>
          <p:cNvSpPr/>
          <p:nvPr/>
        </p:nvSpPr>
        <p:spPr>
          <a:xfrm>
            <a:off x="0" y="0"/>
            <a:ext cx="12192000" cy="68580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FFFFFF"/>
              </a:solidFill>
              <a:latin typeface="Avenir"/>
              <a:ea typeface="Avenir"/>
              <a:cs typeface="Avenir"/>
              <a:sym typeface="Avenir"/>
            </a:endParaRPr>
          </a:p>
        </p:txBody>
      </p:sp>
      <p:cxnSp>
        <p:nvCxnSpPr>
          <p:cNvPr id="536" name="Google Shape;536;p40"/>
          <p:cNvCxnSpPr/>
          <p:nvPr/>
        </p:nvCxnSpPr>
        <p:spPr>
          <a:xfrm>
            <a:off x="800100" y="723900"/>
            <a:ext cx="1638300" cy="0"/>
          </a:xfrm>
          <a:prstGeom prst="straightConnector1">
            <a:avLst/>
          </a:prstGeom>
          <a:noFill/>
          <a:ln w="44450" cap="flat" cmpd="sng">
            <a:solidFill>
              <a:schemeClr val="lt1"/>
            </a:solidFill>
            <a:prstDash val="solid"/>
            <a:miter lim="800000"/>
            <a:headEnd type="none" w="sm" len="sm"/>
            <a:tailEnd type="none" w="sm" len="sm"/>
          </a:ln>
        </p:spPr>
      </p:cxnSp>
      <p:pic>
        <p:nvPicPr>
          <p:cNvPr id="537" name="Google Shape;537;p40" descr="Topview of mint green workspace with laptop, coffee, notebook, pen, glasses, and mouse"/>
          <p:cNvPicPr preferRelativeResize="0"/>
          <p:nvPr/>
        </p:nvPicPr>
        <p:blipFill rotWithShape="1">
          <a:blip r:embed="rId3">
            <a:alphaModFix/>
          </a:blip>
          <a:srcRect b="15730"/>
          <a:stretch/>
        </p:blipFill>
        <p:spPr>
          <a:xfrm>
            <a:off x="21" y="10"/>
            <a:ext cx="12191979" cy="6857990"/>
          </a:xfrm>
          <a:prstGeom prst="rect">
            <a:avLst/>
          </a:prstGeom>
          <a:noFill/>
          <a:ln>
            <a:noFill/>
          </a:ln>
        </p:spPr>
      </p:pic>
      <p:sp>
        <p:nvSpPr>
          <p:cNvPr id="538" name="Google Shape;538;p40"/>
          <p:cNvSpPr/>
          <p:nvPr/>
        </p:nvSpPr>
        <p:spPr>
          <a:xfrm rot="-5400000" flipH="1">
            <a:off x="5167042" y="-166956"/>
            <a:ext cx="6858002" cy="7191913"/>
          </a:xfrm>
          <a:prstGeom prst="rect">
            <a:avLst/>
          </a:prstGeom>
          <a:gradFill>
            <a:gsLst>
              <a:gs pos="0">
                <a:srgbClr val="000000">
                  <a:alpha val="0"/>
                </a:srgbClr>
              </a:gs>
              <a:gs pos="25000">
                <a:srgbClr val="000000">
                  <a:alpha val="37647"/>
                </a:srgbClr>
              </a:gs>
              <a:gs pos="46000">
                <a:srgbClr val="000000">
                  <a:alpha val="54901"/>
                </a:srgbClr>
              </a:gs>
              <a:gs pos="100000">
                <a:srgbClr val="000000">
                  <a:alpha val="60000"/>
                </a:srgbClr>
              </a:gs>
            </a:gsLst>
            <a:lin ang="5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FFFFFF"/>
              </a:solidFill>
              <a:latin typeface="Avenir"/>
              <a:ea typeface="Avenir"/>
              <a:cs typeface="Avenir"/>
              <a:sym typeface="Avenir"/>
            </a:endParaRPr>
          </a:p>
        </p:txBody>
      </p:sp>
      <p:sp>
        <p:nvSpPr>
          <p:cNvPr id="539" name="Google Shape;539;p40"/>
          <p:cNvSpPr txBox="1">
            <a:spLocks noGrp="1"/>
          </p:cNvSpPr>
          <p:nvPr>
            <p:ph type="ctrTitle"/>
          </p:nvPr>
        </p:nvSpPr>
        <p:spPr>
          <a:xfrm>
            <a:off x="7756183" y="1124712"/>
            <a:ext cx="4023360" cy="3200400"/>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rgbClr val="FF0000"/>
              </a:buClr>
              <a:buSzPts val="4400"/>
              <a:buFont typeface="Tahoma"/>
              <a:buNone/>
            </a:pPr>
            <a:r>
              <a:rPr lang="el-GR" sz="4400" b="1">
                <a:solidFill>
                  <a:srgbClr val="FF0000"/>
                </a:solidFill>
                <a:latin typeface="Tahoma"/>
                <a:ea typeface="Tahoma"/>
                <a:cs typeface="Tahoma"/>
                <a:sym typeface="Tahoma"/>
              </a:rPr>
              <a:t>W</a:t>
            </a:r>
            <a:r>
              <a:rPr lang="el-GR" sz="4400" b="1">
                <a:latin typeface="Tahoma"/>
                <a:ea typeface="Tahoma"/>
                <a:cs typeface="Tahoma"/>
                <a:sym typeface="Tahoma"/>
              </a:rPr>
              <a:t>GAN</a:t>
            </a:r>
            <a:r>
              <a:rPr lang="el-GR" sz="4400" b="1">
                <a:solidFill>
                  <a:srgbClr val="FF0000"/>
                </a:solidFill>
                <a:latin typeface="Tahoma"/>
                <a:ea typeface="Tahoma"/>
                <a:cs typeface="Tahoma"/>
                <a:sym typeface="Tahoma"/>
              </a:rPr>
              <a:t>-GP</a:t>
            </a:r>
            <a:endParaRPr sz="4400" b="1">
              <a:solidFill>
                <a:srgbClr val="FF0000"/>
              </a:solidFill>
              <a:latin typeface="Tahoma"/>
              <a:ea typeface="Tahoma"/>
              <a:cs typeface="Tahoma"/>
              <a:sym typeface="Tahoma"/>
            </a:endParaRPr>
          </a:p>
        </p:txBody>
      </p:sp>
      <p:sp>
        <p:nvSpPr>
          <p:cNvPr id="540" name="Google Shape;540;p40"/>
          <p:cNvSpPr/>
          <p:nvPr/>
        </p:nvSpPr>
        <p:spPr>
          <a:xfrm rot="5400000">
            <a:off x="8040616" y="346791"/>
            <a:ext cx="146304" cy="704088"/>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FFFFFF"/>
              </a:solidFill>
              <a:latin typeface="Calibri"/>
              <a:ea typeface="Calibri"/>
              <a:cs typeface="Calibri"/>
              <a:sym typeface="Calibri"/>
            </a:endParaRPr>
          </a:p>
        </p:txBody>
      </p:sp>
      <p:sp>
        <p:nvSpPr>
          <p:cNvPr id="541" name="Google Shape;541;p40"/>
          <p:cNvSpPr/>
          <p:nvPr/>
        </p:nvSpPr>
        <p:spPr>
          <a:xfrm>
            <a:off x="7761724" y="4546920"/>
            <a:ext cx="3977640" cy="18288"/>
          </a:xfrm>
          <a:prstGeom prst="rect">
            <a:avLst/>
          </a:prstGeom>
          <a:solidFill>
            <a:srgbClr val="F8F8F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546"/>
        <p:cNvGrpSpPr/>
        <p:nvPr/>
      </p:nvGrpSpPr>
      <p:grpSpPr>
        <a:xfrm>
          <a:off x="0" y="0"/>
          <a:ext cx="0" cy="0"/>
          <a:chOff x="0" y="0"/>
          <a:chExt cx="0" cy="0"/>
        </a:xfrm>
      </p:grpSpPr>
      <p:sp>
        <p:nvSpPr>
          <p:cNvPr id="547" name="Google Shape;547;p41"/>
          <p:cNvSpPr txBox="1">
            <a:spLocks noGrp="1"/>
          </p:cNvSpPr>
          <p:nvPr>
            <p:ph type="title"/>
          </p:nvPr>
        </p:nvSpPr>
        <p:spPr>
          <a:xfrm>
            <a:off x="1115568" y="548640"/>
            <a:ext cx="10168128" cy="1179576"/>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000"/>
              <a:buFont typeface="Avenir"/>
              <a:buNone/>
            </a:pPr>
            <a:r>
              <a:rPr lang="el-GR" dirty="0" err="1">
                <a:latin typeface="Tahoma" panose="020B0604030504040204" pitchFamily="34" charset="0"/>
                <a:ea typeface="Tahoma" panose="020B0604030504040204" pitchFamily="34" charset="0"/>
                <a:cs typeface="Tahoma" panose="020B0604030504040204" pitchFamily="34" charset="0"/>
              </a:rPr>
              <a:t>Wasserstein</a:t>
            </a:r>
            <a:r>
              <a:rPr lang="el-GR" dirty="0">
                <a:latin typeface="Tahoma" panose="020B0604030504040204" pitchFamily="34" charset="0"/>
                <a:ea typeface="Tahoma" panose="020B0604030504040204" pitchFamily="34" charset="0"/>
                <a:cs typeface="Tahoma" panose="020B0604030504040204" pitchFamily="34" charset="0"/>
              </a:rPr>
              <a:t> GAN </a:t>
            </a:r>
            <a:r>
              <a:rPr lang="el-GR" dirty="0" err="1">
                <a:latin typeface="Tahoma" panose="020B0604030504040204" pitchFamily="34" charset="0"/>
                <a:ea typeface="Tahoma" panose="020B0604030504040204" pitchFamily="34" charset="0"/>
                <a:cs typeface="Tahoma" panose="020B0604030504040204" pitchFamily="34" charset="0"/>
              </a:rPr>
              <a:t>with</a:t>
            </a:r>
            <a:r>
              <a:rPr lang="el-GR" dirty="0">
                <a:latin typeface="Tahoma" panose="020B0604030504040204" pitchFamily="34" charset="0"/>
                <a:ea typeface="Tahoma" panose="020B0604030504040204" pitchFamily="34" charset="0"/>
                <a:cs typeface="Tahoma" panose="020B0604030504040204" pitchFamily="34" charset="0"/>
              </a:rPr>
              <a:t> </a:t>
            </a:r>
            <a:r>
              <a:rPr lang="el-GR" dirty="0" err="1">
                <a:latin typeface="Tahoma" panose="020B0604030504040204" pitchFamily="34" charset="0"/>
                <a:ea typeface="Tahoma" panose="020B0604030504040204" pitchFamily="34" charset="0"/>
                <a:cs typeface="Tahoma" panose="020B0604030504040204" pitchFamily="34" charset="0"/>
              </a:rPr>
              <a:t>Gradient</a:t>
            </a:r>
            <a:r>
              <a:rPr lang="el-GR" dirty="0">
                <a:latin typeface="Tahoma" panose="020B0604030504040204" pitchFamily="34" charset="0"/>
                <a:ea typeface="Tahoma" panose="020B0604030504040204" pitchFamily="34" charset="0"/>
                <a:cs typeface="Tahoma" panose="020B0604030504040204" pitchFamily="34" charset="0"/>
              </a:rPr>
              <a:t> </a:t>
            </a:r>
            <a:r>
              <a:rPr lang="el-GR" dirty="0" err="1">
                <a:latin typeface="Tahoma" panose="020B0604030504040204" pitchFamily="34" charset="0"/>
                <a:ea typeface="Tahoma" panose="020B0604030504040204" pitchFamily="34" charset="0"/>
                <a:cs typeface="Tahoma" panose="020B0604030504040204" pitchFamily="34" charset="0"/>
              </a:rPr>
              <a:t>Penalty</a:t>
            </a:r>
            <a:endParaRPr dirty="0">
              <a:latin typeface="Tahoma" panose="020B0604030504040204" pitchFamily="34" charset="0"/>
              <a:ea typeface="Tahoma" panose="020B0604030504040204" pitchFamily="34" charset="0"/>
              <a:cs typeface="Tahoma" panose="020B0604030504040204" pitchFamily="34" charset="0"/>
            </a:endParaRPr>
          </a:p>
        </p:txBody>
      </p:sp>
      <p:sp>
        <p:nvSpPr>
          <p:cNvPr id="548" name="Google Shape;548;p41"/>
          <p:cNvSpPr txBox="1">
            <a:spLocks noGrp="1"/>
          </p:cNvSpPr>
          <p:nvPr>
            <p:ph type="body" idx="1"/>
          </p:nvPr>
        </p:nvSpPr>
        <p:spPr>
          <a:xfrm>
            <a:off x="826654" y="2461983"/>
            <a:ext cx="10745955" cy="4562272"/>
          </a:xfrm>
          <a:prstGeom prst="rect">
            <a:avLst/>
          </a:prstGeom>
          <a:noFill/>
          <a:ln>
            <a:noFill/>
          </a:ln>
        </p:spPr>
        <p:txBody>
          <a:bodyPr spcFirstLastPara="1" wrap="square" lIns="91425" tIns="45700" rIns="91425" bIns="45700" anchor="t" anchorCtr="0">
            <a:normAutofit/>
          </a:bodyPr>
          <a:lstStyle/>
          <a:p>
            <a:pPr marL="228600" marR="0" lvl="0" indent="-228600" algn="l" rtl="0">
              <a:lnSpc>
                <a:spcPct val="110000"/>
              </a:lnSpc>
              <a:spcBef>
                <a:spcPts val="0"/>
              </a:spcBef>
              <a:spcAft>
                <a:spcPts val="0"/>
              </a:spcAft>
              <a:buClr>
                <a:srgbClr val="000000"/>
              </a:buClr>
              <a:buSzPts val="1800"/>
              <a:buFont typeface="Noto Sans Symbols"/>
              <a:buChar char="❑"/>
            </a:pPr>
            <a:r>
              <a:rPr lang="el-GR" sz="1800" b="1" i="0" u="none" strike="noStrike" cap="none">
                <a:solidFill>
                  <a:srgbClr val="000000"/>
                </a:solidFill>
                <a:latin typeface="Tahoma"/>
                <a:ea typeface="Tahoma"/>
                <a:cs typeface="Tahoma"/>
                <a:sym typeface="Tahoma"/>
              </a:rPr>
              <a:t>Πρόβλημα του αρχικού WGAN: </a:t>
            </a:r>
            <a:r>
              <a:rPr lang="el-GR" sz="1800" b="0" i="0" u="none" strike="noStrike" cap="none">
                <a:solidFill>
                  <a:srgbClr val="000000"/>
                </a:solidFill>
                <a:latin typeface="Tahoma"/>
                <a:ea typeface="Tahoma"/>
                <a:cs typeface="Tahoma"/>
                <a:sym typeface="Tahoma"/>
              </a:rPr>
              <a:t>Το κλασικό WGAN σταθεροποιεί την εκπαίδευση αντικαθιστώντας τη cross-entropy με τη Wasserstein απόσταση, αλλά επιβάλλει την 1-Lipschitz ιδιότητα στον κριτή μέσω weight clipping. Το κόψιμο των βαρών περιορίζει την εκφραστικότητα του δικτύου, προκαλεί εξαφάνιση κλίσεων και τελικά δίνει ασταθή σύγκλιση και χαμηλής ποιότητας δείγματα.</a:t>
            </a:r>
            <a:endParaRPr/>
          </a:p>
          <a:p>
            <a:pPr marL="228600" lvl="0" indent="-228600" algn="l" rtl="0">
              <a:lnSpc>
                <a:spcPct val="110000"/>
              </a:lnSpc>
              <a:spcBef>
                <a:spcPts val="1000"/>
              </a:spcBef>
              <a:spcAft>
                <a:spcPts val="0"/>
              </a:spcAft>
              <a:buClr>
                <a:schemeClr val="dk1"/>
              </a:buClr>
              <a:buSzPts val="1800"/>
              <a:buFont typeface="Noto Sans Symbols"/>
              <a:buChar char="❑"/>
            </a:pPr>
            <a:r>
              <a:rPr lang="el-GR" sz="1800" b="1">
                <a:latin typeface="Tahoma"/>
                <a:ea typeface="Tahoma"/>
                <a:cs typeface="Tahoma"/>
                <a:sym typeface="Tahoma"/>
              </a:rPr>
              <a:t>Λύση WGAN-GP: </a:t>
            </a:r>
            <a:r>
              <a:rPr lang="el-GR" sz="1800">
                <a:latin typeface="Tahoma"/>
                <a:ea typeface="Tahoma"/>
                <a:cs typeface="Tahoma"/>
                <a:sym typeface="Tahoma"/>
              </a:rPr>
              <a:t>Αντί για απότομη αποκοπή, το WGAN-GP προσθέτει στη νόρμα της παραγώγου του κριτή έναν όρο ποινής που τιμωρεί κάθε απόκλιση της νόρμας κλίσης από το 1. Έτσι επιβάλλει τη 1-Lipschitz συνθήκη ομαλά και με μεγαλύτερη ακρίβεια.</a:t>
            </a:r>
            <a:endParaRPr/>
          </a:p>
          <a:p>
            <a:pPr marL="228600" lvl="0" indent="-228600" algn="l" rtl="0">
              <a:lnSpc>
                <a:spcPct val="110000"/>
              </a:lnSpc>
              <a:spcBef>
                <a:spcPts val="1000"/>
              </a:spcBef>
              <a:spcAft>
                <a:spcPts val="0"/>
              </a:spcAft>
              <a:buClr>
                <a:schemeClr val="dk1"/>
              </a:buClr>
              <a:buSzPts val="1800"/>
              <a:buFont typeface="Noto Sans Symbols"/>
              <a:buChar char="❑"/>
            </a:pPr>
            <a:r>
              <a:rPr lang="el-GR" sz="1800" b="1">
                <a:latin typeface="Tahoma"/>
                <a:ea typeface="Tahoma"/>
                <a:cs typeface="Tahoma"/>
                <a:sym typeface="Tahoma"/>
              </a:rPr>
              <a:t>Οφέλη:</a:t>
            </a:r>
            <a:endParaRPr sz="1800">
              <a:latin typeface="Tahoma"/>
              <a:ea typeface="Tahoma"/>
              <a:cs typeface="Tahoma"/>
              <a:sym typeface="Tahoma"/>
            </a:endParaRPr>
          </a:p>
          <a:p>
            <a:pPr marL="685800" lvl="1" indent="-228600" algn="l" rtl="0">
              <a:lnSpc>
                <a:spcPct val="110000"/>
              </a:lnSpc>
              <a:spcBef>
                <a:spcPts val="500"/>
              </a:spcBef>
              <a:spcAft>
                <a:spcPts val="0"/>
              </a:spcAft>
              <a:buClr>
                <a:schemeClr val="dk1"/>
              </a:buClr>
              <a:buSzPts val="1800"/>
              <a:buFont typeface="Noto Sans Symbols"/>
              <a:buChar char="❑"/>
            </a:pPr>
            <a:r>
              <a:rPr lang="el-GR" sz="1800" b="1">
                <a:latin typeface="Tahoma"/>
                <a:ea typeface="Tahoma"/>
                <a:cs typeface="Tahoma"/>
                <a:sym typeface="Tahoma"/>
              </a:rPr>
              <a:t>Σταθερότερη εκπαίδευση</a:t>
            </a:r>
            <a:r>
              <a:rPr lang="el-GR" sz="1800">
                <a:latin typeface="Tahoma"/>
                <a:ea typeface="Tahoma"/>
                <a:cs typeface="Tahoma"/>
                <a:sym typeface="Tahoma"/>
              </a:rPr>
              <a:t>: τέλος στα exploding / vanishing gradients.</a:t>
            </a:r>
            <a:endParaRPr/>
          </a:p>
          <a:p>
            <a:pPr marL="685800" lvl="1" indent="-228600" algn="l" rtl="0">
              <a:lnSpc>
                <a:spcPct val="110000"/>
              </a:lnSpc>
              <a:spcBef>
                <a:spcPts val="500"/>
              </a:spcBef>
              <a:spcAft>
                <a:spcPts val="0"/>
              </a:spcAft>
              <a:buClr>
                <a:schemeClr val="dk1"/>
              </a:buClr>
              <a:buSzPts val="1800"/>
              <a:buFont typeface="Noto Sans Symbols"/>
              <a:buChar char="❑"/>
            </a:pPr>
            <a:r>
              <a:rPr lang="el-GR" sz="1800" b="1">
                <a:latin typeface="Tahoma"/>
                <a:ea typeface="Tahoma"/>
                <a:cs typeface="Tahoma"/>
                <a:sym typeface="Tahoma"/>
              </a:rPr>
              <a:t>Καλύτερη ποιότητα δειγμάτων</a:t>
            </a:r>
            <a:r>
              <a:rPr lang="el-GR" sz="1800">
                <a:latin typeface="Tahoma"/>
                <a:ea typeface="Tahoma"/>
                <a:cs typeface="Tahoma"/>
                <a:sym typeface="Tahoma"/>
              </a:rPr>
              <a:t>: ο κριτής μαθαίνει πλουσιότερες συναρτήσεις.</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53"/>
        <p:cNvGrpSpPr/>
        <p:nvPr/>
      </p:nvGrpSpPr>
      <p:grpSpPr>
        <a:xfrm>
          <a:off x="0" y="0"/>
          <a:ext cx="0" cy="0"/>
          <a:chOff x="0" y="0"/>
          <a:chExt cx="0" cy="0"/>
        </a:xfrm>
      </p:grpSpPr>
      <p:sp>
        <p:nvSpPr>
          <p:cNvPr id="554" name="Google Shape;554;p42"/>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venir"/>
              <a:ea typeface="Avenir"/>
              <a:cs typeface="Avenir"/>
              <a:sym typeface="Avenir"/>
            </a:endParaRPr>
          </a:p>
        </p:txBody>
      </p:sp>
      <p:sp>
        <p:nvSpPr>
          <p:cNvPr id="555" name="Google Shape;555;p42"/>
          <p:cNvSpPr txBox="1">
            <a:spLocks noGrp="1"/>
          </p:cNvSpPr>
          <p:nvPr>
            <p:ph type="title"/>
          </p:nvPr>
        </p:nvSpPr>
        <p:spPr>
          <a:xfrm>
            <a:off x="309953" y="365372"/>
            <a:ext cx="5997900" cy="681600"/>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dk1"/>
              </a:buClr>
              <a:buSzPts val="3200"/>
              <a:buFont typeface="Tahoma"/>
              <a:buNone/>
            </a:pPr>
            <a:r>
              <a:rPr lang="el-GR" sz="3200" b="1" dirty="0">
                <a:latin typeface="Tahoma"/>
                <a:ea typeface="Tahoma"/>
                <a:cs typeface="Tahoma"/>
                <a:sym typeface="Tahoma"/>
              </a:rPr>
              <a:t>Σταθερότερη Εκπαίδευση</a:t>
            </a:r>
            <a:endParaRPr dirty="0"/>
          </a:p>
        </p:txBody>
      </p:sp>
      <p:sp>
        <p:nvSpPr>
          <p:cNvPr id="556" name="Google Shape;556;p42"/>
          <p:cNvSpPr/>
          <p:nvPr/>
        </p:nvSpPr>
        <p:spPr>
          <a:xfrm rot="5400000">
            <a:off x="547694" y="-47042"/>
            <a:ext cx="73200" cy="5487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FFFFFF"/>
              </a:solidFill>
              <a:latin typeface="Calibri"/>
              <a:ea typeface="Calibri"/>
              <a:cs typeface="Calibri"/>
              <a:sym typeface="Calibri"/>
            </a:endParaRPr>
          </a:p>
        </p:txBody>
      </p:sp>
      <p:sp>
        <p:nvSpPr>
          <p:cNvPr id="557" name="Google Shape;557;p42"/>
          <p:cNvSpPr txBox="1">
            <a:spLocks noGrp="1"/>
          </p:cNvSpPr>
          <p:nvPr>
            <p:ph type="body" idx="1"/>
          </p:nvPr>
        </p:nvSpPr>
        <p:spPr>
          <a:xfrm>
            <a:off x="190000" y="1046975"/>
            <a:ext cx="5855400" cy="5398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None/>
            </a:pPr>
            <a:r>
              <a:rPr lang="el-GR" sz="1600">
                <a:latin typeface="Tahoma"/>
                <a:ea typeface="Tahoma"/>
                <a:cs typeface="Tahoma"/>
                <a:sym typeface="Tahoma"/>
              </a:rPr>
              <a:t>Για διαφορετικές τιμές του clip οι κλίσεις είτε εκρήγνυνται (μεγαλώνουν ανεξέλεγκτα για μεγάλο c) είτε σβήνουν (σχεδόν μηδενίζονται για πολύ μικρό c), οπότε το δίκτυο σταματά να μαθαίνει.</a:t>
            </a:r>
            <a:endParaRPr sz="1600">
              <a:latin typeface="Tahoma"/>
              <a:ea typeface="Tahoma"/>
              <a:cs typeface="Tahoma"/>
              <a:sym typeface="Tahoma"/>
            </a:endParaRPr>
          </a:p>
          <a:p>
            <a:pPr marL="685800" lvl="1" indent="-241300" algn="l" rtl="0">
              <a:lnSpc>
                <a:spcPct val="100000"/>
              </a:lnSpc>
              <a:spcBef>
                <a:spcPts val="500"/>
              </a:spcBef>
              <a:spcAft>
                <a:spcPts val="0"/>
              </a:spcAft>
              <a:buClr>
                <a:schemeClr val="dk1"/>
              </a:buClr>
              <a:buSzPts val="1600"/>
              <a:buFont typeface="Noto Sans Symbols"/>
              <a:buChar char="❑"/>
            </a:pPr>
            <a:r>
              <a:rPr lang="el-GR" sz="1600">
                <a:latin typeface="Tahoma"/>
                <a:ea typeface="Tahoma"/>
                <a:cs typeface="Tahoma"/>
                <a:sym typeface="Tahoma"/>
              </a:rPr>
              <a:t>c = 0.001 όλα τα βάρη συμπιέζονται σχεδόν στο 0 → οι κλίσεις “σβήνουν” εκθετικά, τα πρώτα στρώματα παύουν να λαμβάνουν σήμα, το δίκτυο δεν μαθαίνει.</a:t>
            </a:r>
            <a:endParaRPr sz="1600">
              <a:latin typeface="Tahoma"/>
              <a:ea typeface="Tahoma"/>
              <a:cs typeface="Tahoma"/>
              <a:sym typeface="Tahoma"/>
            </a:endParaRPr>
          </a:p>
          <a:p>
            <a:pPr marL="685800" lvl="1" indent="-241300" algn="l" rtl="0">
              <a:lnSpc>
                <a:spcPct val="100000"/>
              </a:lnSpc>
              <a:spcBef>
                <a:spcPts val="500"/>
              </a:spcBef>
              <a:spcAft>
                <a:spcPts val="0"/>
              </a:spcAft>
              <a:buClr>
                <a:schemeClr val="dk1"/>
              </a:buClr>
              <a:buSzPts val="1600"/>
              <a:buFont typeface="Noto Sans Symbols"/>
              <a:buChar char="❑"/>
            </a:pPr>
            <a:r>
              <a:rPr lang="el-GR" sz="1600">
                <a:latin typeface="Tahoma"/>
                <a:ea typeface="Tahoma"/>
                <a:cs typeface="Tahoma"/>
                <a:sym typeface="Tahoma"/>
              </a:rPr>
              <a:t>c = 0.01 το πρόβλημα είναι ηπιότερο, όμως η απώλεια κλίσης εξακολουθεί να υπάρχει.</a:t>
            </a:r>
            <a:endParaRPr sz="1600">
              <a:latin typeface="Tahoma"/>
              <a:ea typeface="Tahoma"/>
              <a:cs typeface="Tahoma"/>
              <a:sym typeface="Tahoma"/>
            </a:endParaRPr>
          </a:p>
          <a:p>
            <a:pPr marL="685800" lvl="1" indent="-241300" algn="l" rtl="0">
              <a:lnSpc>
                <a:spcPct val="100000"/>
              </a:lnSpc>
              <a:spcBef>
                <a:spcPts val="500"/>
              </a:spcBef>
              <a:spcAft>
                <a:spcPts val="0"/>
              </a:spcAft>
              <a:buClr>
                <a:schemeClr val="dk1"/>
              </a:buClr>
              <a:buSzPts val="1600"/>
              <a:buFont typeface="Noto Sans Symbols"/>
              <a:buChar char="❑"/>
            </a:pPr>
            <a:r>
              <a:rPr lang="el-GR" sz="1600">
                <a:latin typeface="Tahoma"/>
                <a:ea typeface="Tahoma"/>
                <a:cs typeface="Tahoma"/>
                <a:sym typeface="Tahoma"/>
              </a:rPr>
              <a:t>c = 0.1 συμβαίνει το αντίθετο: οι κλίσεις φουσκώνουν όσο πλησιάζουμε στην έξοδο, οδηγώντας σε exploding gradients.</a:t>
            </a:r>
            <a:endParaRPr sz="1600">
              <a:latin typeface="Tahoma"/>
              <a:ea typeface="Tahoma"/>
              <a:cs typeface="Tahoma"/>
              <a:sym typeface="Tahoma"/>
            </a:endParaRPr>
          </a:p>
          <a:p>
            <a:pPr marL="685800" lvl="1" indent="-241300" algn="l" rtl="0">
              <a:lnSpc>
                <a:spcPct val="100000"/>
              </a:lnSpc>
              <a:spcBef>
                <a:spcPts val="500"/>
              </a:spcBef>
              <a:spcAft>
                <a:spcPts val="0"/>
              </a:spcAft>
              <a:buClr>
                <a:schemeClr val="dk1"/>
              </a:buClr>
              <a:buSzPts val="1600"/>
              <a:buFont typeface="Noto Sans Symbols"/>
              <a:buChar char="❑"/>
            </a:pPr>
            <a:r>
              <a:rPr lang="el-GR" sz="1600">
                <a:latin typeface="Tahoma"/>
                <a:ea typeface="Tahoma"/>
                <a:cs typeface="Tahoma"/>
                <a:sym typeface="Tahoma"/>
              </a:rPr>
              <a:t>Η καμπύλη της </a:t>
            </a:r>
            <a:r>
              <a:rPr lang="el-GR" sz="1600">
                <a:solidFill>
                  <a:srgbClr val="0000FF"/>
                </a:solidFill>
                <a:latin typeface="Tahoma"/>
                <a:ea typeface="Tahoma"/>
                <a:cs typeface="Tahoma"/>
                <a:sym typeface="Tahoma"/>
              </a:rPr>
              <a:t>Gradient Penalty</a:t>
            </a:r>
            <a:r>
              <a:rPr lang="el-GR" sz="1600">
                <a:latin typeface="Tahoma"/>
                <a:ea typeface="Tahoma"/>
                <a:cs typeface="Tahoma"/>
                <a:sym typeface="Tahoma"/>
              </a:rPr>
              <a:t> παραμένει σχεδόν οριζόντια, οι κλίσεις μένουν σε υγιές εύρος χωρίς να απαιτείται σχολαστικό fine-tuning υπερπαραμέτρων. </a:t>
            </a:r>
            <a:endParaRPr sz="1600">
              <a:latin typeface="Tahoma"/>
              <a:ea typeface="Tahoma"/>
              <a:cs typeface="Tahoma"/>
              <a:sym typeface="Tahoma"/>
            </a:endParaRPr>
          </a:p>
          <a:p>
            <a:pPr marL="0" lvl="0" indent="0" algn="l" rtl="0">
              <a:lnSpc>
                <a:spcPct val="100000"/>
              </a:lnSpc>
              <a:spcBef>
                <a:spcPts val="1000"/>
              </a:spcBef>
              <a:spcAft>
                <a:spcPts val="0"/>
              </a:spcAft>
              <a:buClr>
                <a:schemeClr val="dk1"/>
              </a:buClr>
              <a:buSzPts val="1400"/>
              <a:buNone/>
            </a:pPr>
            <a:r>
              <a:rPr lang="el-GR" sz="1600">
                <a:latin typeface="Tahoma"/>
                <a:ea typeface="Tahoma"/>
                <a:cs typeface="Tahoma"/>
                <a:sym typeface="Tahoma"/>
              </a:rPr>
              <a:t>Με weight clipping τα βάρη κολλάνε στα ± c, ο critic καταντά σχεδόν δυαδικός και χάνει εκφραστικότητα. Με gradient penalty τα βάρη απλώνονται ομαλά γύρω από το 0, κινούνται ελεύθερα σε όλο το εύρος, επιτρέποντας στο δίκτυο να εκμεταλλευθεί πλήρως τη χωρητικότητά του. </a:t>
            </a:r>
            <a:endParaRPr sz="1600">
              <a:latin typeface="Tahoma"/>
              <a:ea typeface="Tahoma"/>
              <a:cs typeface="Tahoma"/>
              <a:sym typeface="Tahoma"/>
            </a:endParaRPr>
          </a:p>
        </p:txBody>
      </p:sp>
      <p:pic>
        <p:nvPicPr>
          <p:cNvPr id="558" name="Google Shape;558;p42"/>
          <p:cNvPicPr preferRelativeResize="0"/>
          <p:nvPr/>
        </p:nvPicPr>
        <p:blipFill rotWithShape="1">
          <a:blip r:embed="rId3">
            <a:alphaModFix/>
          </a:blip>
          <a:srcRect r="29690"/>
          <a:stretch/>
        </p:blipFill>
        <p:spPr>
          <a:xfrm>
            <a:off x="6858620" y="696084"/>
            <a:ext cx="4812912" cy="3628047"/>
          </a:xfrm>
          <a:prstGeom prst="rect">
            <a:avLst/>
          </a:prstGeom>
          <a:noFill/>
          <a:ln>
            <a:noFill/>
          </a:ln>
          <a:effectLst>
            <a:outerShdw blurRad="190500" algn="tl" rotWithShape="0">
              <a:srgbClr val="000000">
                <a:alpha val="69803"/>
              </a:srgbClr>
            </a:outerShdw>
          </a:effectLst>
        </p:spPr>
      </p:pic>
      <p:pic>
        <p:nvPicPr>
          <p:cNvPr id="559" name="Google Shape;559;p42"/>
          <p:cNvPicPr preferRelativeResize="0"/>
          <p:nvPr/>
        </p:nvPicPr>
        <p:blipFill rotWithShape="1">
          <a:blip r:embed="rId3">
            <a:alphaModFix/>
          </a:blip>
          <a:srcRect l="70075" t="-1971" r="206" b="55067"/>
          <a:stretch/>
        </p:blipFill>
        <p:spPr>
          <a:xfrm>
            <a:off x="6696763" y="4431550"/>
            <a:ext cx="2407920" cy="2014171"/>
          </a:xfrm>
          <a:prstGeom prst="rect">
            <a:avLst/>
          </a:prstGeom>
          <a:noFill/>
          <a:ln>
            <a:noFill/>
          </a:ln>
          <a:effectLst>
            <a:outerShdw blurRad="190500" algn="tl" rotWithShape="0">
              <a:srgbClr val="000000">
                <a:alpha val="69803"/>
              </a:srgbClr>
            </a:outerShdw>
          </a:effectLst>
        </p:spPr>
      </p:pic>
      <p:pic>
        <p:nvPicPr>
          <p:cNvPr id="560" name="Google Shape;560;p42"/>
          <p:cNvPicPr preferRelativeResize="0"/>
          <p:nvPr/>
        </p:nvPicPr>
        <p:blipFill rotWithShape="1">
          <a:blip r:embed="rId3">
            <a:alphaModFix/>
          </a:blip>
          <a:srcRect l="70075" t="45818" r="206" b="10887"/>
          <a:stretch/>
        </p:blipFill>
        <p:spPr>
          <a:xfrm>
            <a:off x="9444380" y="4474608"/>
            <a:ext cx="2552887" cy="1971113"/>
          </a:xfrm>
          <a:prstGeom prst="rect">
            <a:avLst/>
          </a:prstGeom>
          <a:noFill/>
          <a:ln>
            <a:noFill/>
          </a:ln>
          <a:effectLst>
            <a:outerShdw blurRad="190500" algn="tl" rotWithShape="0">
              <a:srgbClr val="000000">
                <a:alpha val="69803"/>
              </a:srgbClr>
            </a:outerShdw>
          </a:effec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65"/>
        <p:cNvGrpSpPr/>
        <p:nvPr/>
      </p:nvGrpSpPr>
      <p:grpSpPr>
        <a:xfrm>
          <a:off x="0" y="0"/>
          <a:ext cx="0" cy="0"/>
          <a:chOff x="0" y="0"/>
          <a:chExt cx="0" cy="0"/>
        </a:xfrm>
      </p:grpSpPr>
      <p:sp>
        <p:nvSpPr>
          <p:cNvPr id="566" name="Google Shape;566;p43"/>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venir"/>
              <a:ea typeface="Avenir"/>
              <a:cs typeface="Avenir"/>
              <a:sym typeface="Avenir"/>
            </a:endParaRPr>
          </a:p>
        </p:txBody>
      </p:sp>
      <p:pic>
        <p:nvPicPr>
          <p:cNvPr id="567" name="Google Shape;567;p43" descr="A diagram of different shapes&#10;&#10;AI-generated content may be incorrect."/>
          <p:cNvPicPr preferRelativeResize="0"/>
          <p:nvPr/>
        </p:nvPicPr>
        <p:blipFill rotWithShape="1">
          <a:blip r:embed="rId3">
            <a:alphaModFix/>
          </a:blip>
          <a:srcRect l="34599" t="13833" r="35011" b="44693"/>
          <a:stretch/>
        </p:blipFill>
        <p:spPr>
          <a:xfrm>
            <a:off x="6568876" y="1289725"/>
            <a:ext cx="5316224" cy="3645725"/>
          </a:xfrm>
          <a:prstGeom prst="rect">
            <a:avLst/>
          </a:prstGeom>
          <a:noFill/>
          <a:ln>
            <a:noFill/>
          </a:ln>
        </p:spPr>
      </p:pic>
      <p:sp>
        <p:nvSpPr>
          <p:cNvPr id="568" name="Google Shape;568;p43"/>
          <p:cNvSpPr/>
          <p:nvPr/>
        </p:nvSpPr>
        <p:spPr>
          <a:xfrm>
            <a:off x="2" y="0"/>
            <a:ext cx="9756601" cy="6858000"/>
          </a:xfrm>
          <a:prstGeom prst="rect">
            <a:avLst/>
          </a:prstGeom>
          <a:gradFill>
            <a:gsLst>
              <a:gs pos="0">
                <a:srgbClr val="000000">
                  <a:alpha val="0"/>
                </a:srgbClr>
              </a:gs>
              <a:gs pos="19000">
                <a:srgbClr val="000000">
                  <a:alpha val="37647"/>
                </a:srgbClr>
              </a:gs>
              <a:gs pos="35000">
                <a:srgbClr val="000000">
                  <a:alpha val="77647"/>
                </a:srgbClr>
              </a:gs>
              <a:gs pos="58000">
                <a:schemeClr val="dk1"/>
              </a:gs>
              <a:gs pos="100000">
                <a:schemeClr val="dk1"/>
              </a:gs>
            </a:gsLst>
            <a:lin ang="10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venir"/>
              <a:ea typeface="Avenir"/>
              <a:cs typeface="Avenir"/>
              <a:sym typeface="Avenir"/>
            </a:endParaRPr>
          </a:p>
        </p:txBody>
      </p:sp>
      <p:sp>
        <p:nvSpPr>
          <p:cNvPr id="569" name="Google Shape;569;p43"/>
          <p:cNvSpPr txBox="1">
            <a:spLocks noGrp="1"/>
          </p:cNvSpPr>
          <p:nvPr>
            <p:ph type="title"/>
          </p:nvPr>
        </p:nvSpPr>
        <p:spPr>
          <a:xfrm>
            <a:off x="371025" y="409274"/>
            <a:ext cx="3648000" cy="870000"/>
          </a:xfrm>
          <a:prstGeom prst="rect">
            <a:avLst/>
          </a:prstGeom>
          <a:noFill/>
          <a:ln>
            <a:noFill/>
          </a:ln>
        </p:spPr>
        <p:txBody>
          <a:bodyPr spcFirstLastPara="1" wrap="square" lIns="91425" tIns="45700" rIns="91425" bIns="45700" anchor="b" anchorCtr="0">
            <a:normAutofit fontScale="90000"/>
          </a:bodyPr>
          <a:lstStyle/>
          <a:p>
            <a:pPr marL="0" lvl="0" indent="0" algn="l" rtl="0">
              <a:lnSpc>
                <a:spcPct val="90000"/>
              </a:lnSpc>
              <a:spcBef>
                <a:spcPts val="0"/>
              </a:spcBef>
              <a:spcAft>
                <a:spcPts val="0"/>
              </a:spcAft>
              <a:buClr>
                <a:schemeClr val="lt1"/>
              </a:buClr>
              <a:buSzPct val="100000"/>
              <a:buFont typeface="Tahoma"/>
              <a:buNone/>
            </a:pPr>
            <a:r>
              <a:rPr lang="el-GR" sz="2800" b="1" dirty="0">
                <a:solidFill>
                  <a:schemeClr val="lt1"/>
                </a:solidFill>
                <a:latin typeface="Tahoma"/>
                <a:ea typeface="Tahoma"/>
                <a:cs typeface="Tahoma"/>
                <a:sym typeface="Tahoma"/>
              </a:rPr>
              <a:t>Καλύτερη Ποιότητα Δειγμάτων (I)</a:t>
            </a:r>
            <a:endParaRPr sz="2800" b="1" dirty="0">
              <a:solidFill>
                <a:schemeClr val="lt1"/>
              </a:solidFill>
              <a:latin typeface="Tahoma"/>
              <a:ea typeface="Tahoma"/>
              <a:cs typeface="Tahoma"/>
              <a:sym typeface="Tahoma"/>
            </a:endParaRPr>
          </a:p>
        </p:txBody>
      </p:sp>
      <p:sp>
        <p:nvSpPr>
          <p:cNvPr id="570" name="Google Shape;570;p43"/>
          <p:cNvSpPr/>
          <p:nvPr/>
        </p:nvSpPr>
        <p:spPr>
          <a:xfrm rot="5400000">
            <a:off x="608780" y="98334"/>
            <a:ext cx="73200" cy="5487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FFFFFF"/>
              </a:solidFill>
              <a:latin typeface="Calibri"/>
              <a:ea typeface="Calibri"/>
              <a:cs typeface="Calibri"/>
              <a:sym typeface="Calibri"/>
            </a:endParaRPr>
          </a:p>
        </p:txBody>
      </p:sp>
      <p:sp>
        <p:nvSpPr>
          <p:cNvPr id="571" name="Google Shape;571;p43"/>
          <p:cNvSpPr txBox="1">
            <a:spLocks noGrp="1"/>
          </p:cNvSpPr>
          <p:nvPr>
            <p:ph type="body" idx="1"/>
          </p:nvPr>
        </p:nvSpPr>
        <p:spPr>
          <a:xfrm>
            <a:off x="371025" y="1289725"/>
            <a:ext cx="6198000" cy="5568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lt1"/>
              </a:buClr>
              <a:buSzPts val="1400"/>
              <a:buNone/>
            </a:pPr>
            <a:r>
              <a:rPr lang="el-GR" sz="1600" dirty="0">
                <a:solidFill>
                  <a:schemeClr val="lt1"/>
                </a:solidFill>
                <a:latin typeface="Tahoma"/>
                <a:ea typeface="Tahoma"/>
                <a:cs typeface="Tahoma"/>
                <a:sym typeface="Tahoma"/>
              </a:rPr>
              <a:t>Οι πορτοκαλί κουκκίδες δείχνουν τα κέντρα των 25 πραγματικών </a:t>
            </a:r>
            <a:r>
              <a:rPr lang="el-GR" sz="1600" dirty="0" err="1">
                <a:solidFill>
                  <a:schemeClr val="lt1"/>
                </a:solidFill>
                <a:latin typeface="Tahoma"/>
                <a:ea typeface="Tahoma"/>
                <a:cs typeface="Tahoma"/>
                <a:sym typeface="Tahoma"/>
              </a:rPr>
              <a:t>Gussian</a:t>
            </a:r>
            <a:r>
              <a:rPr lang="el-GR" sz="1600" dirty="0">
                <a:solidFill>
                  <a:schemeClr val="lt1"/>
                </a:solidFill>
                <a:latin typeface="Tahoma"/>
                <a:ea typeface="Tahoma"/>
                <a:cs typeface="Tahoma"/>
                <a:sym typeface="Tahoma"/>
              </a:rPr>
              <a:t> κατανομών (</a:t>
            </a:r>
            <a:r>
              <a:rPr lang="el-GR" sz="1600" dirty="0" err="1">
                <a:solidFill>
                  <a:schemeClr val="lt1"/>
                </a:solidFill>
                <a:latin typeface="Tahoma"/>
                <a:ea typeface="Tahoma"/>
                <a:cs typeface="Tahoma"/>
                <a:sym typeface="Tahoma"/>
              </a:rPr>
              <a:t>Pr</a:t>
            </a:r>
            <a:r>
              <a:rPr lang="el-GR" sz="1600" dirty="0">
                <a:solidFill>
                  <a:schemeClr val="lt1"/>
                </a:solidFill>
                <a:latin typeface="Tahoma"/>
                <a:ea typeface="Tahoma"/>
                <a:cs typeface="Tahoma"/>
                <a:sym typeface="Tahoma"/>
              </a:rPr>
              <a:t>). Οι ισοϋψείς καμπύλες δείχνουν το σκορ του κριτή όσο χαμηλότερα βρίσκεται μια καμπύλη, τόσο πιο πραγματικό θεωρεί το αντίστοιχο σημείο. Ιδανικά, λοιπόν, ο κριτής πρέπει να σχηματίζει ένα τοπίο με βαθιές κοιλάδες ακριβώς πάνω στις κουκκίδες και λόφους στα κενά ανάμεσά τους.</a:t>
            </a:r>
            <a:endParaRPr sz="1600" dirty="0"/>
          </a:p>
          <a:p>
            <a:pPr marL="0" lvl="0" indent="0" algn="l" rtl="0">
              <a:lnSpc>
                <a:spcPct val="100000"/>
              </a:lnSpc>
              <a:spcBef>
                <a:spcPts val="1000"/>
              </a:spcBef>
              <a:spcAft>
                <a:spcPts val="0"/>
              </a:spcAft>
              <a:buClr>
                <a:schemeClr val="lt1"/>
              </a:buClr>
              <a:buSzPts val="1400"/>
              <a:buNone/>
            </a:pPr>
            <a:r>
              <a:rPr lang="el-GR" sz="1600" b="1" dirty="0">
                <a:solidFill>
                  <a:schemeClr val="lt1"/>
                </a:solidFill>
                <a:latin typeface="Tahoma"/>
                <a:ea typeface="Tahoma"/>
                <a:cs typeface="Tahoma"/>
                <a:sym typeface="Tahoma"/>
              </a:rPr>
              <a:t>WGAN με </a:t>
            </a:r>
            <a:r>
              <a:rPr lang="el-GR" sz="1600" b="1" dirty="0" err="1">
                <a:solidFill>
                  <a:srgbClr val="FF0000"/>
                </a:solidFill>
                <a:latin typeface="Tahoma"/>
                <a:ea typeface="Tahoma"/>
                <a:cs typeface="Tahoma"/>
                <a:sym typeface="Tahoma"/>
              </a:rPr>
              <a:t>Weight</a:t>
            </a:r>
            <a:r>
              <a:rPr lang="el-GR" sz="1600" b="1" dirty="0">
                <a:solidFill>
                  <a:srgbClr val="FF0000"/>
                </a:solidFill>
                <a:latin typeface="Tahoma"/>
                <a:ea typeface="Tahoma"/>
                <a:cs typeface="Tahoma"/>
                <a:sym typeface="Tahoma"/>
              </a:rPr>
              <a:t> </a:t>
            </a:r>
            <a:r>
              <a:rPr lang="el-GR" sz="1600" b="1" dirty="0" err="1">
                <a:solidFill>
                  <a:srgbClr val="FF0000"/>
                </a:solidFill>
                <a:latin typeface="Tahoma"/>
                <a:ea typeface="Tahoma"/>
                <a:cs typeface="Tahoma"/>
                <a:sym typeface="Tahoma"/>
              </a:rPr>
              <a:t>Clipping</a:t>
            </a:r>
            <a:r>
              <a:rPr lang="el-GR" sz="1600" b="1" dirty="0">
                <a:solidFill>
                  <a:schemeClr val="lt1"/>
                </a:solidFill>
                <a:latin typeface="Tahoma"/>
                <a:ea typeface="Tahoma"/>
                <a:cs typeface="Tahoma"/>
                <a:sym typeface="Tahoma"/>
              </a:rPr>
              <a:t>: </a:t>
            </a:r>
            <a:endParaRPr sz="1600" b="1" dirty="0">
              <a:solidFill>
                <a:schemeClr val="lt1"/>
              </a:solidFill>
              <a:latin typeface="Tahoma"/>
              <a:ea typeface="Tahoma"/>
              <a:cs typeface="Tahoma"/>
              <a:sym typeface="Tahoma"/>
            </a:endParaRPr>
          </a:p>
          <a:p>
            <a:pPr marL="685800" lvl="1" indent="-247967" algn="l" rtl="0">
              <a:lnSpc>
                <a:spcPct val="100000"/>
              </a:lnSpc>
              <a:spcBef>
                <a:spcPts val="500"/>
              </a:spcBef>
              <a:spcAft>
                <a:spcPts val="0"/>
              </a:spcAft>
              <a:buClr>
                <a:schemeClr val="lt1"/>
              </a:buClr>
              <a:buSzPts val="1600"/>
              <a:buFont typeface="Noto Sans Symbols"/>
              <a:buChar char="❑"/>
            </a:pPr>
            <a:r>
              <a:rPr lang="el-GR" sz="1600" dirty="0">
                <a:solidFill>
                  <a:schemeClr val="lt1"/>
                </a:solidFill>
                <a:latin typeface="Tahoma"/>
                <a:ea typeface="Tahoma"/>
                <a:cs typeface="Tahoma"/>
                <a:sym typeface="Tahoma"/>
              </a:rPr>
              <a:t>Αφού όλα τα βάρη κόβονται στο διάστημα [−c, c], τηρείται μεν ο k-</a:t>
            </a:r>
            <a:r>
              <a:rPr lang="el-GR" sz="1600" dirty="0" err="1">
                <a:solidFill>
                  <a:schemeClr val="lt1"/>
                </a:solidFill>
                <a:latin typeface="Tahoma"/>
                <a:ea typeface="Tahoma"/>
                <a:cs typeface="Tahoma"/>
                <a:sym typeface="Tahoma"/>
              </a:rPr>
              <a:t>Lipschitz</a:t>
            </a:r>
            <a:r>
              <a:rPr lang="el-GR" sz="1600" dirty="0">
                <a:solidFill>
                  <a:schemeClr val="lt1"/>
                </a:solidFill>
                <a:latin typeface="Tahoma"/>
                <a:ea typeface="Tahoma"/>
                <a:cs typeface="Tahoma"/>
                <a:sym typeface="Tahoma"/>
              </a:rPr>
              <a:t> περιορισμός, αλλά το δίκτυο χάνει την ικανότητα να αλλάζει απότομα κλίση όπου χρειάζεται. Ο κριτής πιέζεται να αγγίξει τη μέγιστη επιτρεπτή κλίση k και καταλήγει να σχηματίζει σχεδόν ίσιες, τετραγωνικές καμπύλες. Έτσι δεν αξιοποιεί πλήρως την εκφραστικότητά του και αδυνατεί να διακρίνει τις λεπτές διαφορές ανάμεσα στις 25 </a:t>
            </a:r>
            <a:r>
              <a:rPr lang="el-GR" sz="1600" dirty="0" err="1">
                <a:solidFill>
                  <a:schemeClr val="lt1"/>
                </a:solidFill>
                <a:latin typeface="Tahoma"/>
                <a:ea typeface="Tahoma"/>
                <a:cs typeface="Tahoma"/>
                <a:sym typeface="Tahoma"/>
              </a:rPr>
              <a:t>Gaussians</a:t>
            </a:r>
            <a:r>
              <a:rPr lang="el-GR" sz="1600" dirty="0">
                <a:solidFill>
                  <a:schemeClr val="lt1"/>
                </a:solidFill>
                <a:latin typeface="Tahoma"/>
                <a:ea typeface="Tahoma"/>
                <a:cs typeface="Tahoma"/>
                <a:sym typeface="Tahoma"/>
              </a:rPr>
              <a:t>. </a:t>
            </a:r>
            <a:endParaRPr sz="1600" dirty="0"/>
          </a:p>
          <a:p>
            <a:pPr marL="685800" lvl="1" indent="-247967" algn="l" rtl="0">
              <a:lnSpc>
                <a:spcPct val="100000"/>
              </a:lnSpc>
              <a:spcBef>
                <a:spcPts val="500"/>
              </a:spcBef>
              <a:spcAft>
                <a:spcPts val="0"/>
              </a:spcAft>
              <a:buClr>
                <a:schemeClr val="lt1"/>
              </a:buClr>
              <a:buSzPts val="1600"/>
              <a:buFont typeface="Noto Sans Symbols"/>
              <a:buChar char="❑"/>
            </a:pPr>
            <a:r>
              <a:rPr lang="el-GR" sz="1600" dirty="0">
                <a:solidFill>
                  <a:schemeClr val="lt1"/>
                </a:solidFill>
                <a:latin typeface="Tahoma"/>
                <a:ea typeface="Tahoma"/>
                <a:cs typeface="Tahoma"/>
                <a:sym typeface="Tahoma"/>
              </a:rPr>
              <a:t>Η θεωρία λέει ότι ο βέλτιστος κριτής 1-Lipschitz  πρέπει να έχει νόρμα κλίσης ίση με 1 σχεδόν παντού, όμως με το </a:t>
            </a:r>
            <a:r>
              <a:rPr lang="el-GR" sz="1600" dirty="0" err="1">
                <a:solidFill>
                  <a:schemeClr val="lt1"/>
                </a:solidFill>
                <a:latin typeface="Tahoma"/>
                <a:ea typeface="Tahoma"/>
                <a:cs typeface="Tahoma"/>
                <a:sym typeface="Tahoma"/>
              </a:rPr>
              <a:t>clipping</a:t>
            </a:r>
            <a:r>
              <a:rPr lang="el-GR" sz="1600" dirty="0">
                <a:solidFill>
                  <a:schemeClr val="lt1"/>
                </a:solidFill>
                <a:latin typeface="Tahoma"/>
                <a:ea typeface="Tahoma"/>
                <a:cs typeface="Tahoma"/>
                <a:sym typeface="Tahoma"/>
              </a:rPr>
              <a:t> η νόρμα πέφτει αισθητά κάτω από 1 σε πολλές περιοχές, οδηγώντας σε φτωχά αποτελέσματα.</a:t>
            </a:r>
            <a:endParaRPr sz="16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76"/>
        <p:cNvGrpSpPr/>
        <p:nvPr/>
      </p:nvGrpSpPr>
      <p:grpSpPr>
        <a:xfrm>
          <a:off x="0" y="0"/>
          <a:ext cx="0" cy="0"/>
          <a:chOff x="0" y="0"/>
          <a:chExt cx="0" cy="0"/>
        </a:xfrm>
      </p:grpSpPr>
      <p:sp>
        <p:nvSpPr>
          <p:cNvPr id="577" name="Google Shape;577;p44"/>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venir"/>
              <a:ea typeface="Avenir"/>
              <a:cs typeface="Avenir"/>
              <a:sym typeface="Avenir"/>
            </a:endParaRPr>
          </a:p>
        </p:txBody>
      </p:sp>
      <p:pic>
        <p:nvPicPr>
          <p:cNvPr id="578" name="Google Shape;578;p44" descr="A diagram of different shapes&#10;&#10;AI-generated content may be incorrect."/>
          <p:cNvPicPr preferRelativeResize="0"/>
          <p:nvPr/>
        </p:nvPicPr>
        <p:blipFill rotWithShape="1">
          <a:blip r:embed="rId3">
            <a:alphaModFix/>
          </a:blip>
          <a:srcRect l="35670" t="55926" r="34788" b="2934"/>
          <a:stretch/>
        </p:blipFill>
        <p:spPr>
          <a:xfrm>
            <a:off x="5768104" y="1287865"/>
            <a:ext cx="6177604" cy="4323164"/>
          </a:xfrm>
          <a:prstGeom prst="rect">
            <a:avLst/>
          </a:prstGeom>
          <a:noFill/>
          <a:ln>
            <a:noFill/>
          </a:ln>
        </p:spPr>
      </p:pic>
      <p:sp>
        <p:nvSpPr>
          <p:cNvPr id="579" name="Google Shape;579;p44"/>
          <p:cNvSpPr/>
          <p:nvPr/>
        </p:nvSpPr>
        <p:spPr>
          <a:xfrm>
            <a:off x="2" y="0"/>
            <a:ext cx="9756601" cy="6858000"/>
          </a:xfrm>
          <a:prstGeom prst="rect">
            <a:avLst/>
          </a:prstGeom>
          <a:gradFill>
            <a:gsLst>
              <a:gs pos="0">
                <a:srgbClr val="000000">
                  <a:alpha val="0"/>
                </a:srgbClr>
              </a:gs>
              <a:gs pos="19000">
                <a:srgbClr val="000000">
                  <a:alpha val="37647"/>
                </a:srgbClr>
              </a:gs>
              <a:gs pos="35000">
                <a:srgbClr val="000000">
                  <a:alpha val="77647"/>
                </a:srgbClr>
              </a:gs>
              <a:gs pos="58000">
                <a:schemeClr val="dk1"/>
              </a:gs>
              <a:gs pos="100000">
                <a:schemeClr val="dk1"/>
              </a:gs>
            </a:gsLst>
            <a:lin ang="10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venir"/>
              <a:ea typeface="Avenir"/>
              <a:cs typeface="Avenir"/>
              <a:sym typeface="Avenir"/>
            </a:endParaRPr>
          </a:p>
        </p:txBody>
      </p:sp>
      <p:sp>
        <p:nvSpPr>
          <p:cNvPr id="580" name="Google Shape;580;p44"/>
          <p:cNvSpPr txBox="1">
            <a:spLocks noGrp="1"/>
          </p:cNvSpPr>
          <p:nvPr>
            <p:ph type="title"/>
          </p:nvPr>
        </p:nvSpPr>
        <p:spPr>
          <a:xfrm>
            <a:off x="359650" y="392847"/>
            <a:ext cx="3438000" cy="831000"/>
          </a:xfrm>
          <a:prstGeom prst="rect">
            <a:avLst/>
          </a:prstGeom>
          <a:noFill/>
          <a:ln>
            <a:noFill/>
          </a:ln>
        </p:spPr>
        <p:txBody>
          <a:bodyPr spcFirstLastPara="1" wrap="square" lIns="91425" tIns="45700" rIns="91425" bIns="45700" anchor="b" anchorCtr="0">
            <a:normAutofit fontScale="90000"/>
          </a:bodyPr>
          <a:lstStyle/>
          <a:p>
            <a:pPr marL="0" lvl="0" indent="0" algn="l" rtl="0">
              <a:lnSpc>
                <a:spcPct val="90000"/>
              </a:lnSpc>
              <a:spcBef>
                <a:spcPts val="0"/>
              </a:spcBef>
              <a:spcAft>
                <a:spcPts val="0"/>
              </a:spcAft>
              <a:buClr>
                <a:schemeClr val="lt1"/>
              </a:buClr>
              <a:buSzPct val="100000"/>
              <a:buFont typeface="Tahoma"/>
              <a:buNone/>
            </a:pPr>
            <a:r>
              <a:rPr lang="el-GR" sz="2800" b="1">
                <a:solidFill>
                  <a:schemeClr val="lt1"/>
                </a:solidFill>
                <a:latin typeface="Tahoma"/>
                <a:ea typeface="Tahoma"/>
                <a:cs typeface="Tahoma"/>
                <a:sym typeface="Tahoma"/>
              </a:rPr>
              <a:t>Καλύτερη Ποιότητα Δειγμάτων (II)</a:t>
            </a:r>
            <a:endParaRPr sz="2800" b="1">
              <a:solidFill>
                <a:schemeClr val="lt1"/>
              </a:solidFill>
              <a:latin typeface="Tahoma"/>
              <a:ea typeface="Tahoma"/>
              <a:cs typeface="Tahoma"/>
              <a:sym typeface="Tahoma"/>
            </a:endParaRPr>
          </a:p>
        </p:txBody>
      </p:sp>
      <p:sp>
        <p:nvSpPr>
          <p:cNvPr id="581" name="Google Shape;581;p44"/>
          <p:cNvSpPr/>
          <p:nvPr/>
        </p:nvSpPr>
        <p:spPr>
          <a:xfrm rot="5400000">
            <a:off x="665930" y="11334"/>
            <a:ext cx="73200" cy="5487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FFFFFF"/>
              </a:solidFill>
              <a:latin typeface="Calibri"/>
              <a:ea typeface="Calibri"/>
              <a:cs typeface="Calibri"/>
              <a:sym typeface="Calibri"/>
            </a:endParaRPr>
          </a:p>
        </p:txBody>
      </p:sp>
      <p:sp>
        <p:nvSpPr>
          <p:cNvPr id="582" name="Google Shape;582;p44"/>
          <p:cNvSpPr/>
          <p:nvPr/>
        </p:nvSpPr>
        <p:spPr>
          <a:xfrm>
            <a:off x="428156" y="1294430"/>
            <a:ext cx="3300900" cy="183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FFFFFF"/>
              </a:solidFill>
              <a:latin typeface="Calibri"/>
              <a:ea typeface="Calibri"/>
              <a:cs typeface="Calibri"/>
              <a:sym typeface="Calibri"/>
            </a:endParaRPr>
          </a:p>
        </p:txBody>
      </p:sp>
      <p:sp>
        <p:nvSpPr>
          <p:cNvPr id="583" name="Google Shape;583;p44"/>
          <p:cNvSpPr txBox="1">
            <a:spLocks noGrp="1"/>
          </p:cNvSpPr>
          <p:nvPr>
            <p:ph type="body" idx="1"/>
          </p:nvPr>
        </p:nvSpPr>
        <p:spPr>
          <a:xfrm>
            <a:off x="359650" y="1471075"/>
            <a:ext cx="5573400" cy="52041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chemeClr val="lt1"/>
              </a:buClr>
              <a:buSzPts val="1400"/>
              <a:buNone/>
            </a:pPr>
            <a:r>
              <a:rPr lang="el-GR" sz="1600" b="1" dirty="0">
                <a:solidFill>
                  <a:schemeClr val="lt1"/>
                </a:solidFill>
                <a:latin typeface="Tahoma"/>
                <a:ea typeface="Tahoma"/>
                <a:cs typeface="Tahoma"/>
                <a:sym typeface="Tahoma"/>
              </a:rPr>
              <a:t>WGAN με </a:t>
            </a:r>
            <a:r>
              <a:rPr lang="el-GR" sz="1600" b="1" dirty="0" err="1">
                <a:solidFill>
                  <a:srgbClr val="FF0000"/>
                </a:solidFill>
                <a:latin typeface="Tahoma"/>
                <a:ea typeface="Tahoma"/>
                <a:cs typeface="Tahoma"/>
                <a:sym typeface="Tahoma"/>
              </a:rPr>
              <a:t>Gradient</a:t>
            </a:r>
            <a:r>
              <a:rPr lang="el-GR" sz="1600" b="1" dirty="0">
                <a:solidFill>
                  <a:srgbClr val="FF0000"/>
                </a:solidFill>
                <a:latin typeface="Tahoma"/>
                <a:ea typeface="Tahoma"/>
                <a:cs typeface="Tahoma"/>
                <a:sym typeface="Tahoma"/>
              </a:rPr>
              <a:t> </a:t>
            </a:r>
            <a:r>
              <a:rPr lang="el-GR" sz="1600" b="1" dirty="0" err="1">
                <a:solidFill>
                  <a:srgbClr val="FF0000"/>
                </a:solidFill>
                <a:latin typeface="Tahoma"/>
                <a:ea typeface="Tahoma"/>
                <a:cs typeface="Tahoma"/>
                <a:sym typeface="Tahoma"/>
              </a:rPr>
              <a:t>Penalty</a:t>
            </a:r>
            <a:r>
              <a:rPr lang="el-GR" sz="1600" b="1" dirty="0">
                <a:solidFill>
                  <a:srgbClr val="FF0000"/>
                </a:solidFill>
                <a:latin typeface="Tahoma"/>
                <a:ea typeface="Tahoma"/>
                <a:cs typeface="Tahoma"/>
                <a:sym typeface="Tahoma"/>
              </a:rPr>
              <a:t> (W</a:t>
            </a:r>
            <a:r>
              <a:rPr lang="el-GR" sz="1600" b="1" dirty="0">
                <a:solidFill>
                  <a:schemeClr val="lt1"/>
                </a:solidFill>
                <a:latin typeface="Tahoma"/>
                <a:ea typeface="Tahoma"/>
                <a:cs typeface="Tahoma"/>
                <a:sym typeface="Tahoma"/>
              </a:rPr>
              <a:t>GAN</a:t>
            </a:r>
            <a:r>
              <a:rPr lang="el-GR" sz="1600" b="1" dirty="0">
                <a:solidFill>
                  <a:srgbClr val="FF0000"/>
                </a:solidFill>
                <a:latin typeface="Tahoma"/>
                <a:ea typeface="Tahoma"/>
                <a:cs typeface="Tahoma"/>
                <a:sym typeface="Tahoma"/>
              </a:rPr>
              <a:t>-GP)</a:t>
            </a:r>
            <a:r>
              <a:rPr lang="el-GR" sz="1600" b="1" dirty="0">
                <a:solidFill>
                  <a:schemeClr val="lt1"/>
                </a:solidFill>
                <a:latin typeface="Tahoma"/>
                <a:ea typeface="Tahoma"/>
                <a:cs typeface="Tahoma"/>
                <a:sym typeface="Tahoma"/>
              </a:rPr>
              <a:t>:</a:t>
            </a:r>
            <a:endParaRPr sz="1600" b="1" dirty="0">
              <a:solidFill>
                <a:schemeClr val="lt1"/>
              </a:solidFill>
              <a:latin typeface="Tahoma"/>
              <a:ea typeface="Tahoma"/>
              <a:cs typeface="Tahoma"/>
              <a:sym typeface="Tahoma"/>
            </a:endParaRPr>
          </a:p>
          <a:p>
            <a:pPr marL="685800" lvl="1" indent="-241300" algn="l" rtl="0">
              <a:lnSpc>
                <a:spcPct val="100000"/>
              </a:lnSpc>
              <a:spcBef>
                <a:spcPts val="500"/>
              </a:spcBef>
              <a:spcAft>
                <a:spcPts val="0"/>
              </a:spcAft>
              <a:buClr>
                <a:schemeClr val="lt1"/>
              </a:buClr>
              <a:buSzPts val="1600"/>
              <a:buFont typeface="Noto Sans Symbols"/>
              <a:buChar char="❑"/>
            </a:pPr>
            <a:r>
              <a:rPr lang="el-GR" sz="1600" dirty="0">
                <a:solidFill>
                  <a:schemeClr val="lt1"/>
                </a:solidFill>
                <a:latin typeface="Tahoma"/>
                <a:ea typeface="Tahoma"/>
                <a:cs typeface="Tahoma"/>
                <a:sym typeface="Tahoma"/>
              </a:rPr>
              <a:t>Αντί να κόβονται βίαια τα βάρη, προσθέτουμε στο </a:t>
            </a:r>
            <a:r>
              <a:rPr lang="el-GR" sz="1600" dirty="0" err="1">
                <a:solidFill>
                  <a:schemeClr val="lt1"/>
                </a:solidFill>
                <a:latin typeface="Tahoma"/>
                <a:ea typeface="Tahoma"/>
                <a:cs typeface="Tahoma"/>
                <a:sym typeface="Tahoma"/>
              </a:rPr>
              <a:t>loss</a:t>
            </a:r>
            <a:r>
              <a:rPr lang="el-GR" sz="1600" dirty="0">
                <a:solidFill>
                  <a:schemeClr val="lt1"/>
                </a:solidFill>
                <a:latin typeface="Tahoma"/>
                <a:ea typeface="Tahoma"/>
                <a:cs typeface="Tahoma"/>
                <a:sym typeface="Tahoma"/>
              </a:rPr>
              <a:t> ένα «πρόστιμο» κάθε φορά που ‖∇f‖ απομακρύνεται από 1. Έτσι ο κριτής διατηρεί φυσικά την κλίση γύρω στο 1 χωρίς να περιορίζεται η πολυπλοκότητά του. </a:t>
            </a:r>
            <a:endParaRPr sz="1600" dirty="0">
              <a:solidFill>
                <a:schemeClr val="lt1"/>
              </a:solidFill>
              <a:latin typeface="Tahoma"/>
              <a:ea typeface="Tahoma"/>
              <a:cs typeface="Tahoma"/>
              <a:sym typeface="Tahoma"/>
            </a:endParaRPr>
          </a:p>
          <a:p>
            <a:pPr marL="685800" lvl="1" indent="-241300" algn="l" rtl="0">
              <a:lnSpc>
                <a:spcPct val="100000"/>
              </a:lnSpc>
              <a:spcBef>
                <a:spcPts val="500"/>
              </a:spcBef>
              <a:spcAft>
                <a:spcPts val="0"/>
              </a:spcAft>
              <a:buClr>
                <a:schemeClr val="lt1"/>
              </a:buClr>
              <a:buSzPts val="1600"/>
              <a:buFont typeface="Noto Sans Symbols"/>
              <a:buChar char="❑"/>
            </a:pPr>
            <a:r>
              <a:rPr lang="el-GR" sz="1600" dirty="0">
                <a:solidFill>
                  <a:schemeClr val="lt1"/>
                </a:solidFill>
                <a:latin typeface="Tahoma"/>
                <a:ea typeface="Tahoma"/>
                <a:cs typeface="Tahoma"/>
                <a:sym typeface="Tahoma"/>
              </a:rPr>
              <a:t>Μπορεί να λυγίζει ομαλά όπου χρειάζεται, σχηματίζοντας κυματοειδείς καμπύλες και μαθαίνει πιο σταθερά και πιστά τη δομή των δεδομένων.</a:t>
            </a:r>
            <a:endParaRPr sz="1600" dirty="0">
              <a:solidFill>
                <a:schemeClr val="lt1"/>
              </a:solidFill>
              <a:latin typeface="Tahoma"/>
              <a:ea typeface="Tahoma"/>
              <a:cs typeface="Tahoma"/>
              <a:sym typeface="Tahoma"/>
            </a:endParaRPr>
          </a:p>
          <a:p>
            <a:pPr marL="0" lvl="0" indent="0" algn="l" rtl="0">
              <a:lnSpc>
                <a:spcPct val="100000"/>
              </a:lnSpc>
              <a:spcBef>
                <a:spcPts val="1000"/>
              </a:spcBef>
              <a:spcAft>
                <a:spcPts val="0"/>
              </a:spcAft>
              <a:buClr>
                <a:schemeClr val="lt1"/>
              </a:buClr>
              <a:buSzPts val="1400"/>
              <a:buNone/>
            </a:pPr>
            <a:r>
              <a:rPr lang="el-GR" sz="1800" dirty="0">
                <a:solidFill>
                  <a:schemeClr val="lt1"/>
                </a:solidFill>
                <a:latin typeface="Tahoma"/>
                <a:ea typeface="Tahoma"/>
                <a:cs typeface="Tahoma"/>
                <a:sym typeface="Tahoma"/>
              </a:rPr>
              <a:t>Συνοψίζοντας</a:t>
            </a:r>
            <a:r>
              <a:rPr lang="el-GR" sz="1600" dirty="0">
                <a:solidFill>
                  <a:schemeClr val="lt1"/>
                </a:solidFill>
                <a:latin typeface="Tahoma"/>
                <a:ea typeface="Tahoma"/>
                <a:cs typeface="Tahoma"/>
                <a:sym typeface="Tahoma"/>
              </a:rPr>
              <a:t>, το </a:t>
            </a:r>
            <a:r>
              <a:rPr lang="el-GR" sz="1600" dirty="0" err="1">
                <a:solidFill>
                  <a:schemeClr val="lt1"/>
                </a:solidFill>
                <a:latin typeface="Tahoma"/>
                <a:ea typeface="Tahoma"/>
                <a:cs typeface="Tahoma"/>
                <a:sym typeface="Tahoma"/>
              </a:rPr>
              <a:t>Weight</a:t>
            </a:r>
            <a:r>
              <a:rPr lang="el-GR" sz="1600" dirty="0">
                <a:solidFill>
                  <a:schemeClr val="lt1"/>
                </a:solidFill>
                <a:latin typeface="Tahoma"/>
                <a:ea typeface="Tahoma"/>
                <a:cs typeface="Tahoma"/>
                <a:sym typeface="Tahoma"/>
              </a:rPr>
              <a:t> </a:t>
            </a:r>
            <a:r>
              <a:rPr lang="el-GR" sz="1600" dirty="0" err="1">
                <a:solidFill>
                  <a:schemeClr val="lt1"/>
                </a:solidFill>
                <a:latin typeface="Tahoma"/>
                <a:ea typeface="Tahoma"/>
                <a:cs typeface="Tahoma"/>
                <a:sym typeface="Tahoma"/>
              </a:rPr>
              <a:t>Clipping</a:t>
            </a:r>
            <a:r>
              <a:rPr lang="el-GR" sz="1600" dirty="0">
                <a:solidFill>
                  <a:schemeClr val="lt1"/>
                </a:solidFill>
                <a:latin typeface="Tahoma"/>
                <a:ea typeface="Tahoma"/>
                <a:cs typeface="Tahoma"/>
                <a:sym typeface="Tahoma"/>
              </a:rPr>
              <a:t> είναι ένας ασφυκτικός τρόπος επιβολής του περιορισμού </a:t>
            </a:r>
            <a:r>
              <a:rPr lang="el-GR" sz="1600" dirty="0" err="1">
                <a:solidFill>
                  <a:schemeClr val="lt1"/>
                </a:solidFill>
                <a:latin typeface="Tahoma"/>
                <a:ea typeface="Tahoma"/>
                <a:cs typeface="Tahoma"/>
                <a:sym typeface="Tahoma"/>
              </a:rPr>
              <a:t>Lipschitz</a:t>
            </a:r>
            <a:r>
              <a:rPr lang="el-GR" sz="1600" dirty="0">
                <a:solidFill>
                  <a:schemeClr val="lt1"/>
                </a:solidFill>
                <a:latin typeface="Tahoma"/>
                <a:ea typeface="Tahoma"/>
                <a:cs typeface="Tahoma"/>
                <a:sym typeface="Tahoma"/>
              </a:rPr>
              <a:t>, πνίγει τη μαθησιακή ικανότητα του κριτή. Αντίθετα, το </a:t>
            </a:r>
            <a:r>
              <a:rPr lang="el-GR" sz="1600" dirty="0" err="1">
                <a:solidFill>
                  <a:schemeClr val="lt1"/>
                </a:solidFill>
                <a:latin typeface="Tahoma"/>
                <a:ea typeface="Tahoma"/>
                <a:cs typeface="Tahoma"/>
                <a:sym typeface="Tahoma"/>
              </a:rPr>
              <a:t>Gradient</a:t>
            </a:r>
            <a:r>
              <a:rPr lang="el-GR" sz="1600" dirty="0">
                <a:solidFill>
                  <a:schemeClr val="lt1"/>
                </a:solidFill>
                <a:latin typeface="Tahoma"/>
                <a:ea typeface="Tahoma"/>
                <a:cs typeface="Tahoma"/>
                <a:sym typeface="Tahoma"/>
              </a:rPr>
              <a:t> </a:t>
            </a:r>
            <a:r>
              <a:rPr lang="el-GR" sz="1600" dirty="0" err="1">
                <a:solidFill>
                  <a:schemeClr val="lt1"/>
                </a:solidFill>
                <a:latin typeface="Tahoma"/>
                <a:ea typeface="Tahoma"/>
                <a:cs typeface="Tahoma"/>
                <a:sym typeface="Tahoma"/>
              </a:rPr>
              <a:t>Penalty</a:t>
            </a:r>
            <a:r>
              <a:rPr lang="el-GR" sz="1600" dirty="0">
                <a:solidFill>
                  <a:schemeClr val="lt1"/>
                </a:solidFill>
                <a:latin typeface="Tahoma"/>
                <a:ea typeface="Tahoma"/>
                <a:cs typeface="Tahoma"/>
                <a:sym typeface="Tahoma"/>
              </a:rPr>
              <a:t> εφαρμόζει τον ίδιο θεωρητικό περιορισμό με πιο ήπιο τρόπο, επιτρέποντας στον κριτή να μάθει πλουσιότερες συναρτήσεις και να αναπαράγει πιστότερα την πραγματική κατανομή.</a:t>
            </a:r>
            <a:endParaRPr sz="16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588"/>
        <p:cNvGrpSpPr/>
        <p:nvPr/>
      </p:nvGrpSpPr>
      <p:grpSpPr>
        <a:xfrm>
          <a:off x="0" y="0"/>
          <a:ext cx="0" cy="0"/>
          <a:chOff x="0" y="0"/>
          <a:chExt cx="0" cy="0"/>
        </a:xfrm>
      </p:grpSpPr>
      <p:sp>
        <p:nvSpPr>
          <p:cNvPr id="589" name="Google Shape;589;p45"/>
          <p:cNvSpPr txBox="1">
            <a:spLocks noGrp="1"/>
          </p:cNvSpPr>
          <p:nvPr>
            <p:ph type="title"/>
          </p:nvPr>
        </p:nvSpPr>
        <p:spPr>
          <a:xfrm>
            <a:off x="1115574" y="548648"/>
            <a:ext cx="9428100" cy="965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000"/>
              <a:buFont typeface="Avenir"/>
              <a:buNone/>
            </a:pPr>
            <a:r>
              <a:rPr lang="el-GR" sz="3000" dirty="0">
                <a:latin typeface="Tahoma"/>
                <a:ea typeface="Tahoma"/>
                <a:cs typeface="Tahoma"/>
                <a:sym typeface="Tahoma"/>
              </a:rPr>
              <a:t>Ποινή Κλίσης (</a:t>
            </a:r>
            <a:r>
              <a:rPr lang="el-GR" sz="3000" b="1" dirty="0" err="1">
                <a:solidFill>
                  <a:srgbClr val="FF0000"/>
                </a:solidFill>
                <a:latin typeface="Tahoma"/>
                <a:ea typeface="Tahoma"/>
                <a:cs typeface="Tahoma"/>
                <a:sym typeface="Tahoma"/>
              </a:rPr>
              <a:t>Gradient</a:t>
            </a:r>
            <a:r>
              <a:rPr lang="el-GR" sz="3000" b="1" dirty="0">
                <a:solidFill>
                  <a:srgbClr val="FF0000"/>
                </a:solidFill>
                <a:latin typeface="Tahoma"/>
                <a:ea typeface="Tahoma"/>
                <a:cs typeface="Tahoma"/>
                <a:sym typeface="Tahoma"/>
              </a:rPr>
              <a:t> </a:t>
            </a:r>
            <a:r>
              <a:rPr lang="el-GR" sz="3000" b="1" dirty="0" err="1">
                <a:solidFill>
                  <a:srgbClr val="FF0000"/>
                </a:solidFill>
                <a:latin typeface="Tahoma"/>
                <a:ea typeface="Tahoma"/>
                <a:cs typeface="Tahoma"/>
                <a:sym typeface="Tahoma"/>
              </a:rPr>
              <a:t>Penalty</a:t>
            </a:r>
            <a:r>
              <a:rPr lang="el-GR" sz="3000" dirty="0">
                <a:latin typeface="Tahoma"/>
                <a:ea typeface="Tahoma"/>
                <a:cs typeface="Tahoma"/>
                <a:sym typeface="Tahoma"/>
              </a:rPr>
              <a:t>)</a:t>
            </a:r>
            <a:endParaRPr sz="3000" dirty="0">
              <a:latin typeface="Tahoma"/>
              <a:ea typeface="Tahoma"/>
              <a:cs typeface="Tahoma"/>
              <a:sym typeface="Tahoma"/>
            </a:endParaRPr>
          </a:p>
        </p:txBody>
      </p:sp>
      <p:sp>
        <p:nvSpPr>
          <p:cNvPr id="590" name="Google Shape;590;p45"/>
          <p:cNvSpPr txBox="1">
            <a:spLocks noGrp="1"/>
          </p:cNvSpPr>
          <p:nvPr>
            <p:ph type="body" idx="1"/>
          </p:nvPr>
        </p:nvSpPr>
        <p:spPr>
          <a:xfrm>
            <a:off x="456650" y="2001650"/>
            <a:ext cx="10746000" cy="4856400"/>
          </a:xfrm>
          <a:prstGeom prst="rect">
            <a:avLst/>
          </a:prstGeom>
          <a:noFill/>
          <a:ln>
            <a:noFill/>
          </a:ln>
        </p:spPr>
        <p:txBody>
          <a:bodyPr spcFirstLastPara="1" wrap="square" lIns="91425" tIns="45700" rIns="91425" bIns="45700" anchor="t" anchorCtr="0">
            <a:normAutofit/>
          </a:bodyPr>
          <a:lstStyle/>
          <a:p>
            <a:pPr marL="0" lvl="0" indent="0" algn="l" rtl="0">
              <a:lnSpc>
                <a:spcPct val="110000"/>
              </a:lnSpc>
              <a:spcBef>
                <a:spcPts val="0"/>
              </a:spcBef>
              <a:spcAft>
                <a:spcPts val="0"/>
              </a:spcAft>
              <a:buClr>
                <a:schemeClr val="dk1"/>
              </a:buClr>
              <a:buSzPts val="1800"/>
              <a:buNone/>
            </a:pPr>
            <a:r>
              <a:rPr lang="el-GR" sz="1600" b="1" dirty="0">
                <a:latin typeface="Tahoma"/>
                <a:ea typeface="Tahoma"/>
                <a:cs typeface="Tahoma"/>
                <a:sym typeface="Tahoma"/>
              </a:rPr>
              <a:t>Σκοπός:</a:t>
            </a:r>
            <a:endParaRPr sz="1600" b="1" dirty="0">
              <a:latin typeface="Tahoma"/>
              <a:ea typeface="Tahoma"/>
              <a:cs typeface="Tahoma"/>
              <a:sym typeface="Tahoma"/>
            </a:endParaRPr>
          </a:p>
          <a:p>
            <a:pPr marL="228600" lvl="0" indent="-215900" algn="l" rtl="0">
              <a:lnSpc>
                <a:spcPct val="110000"/>
              </a:lnSpc>
              <a:spcBef>
                <a:spcPts val="1000"/>
              </a:spcBef>
              <a:spcAft>
                <a:spcPts val="0"/>
              </a:spcAft>
              <a:buClr>
                <a:schemeClr val="dk1"/>
              </a:buClr>
              <a:buSzPts val="1600"/>
              <a:buFont typeface="Noto Sans Symbols"/>
              <a:buChar char="❑"/>
            </a:pPr>
            <a:r>
              <a:rPr lang="el-GR" sz="1600" dirty="0">
                <a:latin typeface="Tahoma"/>
                <a:ea typeface="Tahoma"/>
                <a:cs typeface="Tahoma"/>
                <a:sym typeface="Tahoma"/>
              </a:rPr>
              <a:t>Επιβάλλει χαλαρό περιορισμό η νόρμα του διανύσματος κλίσης </a:t>
            </a:r>
            <a:endParaRPr sz="1600" dirty="0"/>
          </a:p>
          <a:p>
            <a:pPr marL="228600" lvl="0" indent="-215900" algn="l" rtl="0">
              <a:lnSpc>
                <a:spcPct val="110000"/>
              </a:lnSpc>
              <a:spcBef>
                <a:spcPts val="1000"/>
              </a:spcBef>
              <a:spcAft>
                <a:spcPts val="0"/>
              </a:spcAft>
              <a:buClr>
                <a:schemeClr val="dk1"/>
              </a:buClr>
              <a:buSzPts val="1600"/>
              <a:buFont typeface="Noto Sans Symbols"/>
              <a:buChar char="❑"/>
            </a:pPr>
            <a:r>
              <a:rPr lang="el-GR" sz="1600" dirty="0">
                <a:latin typeface="Tahoma"/>
                <a:ea typeface="Tahoma"/>
                <a:cs typeface="Tahoma"/>
                <a:sym typeface="Tahoma"/>
              </a:rPr>
              <a:t>Εξασφαλίζει ότι ο κριτής ικανοποιεί τη συνθήκη 1-Lipschitz, απαραίτητη για τη σωστή μέτρηση της Απόστασης </a:t>
            </a:r>
            <a:r>
              <a:rPr lang="el-GR" sz="1600" dirty="0" err="1">
                <a:latin typeface="Tahoma"/>
                <a:ea typeface="Tahoma"/>
                <a:cs typeface="Tahoma"/>
                <a:sym typeface="Tahoma"/>
              </a:rPr>
              <a:t>Wasserstein</a:t>
            </a:r>
            <a:r>
              <a:rPr lang="el-GR" sz="1600" dirty="0">
                <a:latin typeface="Tahoma"/>
                <a:ea typeface="Tahoma"/>
                <a:cs typeface="Tahoma"/>
                <a:sym typeface="Tahoma"/>
              </a:rPr>
              <a:t>.</a:t>
            </a:r>
            <a:endParaRPr sz="1600" dirty="0"/>
          </a:p>
          <a:p>
            <a:pPr marL="0" lvl="0" indent="0" algn="l" rtl="0">
              <a:lnSpc>
                <a:spcPct val="110000"/>
              </a:lnSpc>
              <a:spcBef>
                <a:spcPts val="1000"/>
              </a:spcBef>
              <a:spcAft>
                <a:spcPts val="0"/>
              </a:spcAft>
              <a:buClr>
                <a:schemeClr val="dk1"/>
              </a:buClr>
              <a:buSzPts val="1800"/>
              <a:buNone/>
            </a:pPr>
            <a:r>
              <a:rPr lang="el-GR" sz="1600" b="1" dirty="0">
                <a:latin typeface="Tahoma"/>
                <a:ea typeface="Tahoma"/>
                <a:cs typeface="Tahoma"/>
                <a:sym typeface="Tahoma"/>
              </a:rPr>
              <a:t>Υπολογισμός:</a:t>
            </a:r>
            <a:endParaRPr sz="1600" b="1" dirty="0">
              <a:latin typeface="Tahoma"/>
              <a:ea typeface="Tahoma"/>
              <a:cs typeface="Tahoma"/>
              <a:sym typeface="Tahoma"/>
            </a:endParaRPr>
          </a:p>
          <a:p>
            <a:pPr marL="228600" lvl="0" indent="-215900" algn="l" rtl="0">
              <a:lnSpc>
                <a:spcPct val="110000"/>
              </a:lnSpc>
              <a:spcBef>
                <a:spcPts val="1000"/>
              </a:spcBef>
              <a:spcAft>
                <a:spcPts val="0"/>
              </a:spcAft>
              <a:buClr>
                <a:schemeClr val="dk1"/>
              </a:buClr>
              <a:buSzPts val="1600"/>
              <a:buFont typeface="Noto Sans Symbols"/>
              <a:buChar char="❑"/>
            </a:pPr>
            <a:r>
              <a:rPr lang="el-GR" sz="1600" dirty="0">
                <a:latin typeface="Tahoma"/>
                <a:ea typeface="Tahoma"/>
                <a:cs typeface="Tahoma"/>
                <a:sym typeface="Tahoma"/>
              </a:rPr>
              <a:t>Αν η νόρμα των κλίσεων αποκλίνει από 1, εφαρμόζεται L2 </a:t>
            </a:r>
            <a:r>
              <a:rPr lang="el-GR" sz="1600" dirty="0" err="1">
                <a:latin typeface="Tahoma"/>
                <a:ea typeface="Tahoma"/>
                <a:cs typeface="Tahoma"/>
                <a:sym typeface="Tahoma"/>
              </a:rPr>
              <a:t>κανονικοποίηση</a:t>
            </a:r>
            <a:r>
              <a:rPr lang="el-GR" sz="1600" dirty="0">
                <a:latin typeface="Tahoma"/>
                <a:ea typeface="Tahoma"/>
                <a:cs typeface="Tahoma"/>
                <a:sym typeface="Tahoma"/>
              </a:rPr>
              <a:t> και προστίθεται ποινή ώστε να επαναφέρει τη νόρμα στη μονάδα.                                                                      </a:t>
            </a:r>
            <a:endParaRPr sz="1600" dirty="0">
              <a:latin typeface="Tahoma"/>
              <a:ea typeface="Tahoma"/>
              <a:cs typeface="Tahoma"/>
              <a:sym typeface="Tahoma"/>
            </a:endParaRPr>
          </a:p>
          <a:p>
            <a:pPr marL="228600" lvl="0" indent="0" algn="l" rtl="0">
              <a:lnSpc>
                <a:spcPct val="110000"/>
              </a:lnSpc>
              <a:spcBef>
                <a:spcPts val="1000"/>
              </a:spcBef>
              <a:spcAft>
                <a:spcPts val="0"/>
              </a:spcAft>
              <a:buNone/>
            </a:pPr>
            <a:r>
              <a:rPr lang="el-GR" sz="1600" dirty="0">
                <a:latin typeface="Tahoma"/>
                <a:ea typeface="Tahoma"/>
                <a:cs typeface="Tahoma"/>
                <a:sym typeface="Tahoma"/>
              </a:rPr>
              <a:t>                                                                                              </a:t>
            </a:r>
            <a:r>
              <a:rPr lang="el-GR" sz="1400" dirty="0">
                <a:latin typeface="Tahoma"/>
                <a:ea typeface="Tahoma"/>
                <a:cs typeface="Tahoma"/>
                <a:sym typeface="Tahoma"/>
              </a:rPr>
              <a:t>πόσο απέχει το μέτρο του </a:t>
            </a:r>
            <a:r>
              <a:rPr lang="el-GR" sz="1400" dirty="0" err="1">
                <a:latin typeface="Tahoma"/>
                <a:ea typeface="Tahoma"/>
                <a:cs typeface="Tahoma"/>
                <a:sym typeface="Tahoma"/>
              </a:rPr>
              <a:t>gradient</a:t>
            </a:r>
            <a:r>
              <a:rPr lang="el-GR" sz="1400" dirty="0">
                <a:latin typeface="Tahoma"/>
                <a:ea typeface="Tahoma"/>
                <a:cs typeface="Tahoma"/>
                <a:sym typeface="Tahoma"/>
              </a:rPr>
              <a:t> από το 1.</a:t>
            </a:r>
            <a:endParaRPr sz="1400" dirty="0">
              <a:latin typeface="Tahoma"/>
              <a:ea typeface="Tahoma"/>
              <a:cs typeface="Tahoma"/>
              <a:sym typeface="Tahoma"/>
            </a:endParaRPr>
          </a:p>
        </p:txBody>
      </p:sp>
      <p:pic>
        <p:nvPicPr>
          <p:cNvPr id="591" name="Google Shape;591;p45"/>
          <p:cNvPicPr preferRelativeResize="0"/>
          <p:nvPr/>
        </p:nvPicPr>
        <p:blipFill rotWithShape="1">
          <a:blip r:embed="rId3">
            <a:alphaModFix/>
          </a:blip>
          <a:srcRect/>
          <a:stretch/>
        </p:blipFill>
        <p:spPr>
          <a:xfrm>
            <a:off x="1819041" y="5054167"/>
            <a:ext cx="7742089" cy="586187"/>
          </a:xfrm>
          <a:prstGeom prst="rect">
            <a:avLst/>
          </a:prstGeom>
          <a:noFill/>
          <a:ln>
            <a:noFill/>
          </a:ln>
          <a:effectLst>
            <a:outerShdw blurRad="190500" algn="tl" rotWithShape="0">
              <a:srgbClr val="000000">
                <a:alpha val="69803"/>
              </a:srgbClr>
            </a:outerShdw>
          </a:effectLst>
        </p:spPr>
      </p:pic>
      <p:sp>
        <p:nvSpPr>
          <p:cNvPr id="592" name="Google Shape;592;p45"/>
          <p:cNvSpPr/>
          <p:nvPr/>
        </p:nvSpPr>
        <p:spPr>
          <a:xfrm rot="-5400000">
            <a:off x="3935203" y="4383142"/>
            <a:ext cx="405300" cy="2872500"/>
          </a:xfrm>
          <a:prstGeom prst="leftBrace">
            <a:avLst>
              <a:gd name="adj1" fmla="val 8333"/>
              <a:gd name="adj2" fmla="val 50000"/>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Avenir"/>
              <a:ea typeface="Avenir"/>
              <a:cs typeface="Avenir"/>
              <a:sym typeface="Avenir"/>
            </a:endParaRPr>
          </a:p>
        </p:txBody>
      </p:sp>
      <p:sp>
        <p:nvSpPr>
          <p:cNvPr id="593" name="Google Shape;593;p45"/>
          <p:cNvSpPr/>
          <p:nvPr/>
        </p:nvSpPr>
        <p:spPr>
          <a:xfrm rot="-5400000">
            <a:off x="7453700" y="4201050"/>
            <a:ext cx="427200" cy="3236700"/>
          </a:xfrm>
          <a:prstGeom prst="leftBrace">
            <a:avLst>
              <a:gd name="adj1" fmla="val 8333"/>
              <a:gd name="adj2" fmla="val 50000"/>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Avenir"/>
              <a:ea typeface="Avenir"/>
              <a:cs typeface="Avenir"/>
              <a:sym typeface="Avenir"/>
            </a:endParaRPr>
          </a:p>
        </p:txBody>
      </p:sp>
      <p:sp>
        <p:nvSpPr>
          <p:cNvPr id="594" name="Google Shape;594;p45"/>
          <p:cNvSpPr txBox="1"/>
          <p:nvPr/>
        </p:nvSpPr>
        <p:spPr>
          <a:xfrm>
            <a:off x="2097803" y="6032992"/>
            <a:ext cx="3674100" cy="825000"/>
          </a:xfrm>
          <a:prstGeom prst="rect">
            <a:avLst/>
          </a:prstGeom>
          <a:noFill/>
          <a:ln>
            <a:noFill/>
          </a:ln>
        </p:spPr>
        <p:txBody>
          <a:bodyPr spcFirstLastPara="1" wrap="square" lIns="91425" tIns="45700" rIns="91425" bIns="45700" anchor="t" anchorCtr="0">
            <a:noAutofit/>
          </a:bodyPr>
          <a:lstStyle/>
          <a:p>
            <a:pPr marL="0" marR="0" lvl="0" indent="0" algn="l" rtl="0">
              <a:lnSpc>
                <a:spcPct val="110000"/>
              </a:lnSpc>
              <a:spcBef>
                <a:spcPts val="0"/>
              </a:spcBef>
              <a:spcAft>
                <a:spcPts val="0"/>
              </a:spcAft>
              <a:buClr>
                <a:schemeClr val="dk1"/>
              </a:buClr>
              <a:buSzPts val="1200"/>
              <a:buFont typeface="Arial"/>
              <a:buNone/>
            </a:pPr>
            <a:r>
              <a:rPr lang="el-GR" b="0" i="0" u="none" strike="noStrike" cap="none">
                <a:solidFill>
                  <a:schemeClr val="dk1"/>
                </a:solidFill>
                <a:latin typeface="Tahoma"/>
                <a:ea typeface="Tahoma"/>
                <a:cs typeface="Tahoma"/>
                <a:sym typeface="Tahoma"/>
              </a:rPr>
              <a:t>Αρχική Wasserstein Loss (διαφορά μέσων εξόδων μεταξύ παραγόμενων και πραγματικών δειγμάτων)</a:t>
            </a:r>
            <a:endParaRPr/>
          </a:p>
        </p:txBody>
      </p:sp>
      <p:sp>
        <p:nvSpPr>
          <p:cNvPr id="595" name="Google Shape;595;p45"/>
          <p:cNvSpPr txBox="1"/>
          <p:nvPr/>
        </p:nvSpPr>
        <p:spPr>
          <a:xfrm>
            <a:off x="6413114" y="6032991"/>
            <a:ext cx="3674100" cy="825000"/>
          </a:xfrm>
          <a:prstGeom prst="rect">
            <a:avLst/>
          </a:prstGeom>
          <a:noFill/>
          <a:ln>
            <a:noFill/>
          </a:ln>
        </p:spPr>
        <p:txBody>
          <a:bodyPr spcFirstLastPara="1" wrap="square" lIns="91425" tIns="45700" rIns="91425" bIns="45700" anchor="t" anchorCtr="0">
            <a:normAutofit/>
          </a:bodyPr>
          <a:lstStyle/>
          <a:p>
            <a:pPr marL="0" marR="0" lvl="0" indent="0" algn="l" rtl="0">
              <a:lnSpc>
                <a:spcPct val="110000"/>
              </a:lnSpc>
              <a:spcBef>
                <a:spcPts val="0"/>
              </a:spcBef>
              <a:spcAft>
                <a:spcPts val="0"/>
              </a:spcAft>
              <a:buClr>
                <a:schemeClr val="dk1"/>
              </a:buClr>
              <a:buSzPts val="1200"/>
              <a:buFont typeface="Arial"/>
              <a:buNone/>
            </a:pPr>
            <a:r>
              <a:rPr lang="el-GR" b="0" i="0" u="none" strike="noStrike" cap="none">
                <a:solidFill>
                  <a:schemeClr val="dk1"/>
                </a:solidFill>
                <a:latin typeface="Tahoma"/>
                <a:ea typeface="Tahoma"/>
                <a:cs typeface="Tahoma"/>
                <a:sym typeface="Tahoma"/>
              </a:rPr>
              <a:t>Όρος Gradient Penalty πάνω στη νόρμα της κλίσης.</a:t>
            </a:r>
            <a:endParaRPr/>
          </a:p>
        </p:txBody>
      </p:sp>
      <p:pic>
        <p:nvPicPr>
          <p:cNvPr id="596" name="Google Shape;596;p45"/>
          <p:cNvPicPr preferRelativeResize="0"/>
          <p:nvPr/>
        </p:nvPicPr>
        <p:blipFill>
          <a:blip r:embed="rId4">
            <a:alphaModFix/>
          </a:blip>
          <a:stretch>
            <a:fillRect/>
          </a:stretch>
        </p:blipFill>
        <p:spPr>
          <a:xfrm>
            <a:off x="6495813" y="2258075"/>
            <a:ext cx="1797875" cy="487225"/>
          </a:xfrm>
          <a:prstGeom prst="rect">
            <a:avLst/>
          </a:prstGeom>
          <a:noFill/>
          <a:ln>
            <a:noFill/>
          </a:ln>
        </p:spPr>
      </p:pic>
      <p:sp>
        <p:nvSpPr>
          <p:cNvPr id="597" name="Google Shape;597;p45"/>
          <p:cNvSpPr/>
          <p:nvPr/>
        </p:nvSpPr>
        <p:spPr>
          <a:xfrm rot="5400000">
            <a:off x="8209700" y="3919050"/>
            <a:ext cx="218100" cy="1933800"/>
          </a:xfrm>
          <a:prstGeom prst="leftBrace">
            <a:avLst>
              <a:gd name="adj1" fmla="val 8333"/>
              <a:gd name="adj2" fmla="val 50000"/>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Avenir"/>
              <a:ea typeface="Avenir"/>
              <a:cs typeface="Avenir"/>
              <a:sym typeface="Avenir"/>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374"/>
        <p:cNvGrpSpPr/>
        <p:nvPr/>
      </p:nvGrpSpPr>
      <p:grpSpPr>
        <a:xfrm>
          <a:off x="0" y="0"/>
          <a:ext cx="0" cy="0"/>
          <a:chOff x="0" y="0"/>
          <a:chExt cx="0" cy="0"/>
        </a:xfrm>
      </p:grpSpPr>
      <p:sp>
        <p:nvSpPr>
          <p:cNvPr id="375" name="Google Shape;375;p25"/>
          <p:cNvSpPr/>
          <p:nvPr/>
        </p:nvSpPr>
        <p:spPr>
          <a:xfrm>
            <a:off x="0" y="0"/>
            <a:ext cx="12192000" cy="68580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FFFFFF"/>
              </a:solidFill>
              <a:latin typeface="Avenir"/>
              <a:ea typeface="Avenir"/>
              <a:cs typeface="Avenir"/>
              <a:sym typeface="Avenir"/>
            </a:endParaRPr>
          </a:p>
        </p:txBody>
      </p:sp>
      <p:cxnSp>
        <p:nvCxnSpPr>
          <p:cNvPr id="376" name="Google Shape;376;p25"/>
          <p:cNvCxnSpPr/>
          <p:nvPr/>
        </p:nvCxnSpPr>
        <p:spPr>
          <a:xfrm>
            <a:off x="800100" y="723900"/>
            <a:ext cx="1638300" cy="0"/>
          </a:xfrm>
          <a:prstGeom prst="straightConnector1">
            <a:avLst/>
          </a:prstGeom>
          <a:noFill/>
          <a:ln w="44450" cap="flat" cmpd="sng">
            <a:solidFill>
              <a:schemeClr val="lt1"/>
            </a:solidFill>
            <a:prstDash val="solid"/>
            <a:miter lim="800000"/>
            <a:headEnd type="none" w="sm" len="sm"/>
            <a:tailEnd type="none" w="sm" len="sm"/>
          </a:ln>
        </p:spPr>
      </p:cxnSp>
      <p:pic>
        <p:nvPicPr>
          <p:cNvPr id="377" name="Google Shape;377;p25" descr="Topview of mint green workspace with laptop, coffee, notebook, pen, glasses, and mouse"/>
          <p:cNvPicPr preferRelativeResize="0"/>
          <p:nvPr/>
        </p:nvPicPr>
        <p:blipFill rotWithShape="1">
          <a:blip r:embed="rId3">
            <a:alphaModFix/>
          </a:blip>
          <a:srcRect b="15730"/>
          <a:stretch/>
        </p:blipFill>
        <p:spPr>
          <a:xfrm>
            <a:off x="21" y="10"/>
            <a:ext cx="12191979" cy="6857990"/>
          </a:xfrm>
          <a:prstGeom prst="rect">
            <a:avLst/>
          </a:prstGeom>
          <a:noFill/>
          <a:ln>
            <a:noFill/>
          </a:ln>
        </p:spPr>
      </p:pic>
      <p:sp>
        <p:nvSpPr>
          <p:cNvPr id="378" name="Google Shape;378;p25"/>
          <p:cNvSpPr/>
          <p:nvPr/>
        </p:nvSpPr>
        <p:spPr>
          <a:xfrm rot="-5400000" flipH="1">
            <a:off x="5167042" y="-166956"/>
            <a:ext cx="6858002" cy="7191913"/>
          </a:xfrm>
          <a:prstGeom prst="rect">
            <a:avLst/>
          </a:prstGeom>
          <a:gradFill>
            <a:gsLst>
              <a:gs pos="0">
                <a:srgbClr val="000000">
                  <a:alpha val="0"/>
                </a:srgbClr>
              </a:gs>
              <a:gs pos="25000">
                <a:srgbClr val="000000">
                  <a:alpha val="37647"/>
                </a:srgbClr>
              </a:gs>
              <a:gs pos="46000">
                <a:srgbClr val="000000">
                  <a:alpha val="54901"/>
                </a:srgbClr>
              </a:gs>
              <a:gs pos="100000">
                <a:srgbClr val="000000">
                  <a:alpha val="60000"/>
                </a:srgbClr>
              </a:gs>
            </a:gsLst>
            <a:lin ang="5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FFFFFF"/>
              </a:solidFill>
              <a:latin typeface="Avenir"/>
              <a:ea typeface="Avenir"/>
              <a:cs typeface="Avenir"/>
              <a:sym typeface="Avenir"/>
            </a:endParaRPr>
          </a:p>
        </p:txBody>
      </p:sp>
      <p:sp>
        <p:nvSpPr>
          <p:cNvPr id="379" name="Google Shape;379;p25"/>
          <p:cNvSpPr txBox="1">
            <a:spLocks noGrp="1"/>
          </p:cNvSpPr>
          <p:nvPr>
            <p:ph type="ctrTitle"/>
          </p:nvPr>
        </p:nvSpPr>
        <p:spPr>
          <a:xfrm>
            <a:off x="7756183" y="1124712"/>
            <a:ext cx="3977640" cy="3200400"/>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lt1"/>
              </a:buClr>
              <a:buSzPts val="4400"/>
              <a:buFont typeface="Tahoma"/>
              <a:buNone/>
            </a:pPr>
            <a:r>
              <a:rPr lang="el-GR" sz="4400" dirty="0">
                <a:latin typeface="Tahoma"/>
                <a:ea typeface="Tahoma"/>
                <a:cs typeface="Tahoma"/>
                <a:sym typeface="Tahoma"/>
              </a:rPr>
              <a:t>Υλοποίηση Μοντέλου</a:t>
            </a:r>
            <a:r>
              <a:rPr lang="en-GB" sz="4400" dirty="0">
                <a:latin typeface="Tahoma"/>
                <a:ea typeface="Tahoma"/>
                <a:cs typeface="Tahoma"/>
                <a:sym typeface="Tahoma"/>
              </a:rPr>
              <a:t> </a:t>
            </a:r>
            <a:r>
              <a:rPr lang="el-GR" sz="4400" dirty="0">
                <a:latin typeface="Tahoma"/>
                <a:ea typeface="Tahoma"/>
                <a:cs typeface="Tahoma"/>
                <a:sym typeface="Tahoma"/>
              </a:rPr>
              <a:t>και Διαδικασία Εκπαίδευσης</a:t>
            </a:r>
            <a:endParaRPr sz="4400" dirty="0">
              <a:latin typeface="Tahoma"/>
              <a:ea typeface="Tahoma"/>
              <a:cs typeface="Tahoma"/>
              <a:sym typeface="Tahoma"/>
            </a:endParaRPr>
          </a:p>
        </p:txBody>
      </p:sp>
      <p:sp>
        <p:nvSpPr>
          <p:cNvPr id="380" name="Google Shape;380;p25"/>
          <p:cNvSpPr/>
          <p:nvPr/>
        </p:nvSpPr>
        <p:spPr>
          <a:xfrm rot="5400000">
            <a:off x="8040616" y="346791"/>
            <a:ext cx="146304" cy="704088"/>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FFFFFF"/>
              </a:solidFill>
              <a:latin typeface="Calibri"/>
              <a:ea typeface="Calibri"/>
              <a:cs typeface="Calibri"/>
              <a:sym typeface="Calibri"/>
            </a:endParaRPr>
          </a:p>
        </p:txBody>
      </p:sp>
      <p:sp>
        <p:nvSpPr>
          <p:cNvPr id="381" name="Google Shape;381;p25"/>
          <p:cNvSpPr/>
          <p:nvPr/>
        </p:nvSpPr>
        <p:spPr>
          <a:xfrm>
            <a:off x="7761724" y="4546920"/>
            <a:ext cx="3977640" cy="18288"/>
          </a:xfrm>
          <a:prstGeom prst="rect">
            <a:avLst/>
          </a:prstGeom>
          <a:solidFill>
            <a:srgbClr val="F8F8F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86"/>
        <p:cNvGrpSpPr/>
        <p:nvPr/>
      </p:nvGrpSpPr>
      <p:grpSpPr>
        <a:xfrm>
          <a:off x="0" y="0"/>
          <a:ext cx="0" cy="0"/>
          <a:chOff x="0" y="0"/>
          <a:chExt cx="0" cy="0"/>
        </a:xfrm>
      </p:grpSpPr>
      <p:sp>
        <p:nvSpPr>
          <p:cNvPr id="387" name="Google Shape;387;p26"/>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venir"/>
              <a:ea typeface="Avenir"/>
              <a:cs typeface="Avenir"/>
              <a:sym typeface="Avenir"/>
            </a:endParaRPr>
          </a:p>
        </p:txBody>
      </p:sp>
      <p:sp>
        <p:nvSpPr>
          <p:cNvPr id="388" name="Google Shape;388;p26"/>
          <p:cNvSpPr/>
          <p:nvPr/>
        </p:nvSpPr>
        <p:spPr>
          <a:xfrm>
            <a:off x="409575" y="633619"/>
            <a:ext cx="6838569" cy="5495925"/>
          </a:xfrm>
          <a:prstGeom prst="rect">
            <a:avLst/>
          </a:prstGeom>
          <a:solidFill>
            <a:schemeClr val="lt1"/>
          </a:solidFill>
          <a:ln w="9525" cap="flat" cmpd="sng">
            <a:solidFill>
              <a:srgbClr val="F1E3F1"/>
            </a:solidFill>
            <a:prstDash val="solid"/>
            <a:miter lim="800000"/>
            <a:headEnd type="none" w="sm" len="sm"/>
            <a:tailEnd type="none" w="sm" len="sm"/>
          </a:ln>
          <a:effectLst>
            <a:outerShdw blurRad="50800" dist="38100" dir="2700000" algn="tl" rotWithShape="0">
              <a:srgbClr val="D8D8D8">
                <a:alpha val="29803"/>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FFFFFF"/>
              </a:solidFill>
              <a:latin typeface="Calibri"/>
              <a:ea typeface="Calibri"/>
              <a:cs typeface="Calibri"/>
              <a:sym typeface="Calibri"/>
            </a:endParaRPr>
          </a:p>
        </p:txBody>
      </p:sp>
      <p:sp>
        <p:nvSpPr>
          <p:cNvPr id="389" name="Google Shape;389;p26"/>
          <p:cNvSpPr txBox="1">
            <a:spLocks noGrp="1"/>
          </p:cNvSpPr>
          <p:nvPr>
            <p:ph type="title"/>
          </p:nvPr>
        </p:nvSpPr>
        <p:spPr>
          <a:xfrm>
            <a:off x="841246" y="978619"/>
            <a:ext cx="5991244" cy="110642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200"/>
              <a:buFont typeface="Avenir"/>
              <a:buNone/>
            </a:pPr>
            <a:r>
              <a:rPr lang="el-GR" sz="3200" dirty="0">
                <a:latin typeface="Tahoma" panose="020B0604030504040204" pitchFamily="34" charset="0"/>
                <a:ea typeface="Tahoma" panose="020B0604030504040204" pitchFamily="34" charset="0"/>
                <a:cs typeface="Tahoma" panose="020B0604030504040204" pitchFamily="34" charset="0"/>
              </a:rPr>
              <a:t>Generator (Γεννήτρια) </a:t>
            </a:r>
            <a:endParaRPr dirty="0">
              <a:latin typeface="Tahoma" panose="020B0604030504040204" pitchFamily="34" charset="0"/>
              <a:ea typeface="Tahoma" panose="020B0604030504040204" pitchFamily="34" charset="0"/>
              <a:cs typeface="Tahoma" panose="020B0604030504040204" pitchFamily="34" charset="0"/>
            </a:endParaRPr>
          </a:p>
        </p:txBody>
      </p:sp>
      <p:sp>
        <p:nvSpPr>
          <p:cNvPr id="390" name="Google Shape;390;p26"/>
          <p:cNvSpPr/>
          <p:nvPr/>
        </p:nvSpPr>
        <p:spPr>
          <a:xfrm>
            <a:off x="345567" y="1171300"/>
            <a:ext cx="128016" cy="704088"/>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FFFFFF"/>
              </a:solidFill>
              <a:latin typeface="Calibri"/>
              <a:ea typeface="Calibri"/>
              <a:cs typeface="Calibri"/>
              <a:sym typeface="Calibri"/>
            </a:endParaRPr>
          </a:p>
        </p:txBody>
      </p:sp>
      <p:sp>
        <p:nvSpPr>
          <p:cNvPr id="391" name="Google Shape;391;p26"/>
          <p:cNvSpPr/>
          <p:nvPr/>
        </p:nvSpPr>
        <p:spPr>
          <a:xfrm>
            <a:off x="877458" y="2093976"/>
            <a:ext cx="5846683" cy="9144"/>
          </a:xfrm>
          <a:prstGeom prst="rect">
            <a:avLst/>
          </a:prstGeom>
          <a:solidFill>
            <a:srgbClr val="D6BDD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FFFFFF"/>
              </a:solidFill>
              <a:latin typeface="Calibri"/>
              <a:ea typeface="Calibri"/>
              <a:cs typeface="Calibri"/>
              <a:sym typeface="Calibri"/>
            </a:endParaRPr>
          </a:p>
        </p:txBody>
      </p:sp>
      <p:sp>
        <p:nvSpPr>
          <p:cNvPr id="392" name="Google Shape;392;p26"/>
          <p:cNvSpPr txBox="1">
            <a:spLocks noGrp="1"/>
          </p:cNvSpPr>
          <p:nvPr>
            <p:ph type="body" idx="1"/>
          </p:nvPr>
        </p:nvSpPr>
        <p:spPr>
          <a:xfrm>
            <a:off x="473583" y="2345918"/>
            <a:ext cx="6618097" cy="3878463"/>
          </a:xfrm>
          <a:prstGeom prst="rect">
            <a:avLst/>
          </a:prstGeom>
          <a:noFill/>
          <a:ln>
            <a:noFill/>
          </a:ln>
        </p:spPr>
        <p:txBody>
          <a:bodyPr spcFirstLastPara="1" wrap="square" lIns="91425" tIns="45700" rIns="91425" bIns="45700" anchor="t" anchorCtr="0">
            <a:normAutofit/>
          </a:bodyPr>
          <a:lstStyle/>
          <a:p>
            <a:pPr marL="228600" lvl="0" indent="-228600" algn="l" rtl="0">
              <a:lnSpc>
                <a:spcPct val="100000"/>
              </a:lnSpc>
              <a:spcBef>
                <a:spcPts val="0"/>
              </a:spcBef>
              <a:spcAft>
                <a:spcPts val="0"/>
              </a:spcAft>
              <a:buClr>
                <a:schemeClr val="dk1"/>
              </a:buClr>
              <a:buSzPts val="1600"/>
              <a:buFont typeface="Noto Sans Symbols"/>
              <a:buChar char="❑"/>
            </a:pPr>
            <a:r>
              <a:rPr lang="el-GR" sz="1600" dirty="0" err="1">
                <a:latin typeface="Tahoma"/>
                <a:ea typeface="Tahoma"/>
                <a:cs typeface="Tahoma"/>
                <a:sym typeface="Tahoma"/>
              </a:rPr>
              <a:t>Πολυεπίπεδο</a:t>
            </a:r>
            <a:r>
              <a:rPr lang="el-GR" sz="1600" dirty="0">
                <a:latin typeface="Tahoma"/>
                <a:ea typeface="Tahoma"/>
                <a:cs typeface="Tahoma"/>
                <a:sym typeface="Tahoma"/>
              </a:rPr>
              <a:t> νευρωνικό δίκτυο με διαδοχικά </a:t>
            </a:r>
            <a:r>
              <a:rPr lang="en-US" sz="1600" dirty="0">
                <a:latin typeface="Tahoma"/>
                <a:ea typeface="Tahoma"/>
                <a:cs typeface="Tahoma"/>
                <a:sym typeface="Tahoma"/>
              </a:rPr>
              <a:t>layers </a:t>
            </a:r>
            <a:r>
              <a:rPr lang="el-GR" sz="1600" dirty="0">
                <a:latin typeface="Tahoma"/>
                <a:ea typeface="Tahoma"/>
                <a:cs typeface="Tahoma"/>
                <a:sym typeface="Tahoma"/>
              </a:rPr>
              <a:t>64 → 128 → 32 νευρώνες (</a:t>
            </a:r>
            <a:r>
              <a:rPr lang="en-US" sz="1600" dirty="0">
                <a:latin typeface="Tahoma"/>
                <a:ea typeface="Tahoma"/>
                <a:cs typeface="Tahoma"/>
                <a:sym typeface="Tahoma"/>
              </a:rPr>
              <a:t>Expansion → Compression)</a:t>
            </a:r>
            <a:r>
              <a:rPr lang="el-GR" sz="1600" dirty="0">
                <a:latin typeface="Tahoma"/>
                <a:ea typeface="Tahoma"/>
                <a:cs typeface="Tahoma"/>
                <a:sym typeface="Tahoma"/>
              </a:rPr>
              <a:t>.</a:t>
            </a:r>
            <a:endParaRPr lang="en-US" sz="1600" dirty="0">
              <a:latin typeface="Tahoma"/>
              <a:ea typeface="Tahoma"/>
              <a:cs typeface="Tahoma"/>
              <a:sym typeface="Tahoma"/>
            </a:endParaRPr>
          </a:p>
          <a:p>
            <a:pPr marL="228600" lvl="0" indent="-228600" algn="l" rtl="0">
              <a:lnSpc>
                <a:spcPct val="100000"/>
              </a:lnSpc>
              <a:spcBef>
                <a:spcPts val="0"/>
              </a:spcBef>
              <a:spcAft>
                <a:spcPts val="0"/>
              </a:spcAft>
              <a:buClr>
                <a:schemeClr val="dk1"/>
              </a:buClr>
              <a:buSzPts val="1600"/>
              <a:buFont typeface="Noto Sans Symbols"/>
              <a:buChar char="❑"/>
            </a:pPr>
            <a:endParaRPr lang="en-US" sz="1600" dirty="0">
              <a:latin typeface="Tahoma"/>
              <a:ea typeface="Tahoma"/>
              <a:cs typeface="Tahoma"/>
              <a:sym typeface="Tahoma"/>
            </a:endParaRPr>
          </a:p>
          <a:p>
            <a:pPr marL="228600" lvl="0" indent="-228600" algn="l" rtl="0">
              <a:lnSpc>
                <a:spcPct val="100000"/>
              </a:lnSpc>
              <a:spcBef>
                <a:spcPts val="0"/>
              </a:spcBef>
              <a:spcAft>
                <a:spcPts val="0"/>
              </a:spcAft>
              <a:buClr>
                <a:schemeClr val="dk1"/>
              </a:buClr>
              <a:buSzPts val="1600"/>
              <a:buFont typeface="Noto Sans Symbols"/>
              <a:buChar char="❑"/>
            </a:pPr>
            <a:r>
              <a:rPr lang="en-US" sz="1600" dirty="0">
                <a:latin typeface="Tahoma"/>
                <a:ea typeface="Tahoma"/>
                <a:cs typeface="Tahoma"/>
                <a:sym typeface="Tahoma"/>
              </a:rPr>
              <a:t>LayerNormalization </a:t>
            </a:r>
            <a:r>
              <a:rPr lang="el-GR" sz="1600" dirty="0">
                <a:latin typeface="Tahoma"/>
                <a:ea typeface="Tahoma"/>
                <a:cs typeface="Tahoma"/>
                <a:sym typeface="Tahoma"/>
              </a:rPr>
              <a:t>μετά από κάθε </a:t>
            </a:r>
            <a:r>
              <a:rPr lang="en-US" sz="1600" dirty="0">
                <a:latin typeface="Tahoma"/>
                <a:ea typeface="Tahoma"/>
                <a:cs typeface="Tahoma"/>
                <a:sym typeface="Tahoma"/>
              </a:rPr>
              <a:t>Dense layer:</a:t>
            </a:r>
          </a:p>
          <a:p>
            <a:pPr marL="685800" lvl="1" indent="-228600">
              <a:lnSpc>
                <a:spcPct val="100000"/>
              </a:lnSpc>
              <a:spcBef>
                <a:spcPts val="0"/>
              </a:spcBef>
              <a:buSzPts val="1600"/>
              <a:buFont typeface="Noto Sans Symbols"/>
              <a:buChar char="❑"/>
            </a:pPr>
            <a:r>
              <a:rPr lang="el-GR" sz="1600" dirty="0">
                <a:latin typeface="Tahoma"/>
                <a:ea typeface="Tahoma"/>
                <a:cs typeface="Tahoma"/>
                <a:sym typeface="Tahoma"/>
              </a:rPr>
              <a:t>Σταθεροποιεί τη μάθηση, αποτρέπει αστάθεια σε μικρά/ανισόρροπα </a:t>
            </a:r>
            <a:r>
              <a:rPr lang="en-US" sz="1600" dirty="0">
                <a:latin typeface="Tahoma"/>
                <a:ea typeface="Tahoma"/>
                <a:cs typeface="Tahoma"/>
                <a:sym typeface="Tahoma"/>
              </a:rPr>
              <a:t>batches.</a:t>
            </a:r>
          </a:p>
          <a:p>
            <a:pPr marL="685800" lvl="1" indent="-228600">
              <a:lnSpc>
                <a:spcPct val="100000"/>
              </a:lnSpc>
              <a:spcBef>
                <a:spcPts val="0"/>
              </a:spcBef>
              <a:buSzPts val="1600"/>
              <a:buFont typeface="Noto Sans Symbols"/>
              <a:buChar char="❑"/>
            </a:pPr>
            <a:r>
              <a:rPr lang="el-GR" sz="1600" dirty="0">
                <a:latin typeface="Tahoma"/>
                <a:ea typeface="Tahoma"/>
                <a:cs typeface="Tahoma"/>
                <a:sym typeface="Tahoma"/>
              </a:rPr>
              <a:t>Προτιμάται σε </a:t>
            </a:r>
            <a:r>
              <a:rPr lang="en-US" sz="1600" dirty="0">
                <a:latin typeface="Tahoma"/>
                <a:ea typeface="Tahoma"/>
                <a:cs typeface="Tahoma"/>
                <a:sym typeface="Tahoma"/>
              </a:rPr>
              <a:t>tabular data </a:t>
            </a:r>
            <a:r>
              <a:rPr lang="el-GR" sz="1600" dirty="0">
                <a:latin typeface="Tahoma"/>
                <a:ea typeface="Tahoma"/>
                <a:cs typeface="Tahoma"/>
                <a:sym typeface="Tahoma"/>
              </a:rPr>
              <a:t>αντί για </a:t>
            </a:r>
            <a:r>
              <a:rPr lang="en-US" sz="1600" dirty="0" err="1">
                <a:latin typeface="Tahoma"/>
                <a:ea typeface="Tahoma"/>
                <a:cs typeface="Tahoma"/>
                <a:sym typeface="Tahoma"/>
              </a:rPr>
              <a:t>BatchNormalization</a:t>
            </a:r>
            <a:r>
              <a:rPr lang="en-US" sz="1600" dirty="0">
                <a:latin typeface="Tahoma"/>
                <a:ea typeface="Tahoma"/>
                <a:cs typeface="Tahoma"/>
                <a:sym typeface="Tahoma"/>
              </a:rPr>
              <a:t>.</a:t>
            </a:r>
          </a:p>
          <a:p>
            <a:pPr marL="228600" lvl="0" indent="-228600" algn="l" rtl="0">
              <a:lnSpc>
                <a:spcPct val="100000"/>
              </a:lnSpc>
              <a:spcBef>
                <a:spcPts val="0"/>
              </a:spcBef>
              <a:spcAft>
                <a:spcPts val="0"/>
              </a:spcAft>
              <a:buClr>
                <a:schemeClr val="dk1"/>
              </a:buClr>
              <a:buSzPts val="1600"/>
              <a:buFont typeface="Noto Sans Symbols"/>
              <a:buChar char="❑"/>
            </a:pPr>
            <a:endParaRPr lang="en-US" sz="1600" dirty="0">
              <a:latin typeface="Tahoma"/>
              <a:ea typeface="Tahoma"/>
              <a:cs typeface="Tahoma"/>
              <a:sym typeface="Tahoma"/>
            </a:endParaRPr>
          </a:p>
          <a:p>
            <a:pPr marL="228600" lvl="0" indent="-228600" algn="l" rtl="0">
              <a:lnSpc>
                <a:spcPct val="100000"/>
              </a:lnSpc>
              <a:spcBef>
                <a:spcPts val="0"/>
              </a:spcBef>
              <a:spcAft>
                <a:spcPts val="0"/>
              </a:spcAft>
              <a:buClr>
                <a:schemeClr val="dk1"/>
              </a:buClr>
              <a:buSzPts val="1600"/>
              <a:buFont typeface="Noto Sans Symbols"/>
              <a:buChar char="❑"/>
            </a:pPr>
            <a:r>
              <a:rPr lang="en-US" sz="1600" dirty="0">
                <a:latin typeface="Tahoma"/>
                <a:ea typeface="Tahoma"/>
                <a:cs typeface="Tahoma"/>
                <a:sym typeface="Tahoma"/>
              </a:rPr>
              <a:t>ReLU activation </a:t>
            </a:r>
            <a:r>
              <a:rPr lang="el-GR" sz="1600" dirty="0">
                <a:latin typeface="Tahoma"/>
                <a:ea typeface="Tahoma"/>
                <a:cs typeface="Tahoma"/>
                <a:sym typeface="Tahoma"/>
              </a:rPr>
              <a:t>μετά από κάθε </a:t>
            </a:r>
            <a:r>
              <a:rPr lang="en-US" sz="1600" dirty="0">
                <a:latin typeface="Tahoma"/>
                <a:ea typeface="Tahoma"/>
                <a:cs typeface="Tahoma"/>
                <a:sym typeface="Tahoma"/>
              </a:rPr>
              <a:t>LayerNormalization: </a:t>
            </a:r>
          </a:p>
          <a:p>
            <a:pPr marL="685800" lvl="1" indent="-228600">
              <a:lnSpc>
                <a:spcPct val="100000"/>
              </a:lnSpc>
              <a:spcBef>
                <a:spcPts val="0"/>
              </a:spcBef>
              <a:buSzPts val="1600"/>
              <a:buFont typeface="Noto Sans Symbols"/>
              <a:buChar char="❑"/>
            </a:pPr>
            <a:r>
              <a:rPr lang="el-GR" sz="1600" dirty="0">
                <a:latin typeface="Tahoma"/>
                <a:ea typeface="Tahoma"/>
                <a:cs typeface="Tahoma"/>
                <a:sym typeface="Tahoma"/>
              </a:rPr>
              <a:t>Εισάγει μη γραμμικότητα για εκμάθηση σύνθετων προτύπων.</a:t>
            </a:r>
            <a:endParaRPr lang="en-GB" sz="1600" dirty="0">
              <a:latin typeface="Tahoma"/>
              <a:ea typeface="Tahoma"/>
              <a:cs typeface="Tahoma"/>
              <a:sym typeface="Tahoma"/>
            </a:endParaRPr>
          </a:p>
          <a:p>
            <a:pPr marL="228600" lvl="0" indent="-228600" algn="l" rtl="0">
              <a:lnSpc>
                <a:spcPct val="100000"/>
              </a:lnSpc>
              <a:spcBef>
                <a:spcPts val="0"/>
              </a:spcBef>
              <a:spcAft>
                <a:spcPts val="0"/>
              </a:spcAft>
              <a:buClr>
                <a:schemeClr val="dk1"/>
              </a:buClr>
              <a:buSzPts val="1600"/>
              <a:buFont typeface="Noto Sans Symbols"/>
              <a:buChar char="❑"/>
            </a:pPr>
            <a:endParaRPr lang="en-GB" sz="1600" dirty="0">
              <a:latin typeface="Tahoma"/>
              <a:ea typeface="Tahoma"/>
              <a:cs typeface="Tahoma"/>
              <a:sym typeface="Tahoma"/>
            </a:endParaRPr>
          </a:p>
          <a:p>
            <a:pPr marL="228600" lvl="0" indent="-228600" algn="l" rtl="0">
              <a:lnSpc>
                <a:spcPct val="100000"/>
              </a:lnSpc>
              <a:spcBef>
                <a:spcPts val="0"/>
              </a:spcBef>
              <a:spcAft>
                <a:spcPts val="0"/>
              </a:spcAft>
              <a:buClr>
                <a:schemeClr val="dk1"/>
              </a:buClr>
              <a:buSzPts val="1600"/>
              <a:buFont typeface="Noto Sans Symbols"/>
              <a:buChar char="❑"/>
            </a:pPr>
            <a:r>
              <a:rPr lang="el-GR" sz="1600" dirty="0">
                <a:latin typeface="Tahoma"/>
                <a:ea typeface="Tahoma"/>
                <a:cs typeface="Tahoma"/>
                <a:sym typeface="Tahoma"/>
              </a:rPr>
              <a:t>Τελικό </a:t>
            </a:r>
            <a:r>
              <a:rPr lang="en-US" sz="1600" dirty="0">
                <a:latin typeface="Tahoma"/>
                <a:ea typeface="Tahoma"/>
                <a:cs typeface="Tahoma"/>
                <a:sym typeface="Tahoma"/>
              </a:rPr>
              <a:t>layer: 5 </a:t>
            </a:r>
            <a:r>
              <a:rPr lang="el-GR" sz="1600" dirty="0">
                <a:latin typeface="Tahoma"/>
                <a:ea typeface="Tahoma"/>
                <a:cs typeface="Tahoma"/>
                <a:sym typeface="Tahoma"/>
              </a:rPr>
              <a:t>γραμμικοί νευρώνες</a:t>
            </a:r>
            <a:endParaRPr lang="en-GB" sz="1600" dirty="0">
              <a:latin typeface="Tahoma"/>
              <a:ea typeface="Tahoma"/>
              <a:cs typeface="Tahoma"/>
              <a:sym typeface="Tahoma"/>
            </a:endParaRPr>
          </a:p>
          <a:p>
            <a:pPr marL="685800" lvl="1" indent="-228600">
              <a:lnSpc>
                <a:spcPct val="100000"/>
              </a:lnSpc>
              <a:spcBef>
                <a:spcPts val="0"/>
              </a:spcBef>
              <a:buSzPts val="1600"/>
              <a:buFont typeface="Noto Sans Symbols"/>
              <a:buChar char="❑"/>
            </a:pPr>
            <a:r>
              <a:rPr lang="el-GR" sz="1600" dirty="0">
                <a:latin typeface="Tahoma"/>
                <a:ea typeface="Tahoma"/>
                <a:cs typeface="Tahoma"/>
                <a:sym typeface="Tahoma"/>
              </a:rPr>
              <a:t>Παράγουν κανονικοποιημένο διάνυσμα 5 χαρακτηριστικών.</a:t>
            </a:r>
          </a:p>
          <a:p>
            <a:pPr marL="685800" lvl="1" indent="-228600">
              <a:lnSpc>
                <a:spcPct val="100000"/>
              </a:lnSpc>
              <a:spcBef>
                <a:spcPts val="0"/>
              </a:spcBef>
              <a:buSzPts val="1600"/>
              <a:buFont typeface="Noto Sans Symbols"/>
              <a:buChar char="❑"/>
            </a:pPr>
            <a:endParaRPr lang="en-US" sz="1600" dirty="0">
              <a:latin typeface="Tahoma"/>
              <a:ea typeface="Tahoma"/>
              <a:cs typeface="Tahoma"/>
              <a:sym typeface="Tahoma"/>
            </a:endParaRPr>
          </a:p>
          <a:p>
            <a:pPr marL="228600" lvl="0" indent="-228600" algn="l" rtl="0">
              <a:lnSpc>
                <a:spcPct val="100000"/>
              </a:lnSpc>
              <a:spcBef>
                <a:spcPts val="0"/>
              </a:spcBef>
              <a:spcAft>
                <a:spcPts val="0"/>
              </a:spcAft>
              <a:buClr>
                <a:schemeClr val="dk1"/>
              </a:buClr>
              <a:buSzPts val="1600"/>
              <a:buFont typeface="Noto Sans Symbols"/>
              <a:buChar char="❑"/>
            </a:pPr>
            <a:r>
              <a:rPr lang="el-GR" sz="1600" dirty="0">
                <a:latin typeface="Tahoma"/>
                <a:ea typeface="Tahoma"/>
                <a:cs typeface="Tahoma"/>
                <a:sym typeface="Tahoma"/>
              </a:rPr>
              <a:t>Όλες οι παράμετροι </a:t>
            </a:r>
            <a:r>
              <a:rPr lang="en-US" sz="1600" dirty="0">
                <a:latin typeface="Tahoma"/>
                <a:ea typeface="Tahoma"/>
                <a:cs typeface="Tahoma"/>
                <a:sym typeface="Tahoma"/>
              </a:rPr>
              <a:t>trainable </a:t>
            </a:r>
            <a:r>
              <a:rPr lang="el-GR" sz="1600" dirty="0">
                <a:latin typeface="Tahoma"/>
                <a:ea typeface="Tahoma"/>
                <a:cs typeface="Tahoma"/>
                <a:sym typeface="Tahoma"/>
              </a:rPr>
              <a:t>για μέγιστη ευελιξία</a:t>
            </a:r>
            <a:endParaRPr dirty="0"/>
          </a:p>
        </p:txBody>
      </p:sp>
      <p:pic>
        <p:nvPicPr>
          <p:cNvPr id="3076" name="Picture 4">
            <a:extLst>
              <a:ext uri="{FF2B5EF4-FFF2-40B4-BE49-F238E27FC236}">
                <a16:creationId xmlns:a16="http://schemas.microsoft.com/office/drawing/2014/main" id="{160AD850-867E-959C-F9FB-25461247DEF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73325" y="1310458"/>
            <a:ext cx="4937029" cy="4648846"/>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98"/>
        <p:cNvGrpSpPr/>
        <p:nvPr/>
      </p:nvGrpSpPr>
      <p:grpSpPr>
        <a:xfrm>
          <a:off x="0" y="0"/>
          <a:ext cx="0" cy="0"/>
          <a:chOff x="0" y="0"/>
          <a:chExt cx="0" cy="0"/>
        </a:xfrm>
      </p:grpSpPr>
      <p:sp>
        <p:nvSpPr>
          <p:cNvPr id="399" name="Google Shape;399;p27"/>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FFFFFF"/>
              </a:solidFill>
              <a:latin typeface="Avenir"/>
              <a:ea typeface="Avenir"/>
              <a:cs typeface="Avenir"/>
              <a:sym typeface="Avenir"/>
            </a:endParaRPr>
          </a:p>
        </p:txBody>
      </p:sp>
      <p:sp>
        <p:nvSpPr>
          <p:cNvPr id="400" name="Google Shape;400;p27"/>
          <p:cNvSpPr/>
          <p:nvPr/>
        </p:nvSpPr>
        <p:spPr>
          <a:xfrm>
            <a:off x="409575" y="633619"/>
            <a:ext cx="6838569" cy="5495925"/>
          </a:xfrm>
          <a:prstGeom prst="rect">
            <a:avLst/>
          </a:prstGeom>
          <a:solidFill>
            <a:schemeClr val="lt1"/>
          </a:solidFill>
          <a:ln w="9525" cap="flat" cmpd="sng">
            <a:solidFill>
              <a:srgbClr val="F1E3F1"/>
            </a:solidFill>
            <a:prstDash val="solid"/>
            <a:miter lim="800000"/>
            <a:headEnd type="none" w="sm" len="sm"/>
            <a:tailEnd type="none" w="sm" len="sm"/>
          </a:ln>
          <a:effectLst>
            <a:outerShdw blurRad="50800" dist="38100" dir="2700000" algn="tl" rotWithShape="0">
              <a:srgbClr val="D8D8D8">
                <a:alpha val="29803"/>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FFFFFF"/>
              </a:solidFill>
              <a:latin typeface="Calibri"/>
              <a:ea typeface="Calibri"/>
              <a:cs typeface="Calibri"/>
              <a:sym typeface="Calibri"/>
            </a:endParaRPr>
          </a:p>
        </p:txBody>
      </p:sp>
      <p:sp>
        <p:nvSpPr>
          <p:cNvPr id="401" name="Google Shape;401;p27"/>
          <p:cNvSpPr txBox="1">
            <a:spLocks noGrp="1"/>
          </p:cNvSpPr>
          <p:nvPr>
            <p:ph type="title"/>
          </p:nvPr>
        </p:nvSpPr>
        <p:spPr>
          <a:xfrm>
            <a:off x="841246" y="978619"/>
            <a:ext cx="5991244" cy="110642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200"/>
              <a:buFont typeface="Avenir"/>
              <a:buNone/>
            </a:pPr>
            <a:r>
              <a:rPr lang="en-GB" sz="3200" dirty="0">
                <a:latin typeface="Tahoma" panose="020B0604030504040204" pitchFamily="34" charset="0"/>
                <a:ea typeface="Tahoma" panose="020B0604030504040204" pitchFamily="34" charset="0"/>
                <a:cs typeface="Tahoma" panose="020B0604030504040204" pitchFamily="34" charset="0"/>
              </a:rPr>
              <a:t>Critic</a:t>
            </a:r>
            <a:r>
              <a:rPr lang="el-GR" sz="3200" dirty="0">
                <a:latin typeface="Tahoma" panose="020B0604030504040204" pitchFamily="34" charset="0"/>
                <a:ea typeface="Tahoma" panose="020B0604030504040204" pitchFamily="34" charset="0"/>
                <a:cs typeface="Tahoma" panose="020B0604030504040204" pitchFamily="34" charset="0"/>
              </a:rPr>
              <a:t> (Κριτής)</a:t>
            </a:r>
            <a:endParaRPr dirty="0">
              <a:latin typeface="Tahoma" panose="020B0604030504040204" pitchFamily="34" charset="0"/>
              <a:ea typeface="Tahoma" panose="020B0604030504040204" pitchFamily="34" charset="0"/>
              <a:cs typeface="Tahoma" panose="020B0604030504040204" pitchFamily="34" charset="0"/>
            </a:endParaRPr>
          </a:p>
        </p:txBody>
      </p:sp>
      <p:sp>
        <p:nvSpPr>
          <p:cNvPr id="402" name="Google Shape;402;p27"/>
          <p:cNvSpPr/>
          <p:nvPr/>
        </p:nvSpPr>
        <p:spPr>
          <a:xfrm>
            <a:off x="345567" y="1171300"/>
            <a:ext cx="128016" cy="704088"/>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FFFFFF"/>
              </a:solidFill>
              <a:latin typeface="Calibri"/>
              <a:ea typeface="Calibri"/>
              <a:cs typeface="Calibri"/>
              <a:sym typeface="Calibri"/>
            </a:endParaRPr>
          </a:p>
        </p:txBody>
      </p:sp>
      <p:sp>
        <p:nvSpPr>
          <p:cNvPr id="403" name="Google Shape;403;p27"/>
          <p:cNvSpPr/>
          <p:nvPr/>
        </p:nvSpPr>
        <p:spPr>
          <a:xfrm>
            <a:off x="877458" y="2093976"/>
            <a:ext cx="5846683" cy="9144"/>
          </a:xfrm>
          <a:prstGeom prst="rect">
            <a:avLst/>
          </a:prstGeom>
          <a:solidFill>
            <a:srgbClr val="D6BDD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FFFFFF"/>
              </a:solidFill>
              <a:latin typeface="Calibri"/>
              <a:ea typeface="Calibri"/>
              <a:cs typeface="Calibri"/>
              <a:sym typeface="Calibri"/>
            </a:endParaRPr>
          </a:p>
        </p:txBody>
      </p:sp>
      <p:sp>
        <p:nvSpPr>
          <p:cNvPr id="404" name="Google Shape;404;p27"/>
          <p:cNvSpPr txBox="1">
            <a:spLocks noGrp="1"/>
          </p:cNvSpPr>
          <p:nvPr>
            <p:ph type="body" idx="1"/>
          </p:nvPr>
        </p:nvSpPr>
        <p:spPr>
          <a:xfrm>
            <a:off x="441578" y="2246035"/>
            <a:ext cx="6774561" cy="4128626"/>
          </a:xfrm>
          <a:prstGeom prst="rect">
            <a:avLst/>
          </a:prstGeom>
          <a:noFill/>
          <a:ln>
            <a:noFill/>
          </a:ln>
        </p:spPr>
        <p:txBody>
          <a:bodyPr spcFirstLastPara="1" wrap="square" lIns="91425" tIns="45700" rIns="91425" bIns="45700" anchor="t" anchorCtr="0">
            <a:normAutofit/>
          </a:bodyPr>
          <a:lstStyle/>
          <a:p>
            <a:pPr marL="228600" lvl="0" indent="-228600" algn="l" rtl="0">
              <a:lnSpc>
                <a:spcPct val="100000"/>
              </a:lnSpc>
              <a:spcBef>
                <a:spcPts val="0"/>
              </a:spcBef>
              <a:spcAft>
                <a:spcPts val="0"/>
              </a:spcAft>
              <a:buClr>
                <a:schemeClr val="dk1"/>
              </a:buClr>
              <a:buSzPts val="1600"/>
              <a:buFont typeface="Noto Sans Symbols"/>
              <a:buChar char="❑"/>
            </a:pPr>
            <a:r>
              <a:rPr lang="el-GR" sz="1600" dirty="0" err="1">
                <a:latin typeface="Tahoma"/>
                <a:ea typeface="Tahoma"/>
                <a:cs typeface="Tahoma"/>
                <a:sym typeface="Tahoma"/>
              </a:rPr>
              <a:t>Πολυεπίπεδο</a:t>
            </a:r>
            <a:r>
              <a:rPr lang="el-GR" sz="1600" dirty="0">
                <a:latin typeface="Tahoma"/>
                <a:ea typeface="Tahoma"/>
                <a:cs typeface="Tahoma"/>
                <a:sym typeface="Tahoma"/>
              </a:rPr>
              <a:t> νευρωνικό δίκτυο με διαδοχικά </a:t>
            </a:r>
            <a:r>
              <a:rPr lang="el-GR" sz="1600" dirty="0" err="1">
                <a:latin typeface="Tahoma"/>
                <a:ea typeface="Tahoma"/>
                <a:cs typeface="Tahoma"/>
                <a:sym typeface="Tahoma"/>
              </a:rPr>
              <a:t>layers</a:t>
            </a:r>
            <a:r>
              <a:rPr lang="el-GR" sz="1600" dirty="0">
                <a:latin typeface="Tahoma"/>
                <a:ea typeface="Tahoma"/>
                <a:cs typeface="Tahoma"/>
                <a:sym typeface="Tahoma"/>
              </a:rPr>
              <a:t> 128 → 64 → 32.</a:t>
            </a:r>
          </a:p>
          <a:p>
            <a:pPr marL="228600" lvl="0" indent="-228600" algn="l" rtl="0">
              <a:lnSpc>
                <a:spcPct val="100000"/>
              </a:lnSpc>
              <a:spcBef>
                <a:spcPts val="0"/>
              </a:spcBef>
              <a:spcAft>
                <a:spcPts val="0"/>
              </a:spcAft>
              <a:buClr>
                <a:schemeClr val="dk1"/>
              </a:buClr>
              <a:buSzPts val="1600"/>
              <a:buFont typeface="Noto Sans Symbols"/>
              <a:buChar char="❑"/>
            </a:pPr>
            <a:endParaRPr lang="el-GR" sz="1600" dirty="0">
              <a:latin typeface="Tahoma"/>
              <a:ea typeface="Tahoma"/>
              <a:cs typeface="Tahoma"/>
              <a:sym typeface="Tahoma"/>
            </a:endParaRPr>
          </a:p>
          <a:p>
            <a:pPr marL="228600" lvl="0" indent="-228600" algn="l" rtl="0">
              <a:lnSpc>
                <a:spcPct val="100000"/>
              </a:lnSpc>
              <a:spcBef>
                <a:spcPts val="0"/>
              </a:spcBef>
              <a:spcAft>
                <a:spcPts val="0"/>
              </a:spcAft>
              <a:buClr>
                <a:schemeClr val="dk1"/>
              </a:buClr>
              <a:buSzPts val="1600"/>
              <a:buFont typeface="Noto Sans Symbols"/>
              <a:buChar char="❑"/>
            </a:pPr>
            <a:r>
              <a:rPr lang="el-GR" sz="1600" dirty="0" err="1">
                <a:latin typeface="Tahoma"/>
                <a:ea typeface="Tahoma"/>
                <a:cs typeface="Tahoma"/>
                <a:sym typeface="Tahoma"/>
              </a:rPr>
              <a:t>LeakyReLU</a:t>
            </a:r>
            <a:r>
              <a:rPr lang="el-GR" sz="1600" dirty="0">
                <a:latin typeface="Tahoma"/>
                <a:ea typeface="Tahoma"/>
                <a:cs typeface="Tahoma"/>
                <a:sym typeface="Tahoma"/>
              </a:rPr>
              <a:t> ενεργοποίηση (0.2) μετά από κάθε </a:t>
            </a:r>
            <a:r>
              <a:rPr lang="el-GR" sz="1600" dirty="0" err="1">
                <a:latin typeface="Tahoma"/>
                <a:ea typeface="Tahoma"/>
                <a:cs typeface="Tahoma"/>
                <a:sym typeface="Tahoma"/>
              </a:rPr>
              <a:t>Dense</a:t>
            </a:r>
            <a:r>
              <a:rPr lang="el-GR" sz="1600" dirty="0">
                <a:latin typeface="Tahoma"/>
                <a:ea typeface="Tahoma"/>
                <a:cs typeface="Tahoma"/>
                <a:sym typeface="Tahoma"/>
              </a:rPr>
              <a:t> </a:t>
            </a:r>
            <a:r>
              <a:rPr lang="el-GR" sz="1600" dirty="0" err="1">
                <a:latin typeface="Tahoma"/>
                <a:ea typeface="Tahoma"/>
                <a:cs typeface="Tahoma"/>
                <a:sym typeface="Tahoma"/>
              </a:rPr>
              <a:t>layer</a:t>
            </a:r>
            <a:endParaRPr lang="el-GR" sz="1600" dirty="0">
              <a:latin typeface="Tahoma"/>
              <a:ea typeface="Tahoma"/>
              <a:cs typeface="Tahoma"/>
              <a:sym typeface="Tahoma"/>
            </a:endParaRPr>
          </a:p>
          <a:p>
            <a:pPr marL="685800" lvl="1" indent="-228600">
              <a:lnSpc>
                <a:spcPct val="100000"/>
              </a:lnSpc>
              <a:spcBef>
                <a:spcPts val="0"/>
              </a:spcBef>
              <a:buSzPts val="1600"/>
              <a:buFont typeface="Noto Sans Symbols"/>
              <a:buChar char="❑"/>
            </a:pPr>
            <a:r>
              <a:rPr lang="el-GR" sz="1600" dirty="0">
                <a:latin typeface="Tahoma"/>
                <a:ea typeface="Tahoma"/>
                <a:cs typeface="Tahoma"/>
                <a:sym typeface="Tahoma"/>
              </a:rPr>
              <a:t>Ενισχύει τη ροή πληροφορίας και αποτρέπει «νεκρούς» νευρώνες, διατηρώντας ενεργά </a:t>
            </a:r>
            <a:r>
              <a:rPr lang="el-GR" sz="1600" dirty="0" err="1">
                <a:latin typeface="Tahoma"/>
                <a:ea typeface="Tahoma"/>
                <a:cs typeface="Tahoma"/>
                <a:sym typeface="Tahoma"/>
              </a:rPr>
              <a:t>gradients</a:t>
            </a:r>
            <a:r>
              <a:rPr lang="el-GR" sz="1600" dirty="0">
                <a:latin typeface="Tahoma"/>
                <a:ea typeface="Tahoma"/>
                <a:cs typeface="Tahoma"/>
                <a:sym typeface="Tahoma"/>
              </a:rPr>
              <a:t> και για αρνητικές τιμές.</a:t>
            </a:r>
          </a:p>
          <a:p>
            <a:pPr marL="228600" lvl="0" indent="-228600" algn="l" rtl="0">
              <a:lnSpc>
                <a:spcPct val="100000"/>
              </a:lnSpc>
              <a:spcBef>
                <a:spcPts val="0"/>
              </a:spcBef>
              <a:spcAft>
                <a:spcPts val="0"/>
              </a:spcAft>
              <a:buClr>
                <a:schemeClr val="dk1"/>
              </a:buClr>
              <a:buSzPts val="1600"/>
              <a:buFont typeface="Noto Sans Symbols"/>
              <a:buChar char="❑"/>
            </a:pPr>
            <a:endParaRPr lang="el-GR" sz="1600" dirty="0">
              <a:latin typeface="Tahoma"/>
              <a:ea typeface="Tahoma"/>
              <a:cs typeface="Tahoma"/>
              <a:sym typeface="Tahoma"/>
            </a:endParaRPr>
          </a:p>
          <a:p>
            <a:pPr marL="228600" lvl="0" indent="-228600" algn="l" rtl="0">
              <a:lnSpc>
                <a:spcPct val="100000"/>
              </a:lnSpc>
              <a:spcBef>
                <a:spcPts val="0"/>
              </a:spcBef>
              <a:spcAft>
                <a:spcPts val="0"/>
              </a:spcAft>
              <a:buClr>
                <a:schemeClr val="dk1"/>
              </a:buClr>
              <a:buSzPts val="1600"/>
              <a:buFont typeface="Noto Sans Symbols"/>
              <a:buChar char="❑"/>
            </a:pPr>
            <a:r>
              <a:rPr lang="el-GR" sz="1600" dirty="0">
                <a:latin typeface="Tahoma"/>
                <a:ea typeface="Tahoma"/>
                <a:cs typeface="Tahoma"/>
                <a:sym typeface="Tahoma"/>
              </a:rPr>
              <a:t>Αποφεύγεται κάθε μορφή </a:t>
            </a:r>
            <a:r>
              <a:rPr lang="el-GR" sz="1600" dirty="0" err="1">
                <a:latin typeface="Tahoma"/>
                <a:ea typeface="Tahoma"/>
                <a:cs typeface="Tahoma"/>
                <a:sym typeface="Tahoma"/>
              </a:rPr>
              <a:t>normalization</a:t>
            </a:r>
            <a:r>
              <a:rPr lang="el-GR" sz="1600" dirty="0">
                <a:latin typeface="Tahoma"/>
                <a:ea typeface="Tahoma"/>
                <a:cs typeface="Tahoma"/>
                <a:sym typeface="Tahoma"/>
              </a:rPr>
              <a:t> για να τηρηθεί η συνθήκη 1-Lipschitz, που είναι θεμελιώδης για το WGAN-GP</a:t>
            </a:r>
          </a:p>
          <a:p>
            <a:pPr marL="228600" lvl="0" indent="-228600" algn="l" rtl="0">
              <a:lnSpc>
                <a:spcPct val="100000"/>
              </a:lnSpc>
              <a:spcBef>
                <a:spcPts val="0"/>
              </a:spcBef>
              <a:spcAft>
                <a:spcPts val="0"/>
              </a:spcAft>
              <a:buClr>
                <a:schemeClr val="dk1"/>
              </a:buClr>
              <a:buSzPts val="1600"/>
              <a:buFont typeface="Noto Sans Symbols"/>
              <a:buChar char="❑"/>
            </a:pPr>
            <a:endParaRPr lang="el-GR" sz="1600" dirty="0">
              <a:latin typeface="Tahoma"/>
              <a:ea typeface="Tahoma"/>
              <a:cs typeface="Tahoma"/>
              <a:sym typeface="Tahoma"/>
            </a:endParaRPr>
          </a:p>
          <a:p>
            <a:pPr marL="228600" lvl="0" indent="-228600" algn="l" rtl="0">
              <a:lnSpc>
                <a:spcPct val="100000"/>
              </a:lnSpc>
              <a:spcBef>
                <a:spcPts val="0"/>
              </a:spcBef>
              <a:spcAft>
                <a:spcPts val="0"/>
              </a:spcAft>
              <a:buClr>
                <a:schemeClr val="dk1"/>
              </a:buClr>
              <a:buSzPts val="1600"/>
              <a:buFont typeface="Noto Sans Symbols"/>
              <a:buChar char="❑"/>
            </a:pPr>
            <a:r>
              <a:rPr lang="el-GR" sz="1600" dirty="0">
                <a:latin typeface="Tahoma"/>
                <a:ea typeface="Tahoma"/>
                <a:cs typeface="Tahoma"/>
                <a:sym typeface="Tahoma"/>
              </a:rPr>
              <a:t>Τελικό </a:t>
            </a:r>
            <a:r>
              <a:rPr lang="el-GR" sz="1600" dirty="0" err="1">
                <a:latin typeface="Tahoma"/>
                <a:ea typeface="Tahoma"/>
                <a:cs typeface="Tahoma"/>
                <a:sym typeface="Tahoma"/>
              </a:rPr>
              <a:t>layer</a:t>
            </a:r>
            <a:r>
              <a:rPr lang="el-GR" sz="1600" dirty="0">
                <a:latin typeface="Tahoma"/>
                <a:ea typeface="Tahoma"/>
                <a:cs typeface="Tahoma"/>
                <a:sym typeface="Tahoma"/>
              </a:rPr>
              <a:t>: 1 γραμμικός νευρώνας</a:t>
            </a:r>
          </a:p>
          <a:p>
            <a:pPr marL="685800" lvl="1" indent="-228600">
              <a:lnSpc>
                <a:spcPct val="100000"/>
              </a:lnSpc>
              <a:spcBef>
                <a:spcPts val="0"/>
              </a:spcBef>
              <a:buSzPts val="1600"/>
              <a:buFont typeface="Noto Sans Symbols"/>
              <a:buChar char="❑"/>
            </a:pPr>
            <a:r>
              <a:rPr lang="el-GR" sz="1600" dirty="0">
                <a:latin typeface="Tahoma"/>
                <a:ea typeface="Tahoma"/>
                <a:cs typeface="Tahoma"/>
                <a:sym typeface="Tahoma"/>
              </a:rPr>
              <a:t>Επιστρέφει το </a:t>
            </a:r>
            <a:r>
              <a:rPr lang="el-GR" sz="1600" dirty="0" err="1">
                <a:latin typeface="Tahoma"/>
                <a:ea typeface="Tahoma"/>
                <a:cs typeface="Tahoma"/>
                <a:sym typeface="Tahoma"/>
              </a:rPr>
              <a:t>Wasserstein</a:t>
            </a:r>
            <a:r>
              <a:rPr lang="el-GR" sz="1600" dirty="0">
                <a:latin typeface="Tahoma"/>
                <a:ea typeface="Tahoma"/>
                <a:cs typeface="Tahoma"/>
                <a:sym typeface="Tahoma"/>
              </a:rPr>
              <a:t> </a:t>
            </a:r>
            <a:r>
              <a:rPr lang="el-GR" sz="1600" dirty="0" err="1">
                <a:latin typeface="Tahoma"/>
                <a:ea typeface="Tahoma"/>
                <a:cs typeface="Tahoma"/>
                <a:sym typeface="Tahoma"/>
              </a:rPr>
              <a:t>score</a:t>
            </a:r>
            <a:r>
              <a:rPr lang="el-GR" sz="1600" dirty="0">
                <a:latin typeface="Tahoma"/>
                <a:ea typeface="Tahoma"/>
                <a:cs typeface="Tahoma"/>
                <a:sym typeface="Tahoma"/>
              </a:rPr>
              <a:t> για κάθε δείγμα.</a:t>
            </a:r>
          </a:p>
          <a:p>
            <a:pPr marL="685800" lvl="1" indent="-228600">
              <a:lnSpc>
                <a:spcPct val="100000"/>
              </a:lnSpc>
              <a:spcBef>
                <a:spcPts val="0"/>
              </a:spcBef>
              <a:buSzPts val="1600"/>
              <a:buFont typeface="Noto Sans Symbols"/>
              <a:buChar char="❑"/>
            </a:pPr>
            <a:endParaRPr lang="el-GR" sz="1600" dirty="0">
              <a:latin typeface="Tahoma"/>
              <a:ea typeface="Tahoma"/>
              <a:cs typeface="Tahoma"/>
              <a:sym typeface="Tahoma"/>
            </a:endParaRPr>
          </a:p>
          <a:p>
            <a:pPr marL="228600" lvl="0" indent="-228600" algn="l" rtl="0">
              <a:lnSpc>
                <a:spcPct val="100000"/>
              </a:lnSpc>
              <a:spcBef>
                <a:spcPts val="0"/>
              </a:spcBef>
              <a:spcAft>
                <a:spcPts val="0"/>
              </a:spcAft>
              <a:buClr>
                <a:schemeClr val="dk1"/>
              </a:buClr>
              <a:buSzPts val="1600"/>
              <a:buFont typeface="Noto Sans Symbols"/>
              <a:buChar char="❑"/>
            </a:pPr>
            <a:r>
              <a:rPr lang="el-GR" sz="1600" dirty="0">
                <a:latin typeface="Tahoma"/>
                <a:ea typeface="Tahoma"/>
                <a:cs typeface="Tahoma"/>
                <a:sym typeface="Tahoma"/>
              </a:rPr>
              <a:t>Κατά τη φάση εκπαίδευσης της γεννήτριας, τα βάρη του κριτή διατηρούνται παγωμένα (non-</a:t>
            </a:r>
            <a:r>
              <a:rPr lang="el-GR" sz="1600" dirty="0" err="1">
                <a:latin typeface="Tahoma"/>
                <a:ea typeface="Tahoma"/>
                <a:cs typeface="Tahoma"/>
                <a:sym typeface="Tahoma"/>
              </a:rPr>
              <a:t>trainable</a:t>
            </a:r>
            <a:r>
              <a:rPr lang="el-GR" sz="1600" dirty="0">
                <a:latin typeface="Tahoma"/>
                <a:ea typeface="Tahoma"/>
                <a:cs typeface="Tahoma"/>
                <a:sym typeface="Tahoma"/>
              </a:rPr>
              <a:t>) και χρησιμοποιούνται μόνο για αξιολόγηση των παραγόμενων δειγμάτων</a:t>
            </a:r>
            <a:endParaRPr dirty="0"/>
          </a:p>
        </p:txBody>
      </p:sp>
      <p:pic>
        <p:nvPicPr>
          <p:cNvPr id="4098" name="Picture 2">
            <a:extLst>
              <a:ext uri="{FF2B5EF4-FFF2-40B4-BE49-F238E27FC236}">
                <a16:creationId xmlns:a16="http://schemas.microsoft.com/office/drawing/2014/main" id="{E89BEECC-B47E-F468-42B2-3ACC30CDFB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16139" y="1251950"/>
            <a:ext cx="4913405" cy="4626601"/>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610"/>
        <p:cNvGrpSpPr/>
        <p:nvPr/>
      </p:nvGrpSpPr>
      <p:grpSpPr>
        <a:xfrm>
          <a:off x="0" y="0"/>
          <a:ext cx="0" cy="0"/>
          <a:chOff x="0" y="0"/>
          <a:chExt cx="0" cy="0"/>
        </a:xfrm>
      </p:grpSpPr>
      <p:sp>
        <p:nvSpPr>
          <p:cNvPr id="611" name="Google Shape;611;p47"/>
          <p:cNvSpPr txBox="1">
            <a:spLocks noGrp="1"/>
          </p:cNvSpPr>
          <p:nvPr>
            <p:ph type="title"/>
          </p:nvPr>
        </p:nvSpPr>
        <p:spPr>
          <a:xfrm>
            <a:off x="1115568" y="548640"/>
            <a:ext cx="10168128" cy="1179576"/>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ts val="4000"/>
              <a:buFont typeface="Avenir"/>
              <a:buNone/>
            </a:pPr>
            <a:r>
              <a:rPr lang="el-GR" dirty="0">
                <a:latin typeface="Tahoma" panose="020B0604030504040204" pitchFamily="34" charset="0"/>
                <a:ea typeface="Tahoma" panose="020B0604030504040204" pitchFamily="34" charset="0"/>
                <a:cs typeface="Tahoma" panose="020B0604030504040204" pitchFamily="34" charset="0"/>
              </a:rPr>
              <a:t>Εξισορροπημένη Εκπαίδευση Γεννήτριας </a:t>
            </a:r>
            <a:r>
              <a:rPr lang="en-GB" dirty="0">
                <a:latin typeface="Tahoma" panose="020B0604030504040204" pitchFamily="34" charset="0"/>
                <a:ea typeface="Tahoma" panose="020B0604030504040204" pitchFamily="34" charset="0"/>
                <a:cs typeface="Tahoma" panose="020B0604030504040204" pitchFamily="34" charset="0"/>
              </a:rPr>
              <a:t>&amp;</a:t>
            </a:r>
            <a:r>
              <a:rPr lang="el-GR" dirty="0">
                <a:latin typeface="Tahoma" panose="020B0604030504040204" pitchFamily="34" charset="0"/>
                <a:ea typeface="Tahoma" panose="020B0604030504040204" pitchFamily="34" charset="0"/>
                <a:cs typeface="Tahoma" panose="020B0604030504040204" pitchFamily="34" charset="0"/>
              </a:rPr>
              <a:t> Κριτή</a:t>
            </a:r>
          </a:p>
        </p:txBody>
      </p:sp>
      <p:sp>
        <p:nvSpPr>
          <p:cNvPr id="612" name="Google Shape;612;p47"/>
          <p:cNvSpPr txBox="1">
            <a:spLocks noGrp="1"/>
          </p:cNvSpPr>
          <p:nvPr>
            <p:ph type="body" idx="1"/>
          </p:nvPr>
        </p:nvSpPr>
        <p:spPr>
          <a:xfrm>
            <a:off x="826655" y="2157183"/>
            <a:ext cx="6397105" cy="4562272"/>
          </a:xfrm>
          <a:prstGeom prst="rect">
            <a:avLst/>
          </a:prstGeom>
          <a:noFill/>
          <a:ln>
            <a:noFill/>
          </a:ln>
        </p:spPr>
        <p:txBody>
          <a:bodyPr spcFirstLastPara="1" wrap="square" lIns="91425" tIns="45700" rIns="91425" bIns="45700" anchor="t" anchorCtr="0">
            <a:normAutofit lnSpcReduction="10000"/>
          </a:bodyPr>
          <a:lstStyle/>
          <a:p>
            <a:pPr marL="342900" lvl="0" indent="-342900" algn="l" rtl="0">
              <a:lnSpc>
                <a:spcPct val="110000"/>
              </a:lnSpc>
              <a:spcBef>
                <a:spcPts val="0"/>
              </a:spcBef>
              <a:spcAft>
                <a:spcPts val="0"/>
              </a:spcAft>
              <a:buClr>
                <a:schemeClr val="dk1"/>
              </a:buClr>
              <a:buSzPts val="1700"/>
              <a:buFont typeface="Wingdings" panose="05000000000000000000" pitchFamily="2" charset="2"/>
              <a:buChar char="q"/>
            </a:pPr>
            <a:r>
              <a:rPr lang="el-GR" sz="1700" dirty="0">
                <a:latin typeface="Tahoma"/>
                <a:ea typeface="Tahoma"/>
                <a:cs typeface="Tahoma"/>
                <a:sym typeface="Tahoma"/>
              </a:rPr>
              <a:t>Η εκπαίδευση του WGAN-GP βασίζεται σε διαδοχική και ισορροπημένη βελτιστοποίηση γεννήτριας και κριτή.</a:t>
            </a:r>
          </a:p>
          <a:p>
            <a:pPr marL="342900" lvl="0" indent="-342900" algn="l" rtl="0">
              <a:lnSpc>
                <a:spcPct val="110000"/>
              </a:lnSpc>
              <a:spcBef>
                <a:spcPts val="0"/>
              </a:spcBef>
              <a:spcAft>
                <a:spcPts val="0"/>
              </a:spcAft>
              <a:buClr>
                <a:schemeClr val="dk1"/>
              </a:buClr>
              <a:buSzPts val="1700"/>
              <a:buFont typeface="Wingdings" panose="05000000000000000000" pitchFamily="2" charset="2"/>
              <a:buChar char="q"/>
            </a:pPr>
            <a:endParaRPr lang="el-GR" sz="1700" dirty="0">
              <a:latin typeface="Tahoma"/>
              <a:ea typeface="Tahoma"/>
              <a:cs typeface="Tahoma"/>
              <a:sym typeface="Tahoma"/>
            </a:endParaRPr>
          </a:p>
          <a:p>
            <a:pPr marL="342900" lvl="0" indent="-342900" algn="l" rtl="0">
              <a:lnSpc>
                <a:spcPct val="110000"/>
              </a:lnSpc>
              <a:spcBef>
                <a:spcPts val="0"/>
              </a:spcBef>
              <a:spcAft>
                <a:spcPts val="0"/>
              </a:spcAft>
              <a:buClr>
                <a:schemeClr val="dk1"/>
              </a:buClr>
              <a:buSzPts val="1700"/>
              <a:buFont typeface="Wingdings" panose="05000000000000000000" pitchFamily="2" charset="2"/>
              <a:buChar char="q"/>
            </a:pPr>
            <a:r>
              <a:rPr lang="el-GR" sz="1700" dirty="0">
                <a:latin typeface="Tahoma"/>
                <a:ea typeface="Tahoma"/>
                <a:cs typeface="Tahoma"/>
                <a:sym typeface="Tahoma"/>
              </a:rPr>
              <a:t>Σε κάθε επανάληψη, η γεννήτρια δημιουργεί συνθετικά δείγματα από τυχαίο θόρυβο (κανονική κατανομή), ενώ ο κριτής αξιολογεί αν τα δείγματα μοιάζουν με τα πραγματικά δεδομένα.</a:t>
            </a:r>
          </a:p>
          <a:p>
            <a:pPr marL="342900" lvl="0" indent="-342900" algn="l" rtl="0">
              <a:lnSpc>
                <a:spcPct val="110000"/>
              </a:lnSpc>
              <a:spcBef>
                <a:spcPts val="0"/>
              </a:spcBef>
              <a:spcAft>
                <a:spcPts val="0"/>
              </a:spcAft>
              <a:buClr>
                <a:schemeClr val="dk1"/>
              </a:buClr>
              <a:buSzPts val="1700"/>
              <a:buFont typeface="Wingdings" panose="05000000000000000000" pitchFamily="2" charset="2"/>
              <a:buChar char="q"/>
            </a:pPr>
            <a:endParaRPr lang="el-GR" sz="1700" dirty="0">
              <a:latin typeface="Tahoma"/>
              <a:ea typeface="Tahoma"/>
              <a:cs typeface="Tahoma"/>
              <a:sym typeface="Tahoma"/>
            </a:endParaRPr>
          </a:p>
          <a:p>
            <a:pPr marL="342900" lvl="0" indent="-342900" algn="l" rtl="0">
              <a:lnSpc>
                <a:spcPct val="110000"/>
              </a:lnSpc>
              <a:spcBef>
                <a:spcPts val="0"/>
              </a:spcBef>
              <a:spcAft>
                <a:spcPts val="0"/>
              </a:spcAft>
              <a:buClr>
                <a:schemeClr val="dk1"/>
              </a:buClr>
              <a:buSzPts val="1700"/>
              <a:buFont typeface="Wingdings" panose="05000000000000000000" pitchFamily="2" charset="2"/>
              <a:buChar char="q"/>
            </a:pPr>
            <a:r>
              <a:rPr lang="el-GR" sz="1700" dirty="0">
                <a:latin typeface="Tahoma"/>
                <a:ea typeface="Tahoma"/>
                <a:cs typeface="Tahoma"/>
                <a:sym typeface="Tahoma"/>
              </a:rPr>
              <a:t>Η αρχιτεκτονική </a:t>
            </a:r>
            <a:r>
              <a:rPr lang="el-GR" sz="1700" dirty="0" err="1">
                <a:latin typeface="Tahoma"/>
                <a:ea typeface="Tahoma"/>
                <a:cs typeface="Tahoma"/>
                <a:sym typeface="Tahoma"/>
              </a:rPr>
              <a:t>Wasserstein</a:t>
            </a:r>
            <a:r>
              <a:rPr lang="el-GR" sz="1700" dirty="0">
                <a:latin typeface="Tahoma"/>
                <a:ea typeface="Tahoma"/>
                <a:cs typeface="Tahoma"/>
                <a:sym typeface="Tahoma"/>
              </a:rPr>
              <a:t> GAN με </a:t>
            </a:r>
            <a:r>
              <a:rPr lang="el-GR" sz="1700" dirty="0" err="1">
                <a:latin typeface="Tahoma"/>
                <a:ea typeface="Tahoma"/>
                <a:cs typeface="Tahoma"/>
                <a:sym typeface="Tahoma"/>
              </a:rPr>
              <a:t>gradient</a:t>
            </a:r>
            <a:r>
              <a:rPr lang="el-GR" sz="1700" dirty="0">
                <a:latin typeface="Tahoma"/>
                <a:ea typeface="Tahoma"/>
                <a:cs typeface="Tahoma"/>
                <a:sym typeface="Tahoma"/>
              </a:rPr>
              <a:t> </a:t>
            </a:r>
            <a:r>
              <a:rPr lang="el-GR" sz="1700" dirty="0" err="1">
                <a:latin typeface="Tahoma"/>
                <a:ea typeface="Tahoma"/>
                <a:cs typeface="Tahoma"/>
                <a:sym typeface="Tahoma"/>
              </a:rPr>
              <a:t>penalty</a:t>
            </a:r>
            <a:r>
              <a:rPr lang="el-GR" sz="1700" dirty="0">
                <a:latin typeface="Tahoma"/>
                <a:ea typeface="Tahoma"/>
                <a:cs typeface="Tahoma"/>
                <a:sym typeface="Tahoma"/>
              </a:rPr>
              <a:t> εξασφαλίζει σταθερότητα, αποτρέπει </a:t>
            </a:r>
            <a:r>
              <a:rPr lang="el-GR" sz="1700" dirty="0" err="1">
                <a:latin typeface="Tahoma"/>
                <a:ea typeface="Tahoma"/>
                <a:cs typeface="Tahoma"/>
                <a:sym typeface="Tahoma"/>
              </a:rPr>
              <a:t>exploding</a:t>
            </a:r>
            <a:r>
              <a:rPr lang="el-GR" sz="1700" dirty="0">
                <a:latin typeface="Tahoma"/>
                <a:ea typeface="Tahoma"/>
                <a:cs typeface="Tahoma"/>
                <a:sym typeface="Tahoma"/>
              </a:rPr>
              <a:t>/</a:t>
            </a:r>
            <a:r>
              <a:rPr lang="el-GR" sz="1700" dirty="0" err="1">
                <a:latin typeface="Tahoma"/>
                <a:ea typeface="Tahoma"/>
                <a:cs typeface="Tahoma"/>
                <a:sym typeface="Tahoma"/>
              </a:rPr>
              <a:t>vanishing</a:t>
            </a:r>
            <a:r>
              <a:rPr lang="el-GR" sz="1700" dirty="0">
                <a:latin typeface="Tahoma"/>
                <a:ea typeface="Tahoma"/>
                <a:cs typeface="Tahoma"/>
                <a:sym typeface="Tahoma"/>
              </a:rPr>
              <a:t> </a:t>
            </a:r>
            <a:r>
              <a:rPr lang="el-GR" sz="1700" dirty="0" err="1">
                <a:latin typeface="Tahoma"/>
                <a:ea typeface="Tahoma"/>
                <a:cs typeface="Tahoma"/>
                <a:sym typeface="Tahoma"/>
              </a:rPr>
              <a:t>gradients</a:t>
            </a:r>
            <a:r>
              <a:rPr lang="el-GR" sz="1700" dirty="0">
                <a:latin typeface="Tahoma"/>
                <a:ea typeface="Tahoma"/>
                <a:cs typeface="Tahoma"/>
                <a:sym typeface="Tahoma"/>
              </a:rPr>
              <a:t> και παράγει δεδομένα υψηλής ποιότητας και ποικιλίας.</a:t>
            </a:r>
          </a:p>
          <a:p>
            <a:pPr marL="342900" lvl="0" indent="-342900" algn="l" rtl="0">
              <a:lnSpc>
                <a:spcPct val="110000"/>
              </a:lnSpc>
              <a:spcBef>
                <a:spcPts val="0"/>
              </a:spcBef>
              <a:spcAft>
                <a:spcPts val="0"/>
              </a:spcAft>
              <a:buClr>
                <a:schemeClr val="dk1"/>
              </a:buClr>
              <a:buSzPts val="1700"/>
              <a:buFont typeface="Wingdings" panose="05000000000000000000" pitchFamily="2" charset="2"/>
              <a:buChar char="q"/>
            </a:pPr>
            <a:endParaRPr lang="el-GR" sz="1700" dirty="0">
              <a:latin typeface="Tahoma"/>
              <a:ea typeface="Tahoma"/>
              <a:cs typeface="Tahoma"/>
              <a:sym typeface="Tahoma"/>
            </a:endParaRPr>
          </a:p>
          <a:p>
            <a:pPr marL="342900" lvl="0" indent="-342900" algn="l" rtl="0">
              <a:lnSpc>
                <a:spcPct val="110000"/>
              </a:lnSpc>
              <a:spcBef>
                <a:spcPts val="0"/>
              </a:spcBef>
              <a:spcAft>
                <a:spcPts val="0"/>
              </a:spcAft>
              <a:buClr>
                <a:schemeClr val="dk1"/>
              </a:buClr>
              <a:buSzPts val="1700"/>
              <a:buFont typeface="Wingdings" panose="05000000000000000000" pitchFamily="2" charset="2"/>
              <a:buChar char="q"/>
            </a:pPr>
            <a:r>
              <a:rPr lang="el-GR" sz="1700" dirty="0">
                <a:latin typeface="Tahoma"/>
                <a:ea typeface="Tahoma"/>
                <a:cs typeface="Tahoma"/>
                <a:sym typeface="Tahoma"/>
              </a:rPr>
              <a:t>Τα δεδομένα τροφοδοτούνται ως </a:t>
            </a:r>
            <a:r>
              <a:rPr lang="el-GR" sz="1700" dirty="0" err="1">
                <a:latin typeface="Tahoma"/>
                <a:ea typeface="Tahoma"/>
                <a:cs typeface="Tahoma"/>
                <a:sym typeface="Tahoma"/>
              </a:rPr>
              <a:t>tf.data.Dataset</a:t>
            </a:r>
            <a:r>
              <a:rPr lang="el-GR" sz="1700" dirty="0">
                <a:latin typeface="Tahoma"/>
                <a:ea typeface="Tahoma"/>
                <a:cs typeface="Tahoma"/>
                <a:sym typeface="Tahoma"/>
              </a:rPr>
              <a:t>, αναμιγνύονται τυχαία και διαχωρίζονται σε </a:t>
            </a:r>
            <a:r>
              <a:rPr lang="el-GR" sz="1700" dirty="0" err="1">
                <a:latin typeface="Tahoma"/>
                <a:ea typeface="Tahoma"/>
                <a:cs typeface="Tahoma"/>
                <a:sym typeface="Tahoma"/>
              </a:rPr>
              <a:t>batches</a:t>
            </a:r>
            <a:r>
              <a:rPr lang="el-GR" sz="1700" dirty="0">
                <a:latin typeface="Tahoma"/>
                <a:ea typeface="Tahoma"/>
                <a:cs typeface="Tahoma"/>
                <a:sym typeface="Tahoma"/>
              </a:rPr>
              <a:t> (μέγεθος 128) για ομοιομορφία και βελτιστοποίηση της εκμάθησης.</a:t>
            </a:r>
          </a:p>
        </p:txBody>
      </p:sp>
      <p:pic>
        <p:nvPicPr>
          <p:cNvPr id="5124" name="Picture 4">
            <a:extLst>
              <a:ext uri="{FF2B5EF4-FFF2-40B4-BE49-F238E27FC236}">
                <a16:creationId xmlns:a16="http://schemas.microsoft.com/office/drawing/2014/main" id="{9D6481A5-F4F6-88A4-BF2B-5692BF725D9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29423" y="1798320"/>
            <a:ext cx="4962144" cy="4511040"/>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610">
          <a:extLst>
            <a:ext uri="{FF2B5EF4-FFF2-40B4-BE49-F238E27FC236}">
              <a16:creationId xmlns:a16="http://schemas.microsoft.com/office/drawing/2014/main" id="{6C2A6C3E-8CE1-0F29-3880-F435F3EA4D3C}"/>
            </a:ext>
          </a:extLst>
        </p:cNvPr>
        <p:cNvGrpSpPr/>
        <p:nvPr/>
      </p:nvGrpSpPr>
      <p:grpSpPr>
        <a:xfrm>
          <a:off x="0" y="0"/>
          <a:ext cx="0" cy="0"/>
          <a:chOff x="0" y="0"/>
          <a:chExt cx="0" cy="0"/>
        </a:xfrm>
      </p:grpSpPr>
      <p:sp>
        <p:nvSpPr>
          <p:cNvPr id="611" name="Google Shape;611;p47">
            <a:extLst>
              <a:ext uri="{FF2B5EF4-FFF2-40B4-BE49-F238E27FC236}">
                <a16:creationId xmlns:a16="http://schemas.microsoft.com/office/drawing/2014/main" id="{4C364663-68C6-F51B-734E-3D8D528D8535}"/>
              </a:ext>
            </a:extLst>
          </p:cNvPr>
          <p:cNvSpPr txBox="1">
            <a:spLocks noGrp="1"/>
          </p:cNvSpPr>
          <p:nvPr>
            <p:ph type="title"/>
          </p:nvPr>
        </p:nvSpPr>
        <p:spPr>
          <a:xfrm>
            <a:off x="1115568" y="548640"/>
            <a:ext cx="10168128" cy="1179576"/>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ts val="4000"/>
              <a:buFont typeface="Avenir"/>
              <a:buNone/>
            </a:pPr>
            <a:r>
              <a:rPr lang="el-GR" dirty="0">
                <a:latin typeface="Tahoma" panose="020B0604030504040204" pitchFamily="34" charset="0"/>
                <a:ea typeface="Tahoma" panose="020B0604030504040204" pitchFamily="34" charset="0"/>
                <a:cs typeface="Tahoma" panose="020B0604030504040204" pitchFamily="34" charset="0"/>
              </a:rPr>
              <a:t>Στρατηγική Εκπαίδευσης και Βελτιστοποίησης</a:t>
            </a:r>
          </a:p>
        </p:txBody>
      </p:sp>
      <p:sp>
        <p:nvSpPr>
          <p:cNvPr id="612" name="Google Shape;612;p47">
            <a:extLst>
              <a:ext uri="{FF2B5EF4-FFF2-40B4-BE49-F238E27FC236}">
                <a16:creationId xmlns:a16="http://schemas.microsoft.com/office/drawing/2014/main" id="{F2487D0E-755C-6411-C825-5E39D719AF27}"/>
              </a:ext>
            </a:extLst>
          </p:cNvPr>
          <p:cNvSpPr txBox="1">
            <a:spLocks noGrp="1"/>
          </p:cNvSpPr>
          <p:nvPr>
            <p:ph type="body" idx="1"/>
          </p:nvPr>
        </p:nvSpPr>
        <p:spPr>
          <a:xfrm>
            <a:off x="178328" y="2295728"/>
            <a:ext cx="6835315" cy="4562272"/>
          </a:xfrm>
          <a:prstGeom prst="rect">
            <a:avLst/>
          </a:prstGeom>
          <a:noFill/>
          <a:ln>
            <a:noFill/>
          </a:ln>
        </p:spPr>
        <p:txBody>
          <a:bodyPr spcFirstLastPara="1" wrap="square" lIns="91425" tIns="45700" rIns="91425" bIns="45700" anchor="t" anchorCtr="0">
            <a:normAutofit fontScale="92500" lnSpcReduction="10000"/>
          </a:bodyPr>
          <a:lstStyle/>
          <a:p>
            <a:pPr marL="342900" lvl="0" indent="-342900" algn="l" rtl="0">
              <a:lnSpc>
                <a:spcPct val="110000"/>
              </a:lnSpc>
              <a:spcBef>
                <a:spcPts val="0"/>
              </a:spcBef>
              <a:spcAft>
                <a:spcPts val="0"/>
              </a:spcAft>
              <a:buClr>
                <a:schemeClr val="dk1"/>
              </a:buClr>
              <a:buSzPts val="1700"/>
              <a:buFont typeface="Wingdings" panose="05000000000000000000" pitchFamily="2" charset="2"/>
              <a:buChar char="q"/>
            </a:pPr>
            <a:r>
              <a:rPr lang="el-GR" sz="1700" dirty="0">
                <a:latin typeface="Tahoma"/>
                <a:ea typeface="Tahoma"/>
                <a:cs typeface="Tahoma"/>
                <a:sym typeface="Tahoma"/>
              </a:rPr>
              <a:t>Για κάθε </a:t>
            </a:r>
            <a:r>
              <a:rPr lang="el-GR" sz="1700" dirty="0" err="1">
                <a:latin typeface="Tahoma"/>
                <a:ea typeface="Tahoma"/>
                <a:cs typeface="Tahoma"/>
                <a:sym typeface="Tahoma"/>
              </a:rPr>
              <a:t>epoch</a:t>
            </a:r>
            <a:r>
              <a:rPr lang="el-GR" sz="1700" dirty="0">
                <a:latin typeface="Tahoma"/>
                <a:ea typeface="Tahoma"/>
                <a:cs typeface="Tahoma"/>
                <a:sym typeface="Tahoma"/>
              </a:rPr>
              <a:t>, ακολουθείται μια διαδοχική διαδικασία βελτιστοποίησης των δύο δικτύων. Αρχικά, το </a:t>
            </a:r>
            <a:r>
              <a:rPr lang="el-GR" sz="1700" dirty="0" err="1">
                <a:latin typeface="Tahoma"/>
                <a:ea typeface="Tahoma"/>
                <a:cs typeface="Tahoma"/>
                <a:sym typeface="Tahoma"/>
              </a:rPr>
              <a:t>learning</a:t>
            </a:r>
            <a:r>
              <a:rPr lang="el-GR" sz="1700" dirty="0">
                <a:latin typeface="Tahoma"/>
                <a:ea typeface="Tahoma"/>
                <a:cs typeface="Tahoma"/>
                <a:sym typeface="Tahoma"/>
              </a:rPr>
              <a:t> </a:t>
            </a:r>
            <a:r>
              <a:rPr lang="el-GR" sz="1700" dirty="0" err="1">
                <a:latin typeface="Tahoma"/>
                <a:ea typeface="Tahoma"/>
                <a:cs typeface="Tahoma"/>
                <a:sym typeface="Tahoma"/>
              </a:rPr>
              <a:t>rate</a:t>
            </a:r>
            <a:r>
              <a:rPr lang="el-GR" sz="1700" dirty="0">
                <a:latin typeface="Tahoma"/>
                <a:ea typeface="Tahoma"/>
                <a:cs typeface="Tahoma"/>
                <a:sym typeface="Tahoma"/>
              </a:rPr>
              <a:t> ενημερώνεται με </a:t>
            </a:r>
            <a:r>
              <a:rPr lang="el-GR" sz="1700" dirty="0" err="1">
                <a:latin typeface="Tahoma"/>
                <a:ea typeface="Tahoma"/>
                <a:cs typeface="Tahoma"/>
                <a:sym typeface="Tahoma"/>
              </a:rPr>
              <a:t>decay</a:t>
            </a:r>
            <a:r>
              <a:rPr lang="el-GR" sz="1700" dirty="0">
                <a:latin typeface="Tahoma"/>
                <a:ea typeface="Tahoma"/>
                <a:cs typeface="Tahoma"/>
                <a:sym typeface="Tahoma"/>
              </a:rPr>
              <a:t> </a:t>
            </a:r>
            <a:r>
              <a:rPr lang="el-GR" sz="1700" dirty="0" err="1">
                <a:latin typeface="Tahoma"/>
                <a:ea typeface="Tahoma"/>
                <a:cs typeface="Tahoma"/>
                <a:sym typeface="Tahoma"/>
              </a:rPr>
              <a:t>rate</a:t>
            </a:r>
            <a:r>
              <a:rPr lang="el-GR" sz="1700" dirty="0">
                <a:latin typeface="Tahoma"/>
                <a:ea typeface="Tahoma"/>
                <a:cs typeface="Tahoma"/>
                <a:sym typeface="Tahoma"/>
              </a:rPr>
              <a:t> 0.99 για ομαλότερη σύγκλιση. Ο </a:t>
            </a:r>
            <a:r>
              <a:rPr lang="el-GR" sz="1700" dirty="0" err="1">
                <a:latin typeface="Tahoma"/>
                <a:ea typeface="Tahoma"/>
                <a:cs typeface="Tahoma"/>
                <a:sym typeface="Tahoma"/>
              </a:rPr>
              <a:t>Critic</a:t>
            </a:r>
            <a:r>
              <a:rPr lang="el-GR" sz="1700" dirty="0">
                <a:latin typeface="Tahoma"/>
                <a:ea typeface="Tahoma"/>
                <a:cs typeface="Tahoma"/>
                <a:sym typeface="Tahoma"/>
              </a:rPr>
              <a:t> εκπαιδεύεται σε κάθε </a:t>
            </a:r>
            <a:r>
              <a:rPr lang="el-GR" sz="1700" dirty="0" err="1">
                <a:latin typeface="Tahoma"/>
                <a:ea typeface="Tahoma"/>
                <a:cs typeface="Tahoma"/>
                <a:sym typeface="Tahoma"/>
              </a:rPr>
              <a:t>batch</a:t>
            </a:r>
            <a:r>
              <a:rPr lang="el-GR" sz="1700" dirty="0">
                <a:latin typeface="Tahoma"/>
                <a:ea typeface="Tahoma"/>
                <a:cs typeface="Tahoma"/>
                <a:sym typeface="Tahoma"/>
              </a:rPr>
              <a:t> πραγματικών δεδομένων, αξιολογώντας τόσο τα πραγματικά όσο και τα συνθετικά δείγματα, ενώ το </a:t>
            </a:r>
            <a:r>
              <a:rPr lang="el-GR" sz="1700" dirty="0" err="1">
                <a:latin typeface="Tahoma"/>
                <a:ea typeface="Tahoma"/>
                <a:cs typeface="Tahoma"/>
                <a:sym typeface="Tahoma"/>
              </a:rPr>
              <a:t>gradient</a:t>
            </a:r>
            <a:r>
              <a:rPr lang="el-GR" sz="1700" dirty="0">
                <a:latin typeface="Tahoma"/>
                <a:ea typeface="Tahoma"/>
                <a:cs typeface="Tahoma"/>
                <a:sym typeface="Tahoma"/>
              </a:rPr>
              <a:t> </a:t>
            </a:r>
            <a:r>
              <a:rPr lang="el-GR" sz="1700" dirty="0" err="1">
                <a:latin typeface="Tahoma"/>
                <a:ea typeface="Tahoma"/>
                <a:cs typeface="Tahoma"/>
                <a:sym typeface="Tahoma"/>
              </a:rPr>
              <a:t>penalty</a:t>
            </a:r>
            <a:r>
              <a:rPr lang="el-GR" sz="1700" dirty="0">
                <a:latin typeface="Tahoma"/>
                <a:ea typeface="Tahoma"/>
                <a:cs typeface="Tahoma"/>
                <a:sym typeface="Tahoma"/>
              </a:rPr>
              <a:t> υπολογίζεται μέσω ενδιάμεσης παρεμβολής για τη διατήρηση της συνθήκης 1-Lipschitz. </a:t>
            </a:r>
          </a:p>
          <a:p>
            <a:pPr marL="342900" lvl="0" indent="-342900" algn="l" rtl="0">
              <a:lnSpc>
                <a:spcPct val="110000"/>
              </a:lnSpc>
              <a:spcBef>
                <a:spcPts val="0"/>
              </a:spcBef>
              <a:spcAft>
                <a:spcPts val="0"/>
              </a:spcAft>
              <a:buClr>
                <a:schemeClr val="dk1"/>
              </a:buClr>
              <a:buSzPts val="1700"/>
              <a:buFont typeface="Wingdings" panose="05000000000000000000" pitchFamily="2" charset="2"/>
              <a:buChar char="q"/>
            </a:pPr>
            <a:endParaRPr lang="el-GR" sz="1700" dirty="0">
              <a:latin typeface="Tahoma"/>
              <a:ea typeface="Tahoma"/>
              <a:cs typeface="Tahoma"/>
              <a:sym typeface="Tahoma"/>
            </a:endParaRPr>
          </a:p>
          <a:p>
            <a:pPr marL="342900" lvl="0" indent="-342900" algn="l" rtl="0">
              <a:lnSpc>
                <a:spcPct val="110000"/>
              </a:lnSpc>
              <a:spcBef>
                <a:spcPts val="0"/>
              </a:spcBef>
              <a:spcAft>
                <a:spcPts val="0"/>
              </a:spcAft>
              <a:buClr>
                <a:schemeClr val="dk1"/>
              </a:buClr>
              <a:buSzPts val="1700"/>
              <a:buFont typeface="Wingdings" panose="05000000000000000000" pitchFamily="2" charset="2"/>
              <a:buChar char="q"/>
            </a:pPr>
            <a:r>
              <a:rPr lang="el-GR" sz="1700" dirty="0">
                <a:latin typeface="Tahoma"/>
                <a:ea typeface="Tahoma"/>
                <a:cs typeface="Tahoma"/>
                <a:sym typeface="Tahoma"/>
              </a:rPr>
              <a:t>Η συνολική απώλεια του </a:t>
            </a:r>
            <a:r>
              <a:rPr lang="el-GR" sz="1700" dirty="0" err="1">
                <a:latin typeface="Tahoma"/>
                <a:ea typeface="Tahoma"/>
                <a:cs typeface="Tahoma"/>
                <a:sym typeface="Tahoma"/>
              </a:rPr>
              <a:t>Critic</a:t>
            </a:r>
            <a:r>
              <a:rPr lang="el-GR" sz="1700" dirty="0">
                <a:latin typeface="Tahoma"/>
                <a:ea typeface="Tahoma"/>
                <a:cs typeface="Tahoma"/>
                <a:sym typeface="Tahoma"/>
              </a:rPr>
              <a:t> υπολογίζεται από τη σχέση </a:t>
            </a:r>
            <a:r>
              <a:rPr lang="el-GR" sz="1700" dirty="0" err="1">
                <a:latin typeface="Tahoma"/>
                <a:ea typeface="Tahoma"/>
                <a:cs typeface="Tahoma"/>
                <a:sym typeface="Tahoma"/>
              </a:rPr>
              <a:t>d_loss</a:t>
            </a:r>
            <a:r>
              <a:rPr lang="el-GR" sz="1700" dirty="0">
                <a:latin typeface="Tahoma"/>
                <a:ea typeface="Tahoma"/>
                <a:cs typeface="Tahoma"/>
                <a:sym typeface="Tahoma"/>
              </a:rPr>
              <a:t> = </a:t>
            </a:r>
            <a:r>
              <a:rPr lang="el-GR" sz="1700" dirty="0" err="1">
                <a:latin typeface="Tahoma"/>
                <a:ea typeface="Tahoma"/>
                <a:cs typeface="Tahoma"/>
                <a:sym typeface="Tahoma"/>
              </a:rPr>
              <a:t>mean</a:t>
            </a:r>
            <a:r>
              <a:rPr lang="el-GR" sz="1700" dirty="0">
                <a:latin typeface="Tahoma"/>
                <a:ea typeface="Tahoma"/>
                <a:cs typeface="Tahoma"/>
                <a:sym typeface="Tahoma"/>
              </a:rPr>
              <a:t>(</a:t>
            </a:r>
            <a:r>
              <a:rPr lang="el-GR" sz="1700" dirty="0" err="1">
                <a:latin typeface="Tahoma"/>
                <a:ea typeface="Tahoma"/>
                <a:cs typeface="Tahoma"/>
                <a:sym typeface="Tahoma"/>
              </a:rPr>
              <a:t>fake_pred</a:t>
            </a:r>
            <a:r>
              <a:rPr lang="el-GR" sz="1700" dirty="0">
                <a:latin typeface="Tahoma"/>
                <a:ea typeface="Tahoma"/>
                <a:cs typeface="Tahoma"/>
                <a:sym typeface="Tahoma"/>
              </a:rPr>
              <a:t>) - </a:t>
            </a:r>
            <a:r>
              <a:rPr lang="el-GR" sz="1700" dirty="0" err="1">
                <a:latin typeface="Tahoma"/>
                <a:ea typeface="Tahoma"/>
                <a:cs typeface="Tahoma"/>
                <a:sym typeface="Tahoma"/>
              </a:rPr>
              <a:t>mean</a:t>
            </a:r>
            <a:r>
              <a:rPr lang="el-GR" sz="1700" dirty="0">
                <a:latin typeface="Tahoma"/>
                <a:ea typeface="Tahoma"/>
                <a:cs typeface="Tahoma"/>
                <a:sym typeface="Tahoma"/>
              </a:rPr>
              <a:t>(</a:t>
            </a:r>
            <a:r>
              <a:rPr lang="el-GR" sz="1700" dirty="0" err="1">
                <a:latin typeface="Tahoma"/>
                <a:ea typeface="Tahoma"/>
                <a:cs typeface="Tahoma"/>
                <a:sym typeface="Tahoma"/>
              </a:rPr>
              <a:t>real_pred</a:t>
            </a:r>
            <a:r>
              <a:rPr lang="el-GR" sz="1700" dirty="0">
                <a:latin typeface="Tahoma"/>
                <a:ea typeface="Tahoma"/>
                <a:cs typeface="Tahoma"/>
                <a:sym typeface="Tahoma"/>
              </a:rPr>
              <a:t>) + LAMBDA × </a:t>
            </a:r>
            <a:r>
              <a:rPr lang="el-GR" sz="1700" dirty="0" err="1">
                <a:latin typeface="Tahoma"/>
                <a:ea typeface="Tahoma"/>
                <a:cs typeface="Tahoma"/>
                <a:sym typeface="Tahoma"/>
              </a:rPr>
              <a:t>gradient_penalty</a:t>
            </a:r>
            <a:r>
              <a:rPr lang="el-GR" sz="1700" dirty="0">
                <a:latin typeface="Tahoma"/>
                <a:ea typeface="Tahoma"/>
                <a:cs typeface="Tahoma"/>
                <a:sym typeface="Tahoma"/>
              </a:rPr>
              <a:t>, και τα βάρη του ενημερώνονται μέσω </a:t>
            </a:r>
            <a:r>
              <a:rPr lang="el-GR" sz="1700" dirty="0" err="1">
                <a:latin typeface="Tahoma"/>
                <a:ea typeface="Tahoma"/>
                <a:cs typeface="Tahoma"/>
                <a:sym typeface="Tahoma"/>
              </a:rPr>
              <a:t>backpropagation</a:t>
            </a:r>
            <a:r>
              <a:rPr lang="el-GR" sz="1700" dirty="0">
                <a:latin typeface="Tahoma"/>
                <a:ea typeface="Tahoma"/>
                <a:cs typeface="Tahoma"/>
                <a:sym typeface="Tahoma"/>
              </a:rPr>
              <a:t>. Κάθε 5 ενημερώσεις του </a:t>
            </a:r>
            <a:r>
              <a:rPr lang="el-GR" sz="1700" dirty="0" err="1">
                <a:latin typeface="Tahoma"/>
                <a:ea typeface="Tahoma"/>
                <a:cs typeface="Tahoma"/>
                <a:sym typeface="Tahoma"/>
              </a:rPr>
              <a:t>Critic</a:t>
            </a:r>
            <a:r>
              <a:rPr lang="el-GR" sz="1700" dirty="0">
                <a:latin typeface="Tahoma"/>
                <a:ea typeface="Tahoma"/>
                <a:cs typeface="Tahoma"/>
                <a:sym typeface="Tahoma"/>
              </a:rPr>
              <a:t> ακολουθεί μία ενημέρωση του Generator, ο οποίος στοχεύει να μεγιστοποιήσει το </a:t>
            </a:r>
            <a:r>
              <a:rPr lang="el-GR" sz="1700" dirty="0" err="1">
                <a:latin typeface="Tahoma"/>
                <a:ea typeface="Tahoma"/>
                <a:cs typeface="Tahoma"/>
                <a:sym typeface="Tahoma"/>
              </a:rPr>
              <a:t>score</a:t>
            </a:r>
            <a:r>
              <a:rPr lang="el-GR" sz="1700" dirty="0">
                <a:latin typeface="Tahoma"/>
                <a:ea typeface="Tahoma"/>
                <a:cs typeface="Tahoma"/>
                <a:sym typeface="Tahoma"/>
              </a:rPr>
              <a:t> του </a:t>
            </a:r>
            <a:r>
              <a:rPr lang="el-GR" sz="1700" dirty="0" err="1">
                <a:latin typeface="Tahoma"/>
                <a:ea typeface="Tahoma"/>
                <a:cs typeface="Tahoma"/>
                <a:sym typeface="Tahoma"/>
              </a:rPr>
              <a:t>Critic</a:t>
            </a:r>
            <a:r>
              <a:rPr lang="el-GR" sz="1700" dirty="0">
                <a:latin typeface="Tahoma"/>
                <a:ea typeface="Tahoma"/>
                <a:cs typeface="Tahoma"/>
                <a:sym typeface="Tahoma"/>
              </a:rPr>
              <a:t>, ώστε να παράγει όλο και πιο ρεαλιστικά συνθετικά δεδομένα. Σε κάθε </a:t>
            </a:r>
            <a:r>
              <a:rPr lang="el-GR" sz="1700" dirty="0" err="1">
                <a:latin typeface="Tahoma"/>
                <a:ea typeface="Tahoma"/>
                <a:cs typeface="Tahoma"/>
                <a:sym typeface="Tahoma"/>
              </a:rPr>
              <a:t>epoch</a:t>
            </a:r>
            <a:r>
              <a:rPr lang="el-GR" sz="1700" dirty="0">
                <a:latin typeface="Tahoma"/>
                <a:ea typeface="Tahoma"/>
                <a:cs typeface="Tahoma"/>
                <a:sym typeface="Tahoma"/>
              </a:rPr>
              <a:t>, καταγράφονται και εμφανίζονται οι μέσες τιμές των </a:t>
            </a:r>
            <a:r>
              <a:rPr lang="el-GR" sz="1700" dirty="0" err="1">
                <a:latin typeface="Tahoma"/>
                <a:ea typeface="Tahoma"/>
                <a:cs typeface="Tahoma"/>
                <a:sym typeface="Tahoma"/>
              </a:rPr>
              <a:t>D_loss</a:t>
            </a:r>
            <a:r>
              <a:rPr lang="el-GR" sz="1700" dirty="0">
                <a:latin typeface="Tahoma"/>
                <a:ea typeface="Tahoma"/>
                <a:cs typeface="Tahoma"/>
                <a:sym typeface="Tahoma"/>
              </a:rPr>
              <a:t>, </a:t>
            </a:r>
            <a:r>
              <a:rPr lang="el-GR" sz="1700" dirty="0" err="1">
                <a:latin typeface="Tahoma"/>
                <a:ea typeface="Tahoma"/>
                <a:cs typeface="Tahoma"/>
                <a:sym typeface="Tahoma"/>
              </a:rPr>
              <a:t>G_loss</a:t>
            </a:r>
            <a:r>
              <a:rPr lang="el-GR" sz="1700" dirty="0">
                <a:latin typeface="Tahoma"/>
                <a:ea typeface="Tahoma"/>
                <a:cs typeface="Tahoma"/>
                <a:sym typeface="Tahoma"/>
              </a:rPr>
              <a:t> και </a:t>
            </a:r>
            <a:r>
              <a:rPr lang="el-GR" sz="1700" dirty="0" err="1">
                <a:latin typeface="Tahoma"/>
                <a:ea typeface="Tahoma"/>
                <a:cs typeface="Tahoma"/>
                <a:sym typeface="Tahoma"/>
              </a:rPr>
              <a:t>gradient</a:t>
            </a:r>
            <a:r>
              <a:rPr lang="el-GR" sz="1700" dirty="0">
                <a:latin typeface="Tahoma"/>
                <a:ea typeface="Tahoma"/>
                <a:cs typeface="Tahoma"/>
                <a:sym typeface="Tahoma"/>
              </a:rPr>
              <a:t> </a:t>
            </a:r>
            <a:r>
              <a:rPr lang="el-GR" sz="1700" dirty="0" err="1">
                <a:latin typeface="Tahoma"/>
                <a:ea typeface="Tahoma"/>
                <a:cs typeface="Tahoma"/>
                <a:sym typeface="Tahoma"/>
              </a:rPr>
              <a:t>penalty</a:t>
            </a:r>
            <a:r>
              <a:rPr lang="el-GR" sz="1700" dirty="0">
                <a:latin typeface="Tahoma"/>
                <a:ea typeface="Tahoma"/>
                <a:cs typeface="Tahoma"/>
                <a:sym typeface="Tahoma"/>
              </a:rPr>
              <a:t>, μαζί με τον συνολικό χρόνο εκπαίδευσης, επιτρέποντας συστηματική παρακολούθηση της προόδου.</a:t>
            </a:r>
          </a:p>
        </p:txBody>
      </p:sp>
      <p:pic>
        <p:nvPicPr>
          <p:cNvPr id="1028" name="Picture 4">
            <a:extLst>
              <a:ext uri="{FF2B5EF4-FFF2-40B4-BE49-F238E27FC236}">
                <a16:creationId xmlns:a16="http://schemas.microsoft.com/office/drawing/2014/main" id="{01377017-BF28-D643-BEDA-CFC5D2C4058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66866" y="2295728"/>
            <a:ext cx="6003993" cy="3791996"/>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2844124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17"/>
        <p:cNvGrpSpPr/>
        <p:nvPr/>
      </p:nvGrpSpPr>
      <p:grpSpPr>
        <a:xfrm>
          <a:off x="0" y="0"/>
          <a:ext cx="0" cy="0"/>
          <a:chOff x="0" y="0"/>
          <a:chExt cx="0" cy="0"/>
        </a:xfrm>
      </p:grpSpPr>
      <p:sp>
        <p:nvSpPr>
          <p:cNvPr id="618" name="Google Shape;618;p48"/>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venir"/>
              <a:ea typeface="Avenir"/>
              <a:cs typeface="Avenir"/>
              <a:sym typeface="Avenir"/>
            </a:endParaRPr>
          </a:p>
        </p:txBody>
      </p:sp>
      <p:pic>
        <p:nvPicPr>
          <p:cNvPr id="619" name="Google Shape;619;p48"/>
          <p:cNvPicPr preferRelativeResize="0"/>
          <p:nvPr/>
        </p:nvPicPr>
        <p:blipFill rotWithShape="1">
          <a:blip r:embed="rId3">
            <a:alphaModFix/>
          </a:blip>
          <a:srcRect l="12504" r="16388"/>
          <a:stretch/>
        </p:blipFill>
        <p:spPr>
          <a:xfrm>
            <a:off x="3522468" y="10"/>
            <a:ext cx="8669532" cy="6857990"/>
          </a:xfrm>
          <a:prstGeom prst="rect">
            <a:avLst/>
          </a:prstGeom>
          <a:noFill/>
          <a:ln>
            <a:noFill/>
          </a:ln>
        </p:spPr>
      </p:pic>
      <p:sp>
        <p:nvSpPr>
          <p:cNvPr id="620" name="Google Shape;620;p48"/>
          <p:cNvSpPr/>
          <p:nvPr/>
        </p:nvSpPr>
        <p:spPr>
          <a:xfrm>
            <a:off x="2" y="0"/>
            <a:ext cx="9756601" cy="6858000"/>
          </a:xfrm>
          <a:prstGeom prst="rect">
            <a:avLst/>
          </a:prstGeom>
          <a:gradFill>
            <a:gsLst>
              <a:gs pos="0">
                <a:srgbClr val="000000">
                  <a:alpha val="0"/>
                </a:srgbClr>
              </a:gs>
              <a:gs pos="19000">
                <a:srgbClr val="000000">
                  <a:alpha val="37647"/>
                </a:srgbClr>
              </a:gs>
              <a:gs pos="35000">
                <a:srgbClr val="000000">
                  <a:alpha val="77647"/>
                </a:srgbClr>
              </a:gs>
              <a:gs pos="58000">
                <a:schemeClr val="dk1"/>
              </a:gs>
              <a:gs pos="100000">
                <a:schemeClr val="dk1"/>
              </a:gs>
            </a:gsLst>
            <a:lin ang="10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venir"/>
              <a:ea typeface="Avenir"/>
              <a:cs typeface="Avenir"/>
              <a:sym typeface="Avenir"/>
            </a:endParaRPr>
          </a:p>
        </p:txBody>
      </p:sp>
      <p:sp>
        <p:nvSpPr>
          <p:cNvPr id="621" name="Google Shape;621;p48"/>
          <p:cNvSpPr txBox="1">
            <a:spLocks noGrp="1"/>
          </p:cNvSpPr>
          <p:nvPr>
            <p:ph type="title"/>
          </p:nvPr>
        </p:nvSpPr>
        <p:spPr>
          <a:xfrm>
            <a:off x="371100" y="1161301"/>
            <a:ext cx="3438300" cy="888900"/>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lt1"/>
              </a:buClr>
              <a:buSzPts val="2400"/>
              <a:buFont typeface="Avenir"/>
              <a:buNone/>
            </a:pPr>
            <a:r>
              <a:rPr lang="el-GR" sz="2400" dirty="0">
                <a:solidFill>
                  <a:schemeClr val="lt1"/>
                </a:solidFill>
                <a:latin typeface="Tahoma" panose="020B0604030504040204" pitchFamily="34" charset="0"/>
                <a:ea typeface="Tahoma" panose="020B0604030504040204" pitchFamily="34" charset="0"/>
                <a:cs typeface="Tahoma" panose="020B0604030504040204" pitchFamily="34" charset="0"/>
              </a:rPr>
              <a:t>NVIDIA DGX για Εκπαίδευση WGAN-GP</a:t>
            </a:r>
            <a:endParaRPr dirty="0">
              <a:latin typeface="Tahoma" panose="020B0604030504040204" pitchFamily="34" charset="0"/>
              <a:ea typeface="Tahoma" panose="020B0604030504040204" pitchFamily="34" charset="0"/>
              <a:cs typeface="Tahoma" panose="020B0604030504040204" pitchFamily="34" charset="0"/>
            </a:endParaRPr>
          </a:p>
        </p:txBody>
      </p:sp>
      <p:sp>
        <p:nvSpPr>
          <p:cNvPr id="622" name="Google Shape;622;p48"/>
          <p:cNvSpPr/>
          <p:nvPr/>
        </p:nvSpPr>
        <p:spPr>
          <a:xfrm rot="5400000">
            <a:off x="662559" y="605790"/>
            <a:ext cx="73152" cy="54864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FFFFFF"/>
              </a:solidFill>
              <a:latin typeface="Calibri"/>
              <a:ea typeface="Calibri"/>
              <a:cs typeface="Calibri"/>
              <a:sym typeface="Calibri"/>
            </a:endParaRPr>
          </a:p>
        </p:txBody>
      </p:sp>
      <p:sp>
        <p:nvSpPr>
          <p:cNvPr id="623" name="Google Shape;623;p48"/>
          <p:cNvSpPr/>
          <p:nvPr/>
        </p:nvSpPr>
        <p:spPr>
          <a:xfrm>
            <a:off x="439756" y="2124505"/>
            <a:ext cx="3300900" cy="183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FFFFFF"/>
              </a:solidFill>
              <a:latin typeface="Calibri"/>
              <a:ea typeface="Calibri"/>
              <a:cs typeface="Calibri"/>
              <a:sym typeface="Calibri"/>
            </a:endParaRPr>
          </a:p>
        </p:txBody>
      </p:sp>
      <p:sp>
        <p:nvSpPr>
          <p:cNvPr id="624" name="Google Shape;624;p48"/>
          <p:cNvSpPr txBox="1">
            <a:spLocks noGrp="1"/>
          </p:cNvSpPr>
          <p:nvPr>
            <p:ph type="body" idx="1"/>
          </p:nvPr>
        </p:nvSpPr>
        <p:spPr>
          <a:xfrm>
            <a:off x="371101" y="2294824"/>
            <a:ext cx="5271900" cy="4563300"/>
          </a:xfrm>
          <a:prstGeom prst="rect">
            <a:avLst/>
          </a:prstGeom>
          <a:noFill/>
          <a:ln>
            <a:noFill/>
          </a:ln>
        </p:spPr>
        <p:txBody>
          <a:bodyPr spcFirstLastPara="1" wrap="square" lIns="91425" tIns="45700" rIns="91425" bIns="45700" anchor="t" anchorCtr="0">
            <a:normAutofit lnSpcReduction="10000"/>
          </a:bodyPr>
          <a:lstStyle/>
          <a:p>
            <a:pPr marL="228600" lvl="0" indent="-241300" algn="l" rtl="0">
              <a:lnSpc>
                <a:spcPct val="110000"/>
              </a:lnSpc>
              <a:spcBef>
                <a:spcPts val="0"/>
              </a:spcBef>
              <a:spcAft>
                <a:spcPts val="0"/>
              </a:spcAft>
              <a:buClr>
                <a:schemeClr val="lt1"/>
              </a:buClr>
              <a:buSzPts val="1600"/>
              <a:buFont typeface="Noto Sans Symbols"/>
              <a:buChar char="❑"/>
            </a:pPr>
            <a:r>
              <a:rPr lang="el-GR" sz="1600" dirty="0">
                <a:solidFill>
                  <a:schemeClr val="lt1"/>
                </a:solidFill>
                <a:latin typeface="Tahoma"/>
                <a:ea typeface="Tahoma"/>
                <a:cs typeface="Tahoma"/>
                <a:sym typeface="Tahoma"/>
              </a:rPr>
              <a:t>Η εκπαίδευση υλοποιήθηκε σε </a:t>
            </a:r>
            <a:r>
              <a:rPr lang="en-US" sz="1600" dirty="0">
                <a:solidFill>
                  <a:schemeClr val="lt1"/>
                </a:solidFill>
                <a:latin typeface="Tahoma"/>
                <a:ea typeface="Tahoma"/>
                <a:cs typeface="Tahoma"/>
                <a:sym typeface="Tahoma"/>
              </a:rPr>
              <a:t>NVIDIA DGX </a:t>
            </a:r>
            <a:r>
              <a:rPr lang="el-GR" sz="1600" dirty="0">
                <a:solidFill>
                  <a:schemeClr val="lt1"/>
                </a:solidFill>
                <a:latin typeface="Tahoma"/>
                <a:ea typeface="Tahoma"/>
                <a:cs typeface="Tahoma"/>
                <a:sym typeface="Tahoma"/>
              </a:rPr>
              <a:t>με </a:t>
            </a:r>
            <a:r>
              <a:rPr lang="en-US" sz="1600" dirty="0">
                <a:solidFill>
                  <a:schemeClr val="lt1"/>
                </a:solidFill>
                <a:latin typeface="Tahoma"/>
                <a:ea typeface="Tahoma"/>
                <a:cs typeface="Tahoma"/>
                <a:sym typeface="Tahoma"/>
              </a:rPr>
              <a:t>GPU A100 SXM4 40 GB </a:t>
            </a:r>
            <a:r>
              <a:rPr lang="el-GR" sz="1600" dirty="0">
                <a:solidFill>
                  <a:schemeClr val="lt1"/>
                </a:solidFill>
                <a:latin typeface="Tahoma"/>
                <a:ea typeface="Tahoma"/>
                <a:cs typeface="Tahoma"/>
                <a:sym typeface="Tahoma"/>
              </a:rPr>
              <a:t>και μνήμη </a:t>
            </a:r>
            <a:r>
              <a:rPr lang="en-US" sz="1600" dirty="0">
                <a:solidFill>
                  <a:schemeClr val="lt1"/>
                </a:solidFill>
                <a:latin typeface="Tahoma"/>
                <a:ea typeface="Tahoma"/>
                <a:cs typeface="Tahoma"/>
                <a:sym typeface="Tahoma"/>
              </a:rPr>
              <a:t>HBM2e (1,5 TB/s bandwidth). </a:t>
            </a:r>
            <a:r>
              <a:rPr lang="el-GR" sz="1600" dirty="0">
                <a:solidFill>
                  <a:schemeClr val="lt1"/>
                </a:solidFill>
                <a:latin typeface="Tahoma"/>
                <a:ea typeface="Tahoma"/>
                <a:cs typeface="Tahoma"/>
                <a:sym typeface="Tahoma"/>
              </a:rPr>
              <a:t>Εξασφαλίζει φόρτωση/επεξεργασία εκατομμυρίων γραμμών δεδομένων, </a:t>
            </a:r>
            <a:r>
              <a:rPr lang="en-US" sz="1600" dirty="0">
                <a:solidFill>
                  <a:schemeClr val="lt1"/>
                </a:solidFill>
                <a:latin typeface="Tahoma"/>
                <a:ea typeface="Tahoma"/>
                <a:cs typeface="Tahoma"/>
                <a:sym typeface="Tahoma"/>
              </a:rPr>
              <a:t>z-score </a:t>
            </a:r>
            <a:r>
              <a:rPr lang="el-GR" sz="1600" dirty="0" err="1">
                <a:solidFill>
                  <a:schemeClr val="lt1"/>
                </a:solidFill>
                <a:latin typeface="Tahoma"/>
                <a:ea typeface="Tahoma"/>
                <a:cs typeface="Tahoma"/>
                <a:sym typeface="Tahoma"/>
              </a:rPr>
              <a:t>κανονικοποίηση</a:t>
            </a:r>
            <a:r>
              <a:rPr lang="el-GR" sz="1600" dirty="0">
                <a:solidFill>
                  <a:schemeClr val="lt1"/>
                </a:solidFill>
                <a:latin typeface="Tahoma"/>
                <a:ea typeface="Tahoma"/>
                <a:cs typeface="Tahoma"/>
                <a:sym typeface="Tahoma"/>
              </a:rPr>
              <a:t> και πολύ μεγάλα </a:t>
            </a:r>
            <a:r>
              <a:rPr lang="en-US" sz="1600" dirty="0">
                <a:solidFill>
                  <a:schemeClr val="lt1"/>
                </a:solidFill>
                <a:latin typeface="Tahoma"/>
                <a:ea typeface="Tahoma"/>
                <a:cs typeface="Tahoma"/>
                <a:sym typeface="Tahoma"/>
              </a:rPr>
              <a:t>batches </a:t>
            </a:r>
            <a:r>
              <a:rPr lang="el-GR" sz="1600" dirty="0">
                <a:solidFill>
                  <a:schemeClr val="lt1"/>
                </a:solidFill>
                <a:latin typeface="Tahoma"/>
                <a:ea typeface="Tahoma"/>
                <a:cs typeface="Tahoma"/>
                <a:sym typeface="Tahoma"/>
              </a:rPr>
              <a:t>χωρίς </a:t>
            </a:r>
            <a:r>
              <a:rPr lang="en-US" sz="1600" dirty="0">
                <a:solidFill>
                  <a:schemeClr val="lt1"/>
                </a:solidFill>
                <a:latin typeface="Tahoma"/>
                <a:ea typeface="Tahoma"/>
                <a:cs typeface="Tahoma"/>
                <a:sym typeface="Tahoma"/>
              </a:rPr>
              <a:t>memory errors </a:t>
            </a:r>
            <a:r>
              <a:rPr lang="el-GR" sz="1600" dirty="0">
                <a:solidFill>
                  <a:schemeClr val="lt1"/>
                </a:solidFill>
                <a:latin typeface="Tahoma"/>
                <a:ea typeface="Tahoma"/>
                <a:cs typeface="Tahoma"/>
                <a:sym typeface="Tahoma"/>
              </a:rPr>
              <a:t>ή </a:t>
            </a:r>
            <a:r>
              <a:rPr lang="en-US" sz="1600" dirty="0">
                <a:solidFill>
                  <a:schemeClr val="lt1"/>
                </a:solidFill>
                <a:latin typeface="Tahoma"/>
                <a:ea typeface="Tahoma"/>
                <a:cs typeface="Tahoma"/>
                <a:sym typeface="Tahoma"/>
              </a:rPr>
              <a:t>bottlenecks.</a:t>
            </a:r>
            <a:r>
              <a:rPr lang="el-GR" sz="1600" dirty="0">
                <a:solidFill>
                  <a:schemeClr val="lt1"/>
                </a:solidFill>
                <a:latin typeface="Tahoma"/>
                <a:ea typeface="Tahoma"/>
                <a:cs typeface="Tahoma"/>
                <a:sym typeface="Tahoma"/>
              </a:rPr>
              <a:t>Τα </a:t>
            </a:r>
            <a:r>
              <a:rPr lang="en-US" sz="1600" dirty="0">
                <a:solidFill>
                  <a:schemeClr val="lt1"/>
                </a:solidFill>
                <a:latin typeface="Tahoma"/>
                <a:ea typeface="Tahoma"/>
                <a:cs typeface="Tahoma"/>
                <a:sym typeface="Tahoma"/>
              </a:rPr>
              <a:t>training steps </a:t>
            </a:r>
            <a:r>
              <a:rPr lang="el-GR" sz="1600" dirty="0">
                <a:solidFill>
                  <a:schemeClr val="lt1"/>
                </a:solidFill>
                <a:latin typeface="Tahoma"/>
                <a:ea typeface="Tahoma"/>
                <a:cs typeface="Tahoma"/>
                <a:sym typeface="Tahoma"/>
              </a:rPr>
              <a:t>του κριτή &amp; της γεννήτριας μετατράπηκαν σε </a:t>
            </a:r>
            <a:r>
              <a:rPr lang="en-US" sz="1600" dirty="0">
                <a:solidFill>
                  <a:schemeClr val="lt1"/>
                </a:solidFill>
                <a:latin typeface="Tahoma"/>
                <a:ea typeface="Tahoma"/>
                <a:cs typeface="Tahoma"/>
                <a:sym typeface="Tahoma"/>
              </a:rPr>
              <a:t>TensorFlow computational graphs (@tf.function), </a:t>
            </a:r>
            <a:r>
              <a:rPr lang="el-GR" sz="1600" dirty="0">
                <a:solidFill>
                  <a:schemeClr val="lt1"/>
                </a:solidFill>
                <a:latin typeface="Tahoma"/>
                <a:ea typeface="Tahoma"/>
                <a:cs typeface="Tahoma"/>
                <a:sym typeface="Tahoma"/>
              </a:rPr>
              <a:t>επιταχύνοντας την εκτέλεση και αξιοποιώντας πλήρως τη </a:t>
            </a:r>
            <a:r>
              <a:rPr lang="en-US" sz="1600" dirty="0">
                <a:solidFill>
                  <a:schemeClr val="lt1"/>
                </a:solidFill>
                <a:latin typeface="Tahoma"/>
                <a:ea typeface="Tahoma"/>
                <a:cs typeface="Tahoma"/>
                <a:sym typeface="Tahoma"/>
              </a:rPr>
              <a:t>GPU. </a:t>
            </a:r>
          </a:p>
          <a:p>
            <a:pPr marL="228600" lvl="0" indent="-241300" algn="l" rtl="0">
              <a:lnSpc>
                <a:spcPct val="110000"/>
              </a:lnSpc>
              <a:spcBef>
                <a:spcPts val="0"/>
              </a:spcBef>
              <a:spcAft>
                <a:spcPts val="0"/>
              </a:spcAft>
              <a:buClr>
                <a:schemeClr val="lt1"/>
              </a:buClr>
              <a:buSzPts val="1600"/>
              <a:buFont typeface="Noto Sans Symbols"/>
              <a:buChar char="❑"/>
            </a:pPr>
            <a:endParaRPr lang="en-US" sz="1600" dirty="0">
              <a:solidFill>
                <a:schemeClr val="lt1"/>
              </a:solidFill>
              <a:latin typeface="Tahoma"/>
              <a:ea typeface="Tahoma"/>
              <a:cs typeface="Tahoma"/>
              <a:sym typeface="Tahoma"/>
            </a:endParaRPr>
          </a:p>
          <a:p>
            <a:pPr marL="228600" lvl="0" indent="-241300" algn="l" rtl="0">
              <a:lnSpc>
                <a:spcPct val="110000"/>
              </a:lnSpc>
              <a:spcBef>
                <a:spcPts val="0"/>
              </a:spcBef>
              <a:spcAft>
                <a:spcPts val="0"/>
              </a:spcAft>
              <a:buClr>
                <a:schemeClr val="lt1"/>
              </a:buClr>
              <a:buSzPts val="1600"/>
              <a:buFont typeface="Noto Sans Symbols"/>
              <a:buChar char="❑"/>
            </a:pPr>
            <a:r>
              <a:rPr lang="el-GR" sz="1600" dirty="0">
                <a:solidFill>
                  <a:schemeClr val="lt1"/>
                </a:solidFill>
                <a:latin typeface="Tahoma"/>
                <a:ea typeface="Tahoma"/>
                <a:cs typeface="Tahoma"/>
                <a:sym typeface="Tahoma"/>
              </a:rPr>
              <a:t>Υποστηρίζει πολλά </a:t>
            </a:r>
            <a:r>
              <a:rPr lang="el-GR" sz="1600" dirty="0" err="1">
                <a:solidFill>
                  <a:schemeClr val="lt1"/>
                </a:solidFill>
                <a:latin typeface="Tahoma"/>
                <a:ea typeface="Tahoma"/>
                <a:cs typeface="Tahoma"/>
                <a:sym typeface="Tahoma"/>
              </a:rPr>
              <a:t>epochs</a:t>
            </a:r>
            <a:r>
              <a:rPr lang="el-GR" sz="1600" dirty="0">
                <a:solidFill>
                  <a:schemeClr val="lt1"/>
                </a:solidFill>
                <a:latin typeface="Tahoma"/>
                <a:ea typeface="Tahoma"/>
                <a:cs typeface="Tahoma"/>
                <a:sym typeface="Tahoma"/>
              </a:rPr>
              <a:t>, </a:t>
            </a:r>
            <a:r>
              <a:rPr lang="el-GR" sz="1600" dirty="0" err="1">
                <a:solidFill>
                  <a:schemeClr val="lt1"/>
                </a:solidFill>
                <a:latin typeface="Tahoma"/>
                <a:ea typeface="Tahoma"/>
                <a:cs typeface="Tahoma"/>
                <a:sym typeface="Tahoma"/>
              </a:rPr>
              <a:t>πολυβηματική</a:t>
            </a:r>
            <a:r>
              <a:rPr lang="el-GR" sz="1600" dirty="0">
                <a:solidFill>
                  <a:schemeClr val="lt1"/>
                </a:solidFill>
                <a:latin typeface="Tahoma"/>
                <a:ea typeface="Tahoma"/>
                <a:cs typeface="Tahoma"/>
                <a:sym typeface="Tahoma"/>
              </a:rPr>
              <a:t> εκπαίδευση του κριτή, δυναμικό </a:t>
            </a:r>
            <a:r>
              <a:rPr lang="el-GR" sz="1600" dirty="0" err="1">
                <a:solidFill>
                  <a:schemeClr val="lt1"/>
                </a:solidFill>
                <a:latin typeface="Tahoma"/>
                <a:ea typeface="Tahoma"/>
                <a:cs typeface="Tahoma"/>
                <a:sym typeface="Tahoma"/>
              </a:rPr>
              <a:t>learning</a:t>
            </a:r>
            <a:r>
              <a:rPr lang="el-GR" sz="1600" dirty="0">
                <a:solidFill>
                  <a:schemeClr val="lt1"/>
                </a:solidFill>
                <a:latin typeface="Tahoma"/>
                <a:ea typeface="Tahoma"/>
                <a:cs typeface="Tahoma"/>
                <a:sym typeface="Tahoma"/>
              </a:rPr>
              <a:t> </a:t>
            </a:r>
            <a:r>
              <a:rPr lang="el-GR" sz="1600" dirty="0" err="1">
                <a:solidFill>
                  <a:schemeClr val="lt1"/>
                </a:solidFill>
                <a:latin typeface="Tahoma"/>
                <a:ea typeface="Tahoma"/>
                <a:cs typeface="Tahoma"/>
                <a:sym typeface="Tahoma"/>
              </a:rPr>
              <a:t>rate</a:t>
            </a:r>
            <a:r>
              <a:rPr lang="el-GR" sz="1600" dirty="0">
                <a:solidFill>
                  <a:schemeClr val="lt1"/>
                </a:solidFill>
                <a:latin typeface="Tahoma"/>
                <a:ea typeface="Tahoma"/>
                <a:cs typeface="Tahoma"/>
                <a:sym typeface="Tahoma"/>
              </a:rPr>
              <a:t>, και αυτόματη αποθήκευση </a:t>
            </a:r>
            <a:r>
              <a:rPr lang="el-GR" sz="1600" dirty="0" err="1">
                <a:solidFill>
                  <a:schemeClr val="lt1"/>
                </a:solidFill>
                <a:latin typeface="Tahoma"/>
                <a:ea typeface="Tahoma"/>
                <a:cs typeface="Tahoma"/>
                <a:sym typeface="Tahoma"/>
              </a:rPr>
              <a:t>checkpoints</a:t>
            </a:r>
            <a:r>
              <a:rPr lang="el-GR" sz="1600" dirty="0">
                <a:solidFill>
                  <a:schemeClr val="lt1"/>
                </a:solidFill>
                <a:latin typeface="Tahoma"/>
                <a:ea typeface="Tahoma"/>
                <a:cs typeface="Tahoma"/>
                <a:sym typeface="Tahoma"/>
              </a:rPr>
              <a:t> για μέγιστη αξιοπιστία.</a:t>
            </a:r>
            <a:r>
              <a:rPr lang="en-US" sz="1600" dirty="0">
                <a:solidFill>
                  <a:schemeClr val="lt1"/>
                </a:solidFill>
                <a:latin typeface="Tahoma"/>
                <a:ea typeface="Tahoma"/>
                <a:cs typeface="Tahoma"/>
                <a:sym typeface="Tahoma"/>
              </a:rPr>
              <a:t> </a:t>
            </a:r>
            <a:r>
              <a:rPr lang="el-GR" sz="1600" dirty="0">
                <a:solidFill>
                  <a:schemeClr val="lt1"/>
                </a:solidFill>
                <a:latin typeface="Tahoma"/>
                <a:ea typeface="Tahoma"/>
                <a:cs typeface="Tahoma"/>
                <a:sym typeface="Tahoma"/>
              </a:rPr>
              <a:t>Τα παραπάνω πλεονεκτήματα ξεπερνούν τους περιορισμούς υπηρεσιών όπως το </a:t>
            </a:r>
            <a:r>
              <a:rPr lang="el-GR" sz="1600" dirty="0" err="1">
                <a:solidFill>
                  <a:schemeClr val="lt1"/>
                </a:solidFill>
                <a:latin typeface="Tahoma"/>
                <a:ea typeface="Tahoma"/>
                <a:cs typeface="Tahoma"/>
                <a:sym typeface="Tahoma"/>
              </a:rPr>
              <a:t>Google</a:t>
            </a:r>
            <a:r>
              <a:rPr lang="el-GR" sz="1600" dirty="0">
                <a:solidFill>
                  <a:schemeClr val="lt1"/>
                </a:solidFill>
                <a:latin typeface="Tahoma"/>
                <a:ea typeface="Tahoma"/>
                <a:cs typeface="Tahoma"/>
                <a:sym typeface="Tahoma"/>
              </a:rPr>
              <a:t> </a:t>
            </a:r>
            <a:r>
              <a:rPr lang="el-GR" sz="1600" dirty="0" err="1">
                <a:solidFill>
                  <a:schemeClr val="lt1"/>
                </a:solidFill>
                <a:latin typeface="Tahoma"/>
                <a:ea typeface="Tahoma"/>
                <a:cs typeface="Tahoma"/>
                <a:sym typeface="Tahoma"/>
              </a:rPr>
              <a:t>Colab</a:t>
            </a:r>
            <a:r>
              <a:rPr lang="el-GR" sz="1600" dirty="0">
                <a:solidFill>
                  <a:schemeClr val="lt1"/>
                </a:solidFill>
                <a:latin typeface="Tahoma"/>
                <a:ea typeface="Tahoma"/>
                <a:cs typeface="Tahoma"/>
                <a:sym typeface="Tahoma"/>
              </a:rPr>
              <a:t>, καθιστώντας το NVIDIA DGX ιδανικό για εκπαίδευση μεγάλων νευρωνικών δικτύων με σταθερότητα και ταχύτητα.</a:t>
            </a:r>
            <a:r>
              <a:rPr lang="en-US" sz="1600" dirty="0">
                <a:solidFill>
                  <a:schemeClr val="lt1"/>
                </a:solidFill>
                <a:latin typeface="Tahoma"/>
                <a:ea typeface="Tahoma"/>
                <a:cs typeface="Tahoma"/>
                <a:sym typeface="Tahoma"/>
              </a:rPr>
              <a:t> </a:t>
            </a:r>
            <a:endParaRPr sz="1600" dirty="0">
              <a:solidFill>
                <a:schemeClr val="lt1"/>
              </a:solidFill>
              <a:latin typeface="Tahoma"/>
              <a:ea typeface="Tahoma"/>
              <a:cs typeface="Tahoma"/>
              <a:sym typeface="Tahom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1000"/>
                                  </p:stCondLst>
                                  <p:childTnLst>
                                    <p:set>
                                      <p:cBhvr>
                                        <p:cTn id="6" dur="1" fill="hold">
                                          <p:stCondLst>
                                            <p:cond delay="0"/>
                                          </p:stCondLst>
                                        </p:cTn>
                                        <p:tgtEl>
                                          <p:spTgt spid="621"/>
                                        </p:tgtEl>
                                        <p:attrNameLst>
                                          <p:attrName>style.visibility</p:attrName>
                                        </p:attrNameLst>
                                      </p:cBhvr>
                                      <p:to>
                                        <p:strVal val="visible"/>
                                      </p:to>
                                    </p:set>
                                    <p:animEffect transition="in" filter="fade">
                                      <p:cBhvr>
                                        <p:cTn id="7" dur="400"/>
                                        <p:tgtEl>
                                          <p:spTgt spid="6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629"/>
        <p:cNvGrpSpPr/>
        <p:nvPr/>
      </p:nvGrpSpPr>
      <p:grpSpPr>
        <a:xfrm>
          <a:off x="0" y="0"/>
          <a:ext cx="0" cy="0"/>
          <a:chOff x="0" y="0"/>
          <a:chExt cx="0" cy="0"/>
        </a:xfrm>
      </p:grpSpPr>
      <p:sp>
        <p:nvSpPr>
          <p:cNvPr id="630" name="Google Shape;630;p49"/>
          <p:cNvSpPr/>
          <p:nvPr/>
        </p:nvSpPr>
        <p:spPr>
          <a:xfrm>
            <a:off x="0" y="0"/>
            <a:ext cx="12192000" cy="68580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FFFFFF"/>
              </a:solidFill>
              <a:latin typeface="Avenir"/>
              <a:ea typeface="Avenir"/>
              <a:cs typeface="Avenir"/>
              <a:sym typeface="Avenir"/>
            </a:endParaRPr>
          </a:p>
        </p:txBody>
      </p:sp>
      <p:cxnSp>
        <p:nvCxnSpPr>
          <p:cNvPr id="631" name="Google Shape;631;p49"/>
          <p:cNvCxnSpPr/>
          <p:nvPr/>
        </p:nvCxnSpPr>
        <p:spPr>
          <a:xfrm>
            <a:off x="800100" y="723900"/>
            <a:ext cx="1638300" cy="0"/>
          </a:xfrm>
          <a:prstGeom prst="straightConnector1">
            <a:avLst/>
          </a:prstGeom>
          <a:noFill/>
          <a:ln w="44450" cap="flat" cmpd="sng">
            <a:solidFill>
              <a:schemeClr val="lt1"/>
            </a:solidFill>
            <a:prstDash val="solid"/>
            <a:miter lim="800000"/>
            <a:headEnd type="none" w="sm" len="sm"/>
            <a:tailEnd type="none" w="sm" len="sm"/>
          </a:ln>
        </p:spPr>
      </p:cxnSp>
      <p:pic>
        <p:nvPicPr>
          <p:cNvPr id="632" name="Google Shape;632;p49" descr="Topview of mint green workspace with laptop, coffee, notebook, pen, glasses, and mouse"/>
          <p:cNvPicPr preferRelativeResize="0"/>
          <p:nvPr/>
        </p:nvPicPr>
        <p:blipFill rotWithShape="1">
          <a:blip r:embed="rId3">
            <a:alphaModFix/>
          </a:blip>
          <a:srcRect b="15730"/>
          <a:stretch/>
        </p:blipFill>
        <p:spPr>
          <a:xfrm>
            <a:off x="21" y="10"/>
            <a:ext cx="12191979" cy="6857990"/>
          </a:xfrm>
          <a:prstGeom prst="rect">
            <a:avLst/>
          </a:prstGeom>
          <a:noFill/>
          <a:ln>
            <a:noFill/>
          </a:ln>
        </p:spPr>
      </p:pic>
      <p:sp>
        <p:nvSpPr>
          <p:cNvPr id="633" name="Google Shape;633;p49"/>
          <p:cNvSpPr/>
          <p:nvPr/>
        </p:nvSpPr>
        <p:spPr>
          <a:xfrm rot="-5400000" flipH="1">
            <a:off x="5167042" y="-166956"/>
            <a:ext cx="6858002" cy="7191913"/>
          </a:xfrm>
          <a:prstGeom prst="rect">
            <a:avLst/>
          </a:prstGeom>
          <a:gradFill>
            <a:gsLst>
              <a:gs pos="0">
                <a:srgbClr val="000000">
                  <a:alpha val="0"/>
                </a:srgbClr>
              </a:gs>
              <a:gs pos="25000">
                <a:srgbClr val="000000">
                  <a:alpha val="37647"/>
                </a:srgbClr>
              </a:gs>
              <a:gs pos="46000">
                <a:srgbClr val="000000">
                  <a:alpha val="54901"/>
                </a:srgbClr>
              </a:gs>
              <a:gs pos="100000">
                <a:srgbClr val="000000">
                  <a:alpha val="60000"/>
                </a:srgbClr>
              </a:gs>
            </a:gsLst>
            <a:lin ang="5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FFFFFF"/>
              </a:solidFill>
              <a:latin typeface="Avenir"/>
              <a:ea typeface="Avenir"/>
              <a:cs typeface="Avenir"/>
              <a:sym typeface="Avenir"/>
            </a:endParaRPr>
          </a:p>
        </p:txBody>
      </p:sp>
      <p:sp>
        <p:nvSpPr>
          <p:cNvPr id="634" name="Google Shape;634;p49"/>
          <p:cNvSpPr txBox="1">
            <a:spLocks noGrp="1"/>
          </p:cNvSpPr>
          <p:nvPr>
            <p:ph type="ctrTitle"/>
          </p:nvPr>
        </p:nvSpPr>
        <p:spPr>
          <a:xfrm>
            <a:off x="7761724" y="1161657"/>
            <a:ext cx="4141070" cy="3200400"/>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lt1"/>
              </a:buClr>
              <a:buSzPts val="4400"/>
              <a:buFont typeface="Tahoma"/>
              <a:buNone/>
            </a:pPr>
            <a:r>
              <a:rPr lang="el-GR" sz="4400" dirty="0">
                <a:latin typeface="Tahoma"/>
                <a:ea typeface="Tahoma"/>
                <a:cs typeface="Tahoma"/>
                <a:sym typeface="Tahoma"/>
              </a:rPr>
              <a:t>Αξιολόγηση Αποτελεσμάτων</a:t>
            </a:r>
            <a:endParaRPr dirty="0"/>
          </a:p>
        </p:txBody>
      </p:sp>
      <p:sp>
        <p:nvSpPr>
          <p:cNvPr id="635" name="Google Shape;635;p49"/>
          <p:cNvSpPr/>
          <p:nvPr/>
        </p:nvSpPr>
        <p:spPr>
          <a:xfrm rot="5400000">
            <a:off x="8040616" y="346791"/>
            <a:ext cx="146304" cy="704088"/>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FFFFFF"/>
              </a:solidFill>
              <a:latin typeface="Calibri"/>
              <a:ea typeface="Calibri"/>
              <a:cs typeface="Calibri"/>
              <a:sym typeface="Calibri"/>
            </a:endParaRPr>
          </a:p>
        </p:txBody>
      </p:sp>
      <p:sp>
        <p:nvSpPr>
          <p:cNvPr id="636" name="Google Shape;636;p49"/>
          <p:cNvSpPr/>
          <p:nvPr/>
        </p:nvSpPr>
        <p:spPr>
          <a:xfrm>
            <a:off x="7761724" y="4546920"/>
            <a:ext cx="3977640" cy="18288"/>
          </a:xfrm>
          <a:prstGeom prst="rect">
            <a:avLst/>
          </a:prstGeom>
          <a:solidFill>
            <a:srgbClr val="F8F8F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41"/>
        <p:cNvGrpSpPr/>
        <p:nvPr/>
      </p:nvGrpSpPr>
      <p:grpSpPr>
        <a:xfrm>
          <a:off x="0" y="0"/>
          <a:ext cx="0" cy="0"/>
          <a:chOff x="0" y="0"/>
          <a:chExt cx="0" cy="0"/>
        </a:xfrm>
      </p:grpSpPr>
      <p:sp>
        <p:nvSpPr>
          <p:cNvPr id="642" name="Google Shape;642;p50"/>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venir"/>
              <a:ea typeface="Avenir"/>
              <a:cs typeface="Avenir"/>
              <a:sym typeface="Avenir"/>
            </a:endParaRPr>
          </a:p>
        </p:txBody>
      </p:sp>
      <p:sp>
        <p:nvSpPr>
          <p:cNvPr id="643" name="Google Shape;643;p50"/>
          <p:cNvSpPr/>
          <p:nvPr/>
        </p:nvSpPr>
        <p:spPr>
          <a:xfrm>
            <a:off x="409575" y="633619"/>
            <a:ext cx="6838569" cy="5495925"/>
          </a:xfrm>
          <a:prstGeom prst="rect">
            <a:avLst/>
          </a:prstGeom>
          <a:solidFill>
            <a:schemeClr val="lt1"/>
          </a:solidFill>
          <a:ln w="9525" cap="flat" cmpd="sng">
            <a:solidFill>
              <a:srgbClr val="F1E3F1"/>
            </a:solidFill>
            <a:prstDash val="solid"/>
            <a:miter lim="800000"/>
            <a:headEnd type="none" w="sm" len="sm"/>
            <a:tailEnd type="none" w="sm" len="sm"/>
          </a:ln>
          <a:effectLst>
            <a:outerShdw blurRad="50800" dist="38100" dir="2700000" algn="tl" rotWithShape="0">
              <a:srgbClr val="D8D8D8">
                <a:alpha val="29803"/>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FFFFFF"/>
              </a:solidFill>
              <a:latin typeface="Calibri"/>
              <a:ea typeface="Calibri"/>
              <a:cs typeface="Calibri"/>
              <a:sym typeface="Calibri"/>
            </a:endParaRPr>
          </a:p>
        </p:txBody>
      </p:sp>
      <p:sp>
        <p:nvSpPr>
          <p:cNvPr id="644" name="Google Shape;644;p50"/>
          <p:cNvSpPr txBox="1">
            <a:spLocks noGrp="1"/>
          </p:cNvSpPr>
          <p:nvPr>
            <p:ph type="title"/>
          </p:nvPr>
        </p:nvSpPr>
        <p:spPr>
          <a:xfrm>
            <a:off x="841246" y="978619"/>
            <a:ext cx="5991244" cy="110642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200"/>
              <a:buFont typeface="Avenir"/>
              <a:buNone/>
            </a:pPr>
            <a:r>
              <a:rPr lang="el-GR" sz="3200" dirty="0">
                <a:latin typeface="Tahoma"/>
                <a:ea typeface="Tahoma"/>
                <a:cs typeface="Tahoma"/>
                <a:sym typeface="Tahoma"/>
              </a:rPr>
              <a:t>Παραγωγή Συνθετικών Δεδομένων</a:t>
            </a:r>
            <a:endParaRPr dirty="0">
              <a:latin typeface="Tahoma"/>
              <a:ea typeface="Tahoma"/>
              <a:cs typeface="Tahoma"/>
              <a:sym typeface="Tahoma"/>
            </a:endParaRPr>
          </a:p>
        </p:txBody>
      </p:sp>
      <p:sp>
        <p:nvSpPr>
          <p:cNvPr id="645" name="Google Shape;645;p50"/>
          <p:cNvSpPr/>
          <p:nvPr/>
        </p:nvSpPr>
        <p:spPr>
          <a:xfrm>
            <a:off x="345567" y="1171300"/>
            <a:ext cx="128016" cy="704088"/>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FFFFFF"/>
              </a:solidFill>
              <a:latin typeface="Calibri"/>
              <a:ea typeface="Calibri"/>
              <a:cs typeface="Calibri"/>
              <a:sym typeface="Calibri"/>
            </a:endParaRPr>
          </a:p>
        </p:txBody>
      </p:sp>
      <p:sp>
        <p:nvSpPr>
          <p:cNvPr id="646" name="Google Shape;646;p50"/>
          <p:cNvSpPr/>
          <p:nvPr/>
        </p:nvSpPr>
        <p:spPr>
          <a:xfrm>
            <a:off x="877458" y="2093976"/>
            <a:ext cx="5846683" cy="9144"/>
          </a:xfrm>
          <a:prstGeom prst="rect">
            <a:avLst/>
          </a:prstGeom>
          <a:solidFill>
            <a:srgbClr val="D6BDD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FFFFFF"/>
              </a:solidFill>
              <a:latin typeface="Calibri"/>
              <a:ea typeface="Calibri"/>
              <a:cs typeface="Calibri"/>
              <a:sym typeface="Calibri"/>
            </a:endParaRPr>
          </a:p>
        </p:txBody>
      </p:sp>
      <p:sp>
        <p:nvSpPr>
          <p:cNvPr id="647" name="Google Shape;647;p50"/>
          <p:cNvSpPr txBox="1">
            <a:spLocks noGrp="1"/>
          </p:cNvSpPr>
          <p:nvPr>
            <p:ph type="body" idx="1"/>
          </p:nvPr>
        </p:nvSpPr>
        <p:spPr>
          <a:xfrm>
            <a:off x="841250" y="2252875"/>
            <a:ext cx="5994000" cy="3770100"/>
          </a:xfrm>
          <a:prstGeom prst="rect">
            <a:avLst/>
          </a:prstGeom>
          <a:noFill/>
          <a:ln>
            <a:noFill/>
          </a:ln>
        </p:spPr>
        <p:txBody>
          <a:bodyPr spcFirstLastPara="1" wrap="square" lIns="91425" tIns="45700" rIns="91425" bIns="45700" anchor="t" anchorCtr="0">
            <a:noAutofit/>
          </a:bodyPr>
          <a:lstStyle/>
          <a:p>
            <a:pPr marL="228600" lvl="0" indent="-234950" algn="l" rtl="0">
              <a:lnSpc>
                <a:spcPct val="100000"/>
              </a:lnSpc>
              <a:spcBef>
                <a:spcPts val="0"/>
              </a:spcBef>
              <a:spcAft>
                <a:spcPts val="0"/>
              </a:spcAft>
              <a:buClr>
                <a:schemeClr val="dk1"/>
              </a:buClr>
              <a:buSzPts val="1600"/>
              <a:buFont typeface="Noto Sans Symbols"/>
              <a:buChar char="❑"/>
            </a:pPr>
            <a:r>
              <a:rPr lang="el-GR" sz="1600" dirty="0">
                <a:latin typeface="Tahoma"/>
                <a:ea typeface="Tahoma"/>
                <a:cs typeface="Tahoma"/>
                <a:sym typeface="Tahoma"/>
              </a:rPr>
              <a:t>Όταν θέλουμε να φτιάξουμε καινούρια συνθετικά</a:t>
            </a:r>
            <a:r>
              <a:rPr lang="en-US" sz="1600" dirty="0">
                <a:latin typeface="Tahoma"/>
                <a:ea typeface="Tahoma"/>
                <a:cs typeface="Tahoma"/>
                <a:sym typeface="Tahoma"/>
              </a:rPr>
              <a:t> </a:t>
            </a:r>
            <a:r>
              <a:rPr lang="el-GR" sz="1600" dirty="0">
                <a:latin typeface="Tahoma"/>
                <a:ea typeface="Tahoma"/>
                <a:cs typeface="Tahoma"/>
                <a:sym typeface="Tahoma"/>
              </a:rPr>
              <a:t>δείγματα, ξεκινούμε ρίχνοντας τυχαίο θόρυβο στον εκπαιδευμένο μας Generator. </a:t>
            </a:r>
            <a:endParaRPr sz="1600" dirty="0">
              <a:latin typeface="Tahoma"/>
              <a:ea typeface="Tahoma"/>
              <a:cs typeface="Tahoma"/>
              <a:sym typeface="Tahoma"/>
            </a:endParaRPr>
          </a:p>
          <a:p>
            <a:pPr marL="228600" lvl="0" indent="-234950" algn="l" rtl="0">
              <a:lnSpc>
                <a:spcPct val="100000"/>
              </a:lnSpc>
              <a:spcBef>
                <a:spcPts val="1000"/>
              </a:spcBef>
              <a:spcAft>
                <a:spcPts val="0"/>
              </a:spcAft>
              <a:buClr>
                <a:schemeClr val="dk1"/>
              </a:buClr>
              <a:buSzPts val="1600"/>
              <a:buFont typeface="Noto Sans Symbols"/>
              <a:buChar char="❑"/>
            </a:pPr>
            <a:r>
              <a:rPr lang="el-GR" sz="1600" dirty="0">
                <a:latin typeface="Tahoma"/>
                <a:ea typeface="Tahoma"/>
                <a:cs typeface="Tahoma"/>
                <a:sym typeface="Tahoma"/>
              </a:rPr>
              <a:t>Αυτός μετασχηματίζει κάθε θορυβώδες διάνυσμα σε ένα νέο δείγμα με 5 χαρακτηριστικά, μιμούμενος τη μορφή των πραγματικών δεδομένων. </a:t>
            </a:r>
            <a:endParaRPr sz="1600" dirty="0">
              <a:latin typeface="Tahoma"/>
              <a:ea typeface="Tahoma"/>
              <a:cs typeface="Tahoma"/>
              <a:sym typeface="Tahoma"/>
            </a:endParaRPr>
          </a:p>
          <a:p>
            <a:pPr marL="228600" lvl="0" indent="-234950" algn="l" rtl="0">
              <a:lnSpc>
                <a:spcPct val="100000"/>
              </a:lnSpc>
              <a:spcBef>
                <a:spcPts val="1000"/>
              </a:spcBef>
              <a:spcAft>
                <a:spcPts val="0"/>
              </a:spcAft>
              <a:buClr>
                <a:schemeClr val="dk1"/>
              </a:buClr>
              <a:buSzPts val="1600"/>
              <a:buFont typeface="Noto Sans Symbols"/>
              <a:buChar char="❑"/>
            </a:pPr>
            <a:r>
              <a:rPr lang="el-GR" sz="1600" dirty="0">
                <a:latin typeface="Tahoma"/>
                <a:ea typeface="Tahoma"/>
                <a:cs typeface="Tahoma"/>
                <a:sym typeface="Tahoma"/>
              </a:rPr>
              <a:t>Στο τέλος πολλαπλασιάζουμε με την τυπική απόκλιση και προσθέτουμε τον μέσο όρο των αρχικών δεδομένων, για να επαναφέρουμε τα μεγέθη στα σωστά τους πλαίσια. </a:t>
            </a:r>
            <a:endParaRPr sz="1600" dirty="0">
              <a:latin typeface="Tahoma"/>
              <a:ea typeface="Tahoma"/>
              <a:cs typeface="Tahoma"/>
              <a:sym typeface="Tahoma"/>
            </a:endParaRPr>
          </a:p>
          <a:p>
            <a:pPr marL="228600" lvl="0" indent="-234950" algn="l" rtl="0">
              <a:lnSpc>
                <a:spcPct val="100000"/>
              </a:lnSpc>
              <a:spcBef>
                <a:spcPts val="1000"/>
              </a:spcBef>
              <a:spcAft>
                <a:spcPts val="0"/>
              </a:spcAft>
              <a:buClr>
                <a:schemeClr val="dk1"/>
              </a:buClr>
              <a:buSzPts val="1600"/>
              <a:buFont typeface="Noto Sans Symbols"/>
              <a:buChar char="❑"/>
            </a:pPr>
            <a:r>
              <a:rPr lang="el-GR" sz="1600" dirty="0">
                <a:latin typeface="Tahoma"/>
                <a:ea typeface="Tahoma"/>
                <a:cs typeface="Tahoma"/>
                <a:sym typeface="Tahoma"/>
              </a:rPr>
              <a:t>Παράγουμε 100 νέα δείγματα, καθένα με 5 χαρακτηριστικά, χωρίς να μετρήσουμε τίποτα στον έξω κόσμο</a:t>
            </a:r>
            <a:r>
              <a:rPr lang="en-US" sz="1600" dirty="0">
                <a:latin typeface="Tahoma"/>
                <a:ea typeface="Tahoma"/>
                <a:cs typeface="Tahoma"/>
                <a:sym typeface="Tahoma"/>
              </a:rPr>
              <a:t>,</a:t>
            </a:r>
            <a:r>
              <a:rPr lang="el-GR" sz="1600" dirty="0">
                <a:latin typeface="Tahoma"/>
                <a:ea typeface="Tahoma"/>
                <a:cs typeface="Tahoma"/>
                <a:sym typeface="Tahoma"/>
              </a:rPr>
              <a:t> όλα βασίζονται στην «τέχνη» του Generator που μετέτρεψε τυχαίο θόρυβο σε ρεαλιστικά δεδομένα.</a:t>
            </a:r>
            <a:endParaRPr sz="1600" dirty="0"/>
          </a:p>
        </p:txBody>
      </p:sp>
      <p:pic>
        <p:nvPicPr>
          <p:cNvPr id="648" name="Google Shape;648;p50" descr="A group of gears with text&#10;&#10;AI-generated content may be incorrect."/>
          <p:cNvPicPr preferRelativeResize="0"/>
          <p:nvPr/>
        </p:nvPicPr>
        <p:blipFill rotWithShape="1">
          <a:blip r:embed="rId3">
            <a:alphaModFix/>
          </a:blip>
          <a:srcRect t="19061"/>
          <a:stretch/>
        </p:blipFill>
        <p:spPr>
          <a:xfrm>
            <a:off x="7487412" y="2085043"/>
            <a:ext cx="4465319" cy="3687963"/>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53"/>
        <p:cNvGrpSpPr/>
        <p:nvPr/>
      </p:nvGrpSpPr>
      <p:grpSpPr>
        <a:xfrm>
          <a:off x="0" y="0"/>
          <a:ext cx="0" cy="0"/>
          <a:chOff x="0" y="0"/>
          <a:chExt cx="0" cy="0"/>
        </a:xfrm>
      </p:grpSpPr>
      <p:sp>
        <p:nvSpPr>
          <p:cNvPr id="654" name="Google Shape;654;p51"/>
          <p:cNvSpPr/>
          <p:nvPr/>
        </p:nvSpPr>
        <p:spPr>
          <a:xfrm>
            <a:off x="0" y="-210066"/>
            <a:ext cx="11718061" cy="6591409"/>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venir"/>
              <a:ea typeface="Avenir"/>
              <a:cs typeface="Avenir"/>
              <a:sym typeface="Avenir"/>
            </a:endParaRPr>
          </a:p>
        </p:txBody>
      </p:sp>
      <p:sp>
        <p:nvSpPr>
          <p:cNvPr id="655" name="Google Shape;655;p51"/>
          <p:cNvSpPr txBox="1">
            <a:spLocks noGrp="1"/>
          </p:cNvSpPr>
          <p:nvPr>
            <p:ph type="title"/>
          </p:nvPr>
        </p:nvSpPr>
        <p:spPr>
          <a:xfrm>
            <a:off x="411480" y="991443"/>
            <a:ext cx="4443154" cy="1087819"/>
          </a:xfrm>
          <a:prstGeom prst="rect">
            <a:avLst/>
          </a:prstGeom>
          <a:noFill/>
          <a:ln>
            <a:noFill/>
          </a:ln>
        </p:spPr>
        <p:txBody>
          <a:bodyPr spcFirstLastPara="1" wrap="square" lIns="91425" tIns="45700" rIns="91425" bIns="45700" anchor="b" anchorCtr="0">
            <a:normAutofit fontScale="90000"/>
          </a:bodyPr>
          <a:lstStyle/>
          <a:p>
            <a:pPr marL="0" lvl="0" indent="0" algn="l" rtl="0">
              <a:lnSpc>
                <a:spcPct val="90000"/>
              </a:lnSpc>
              <a:spcBef>
                <a:spcPts val="0"/>
              </a:spcBef>
              <a:spcAft>
                <a:spcPts val="0"/>
              </a:spcAft>
              <a:buClr>
                <a:schemeClr val="dk1"/>
              </a:buClr>
              <a:buSzPct val="100000"/>
              <a:buFont typeface="Avenir"/>
              <a:buNone/>
            </a:pPr>
            <a:r>
              <a:rPr lang="el-GR" sz="3400" dirty="0" err="1">
                <a:latin typeface="Tahoma"/>
                <a:ea typeface="Tahoma"/>
                <a:cs typeface="Tahoma"/>
                <a:sym typeface="Tahoma"/>
              </a:rPr>
              <a:t>Οπτικοποίηση</a:t>
            </a:r>
            <a:r>
              <a:rPr lang="el-GR" sz="3400" dirty="0">
                <a:latin typeface="Tahoma"/>
                <a:ea typeface="Tahoma"/>
                <a:cs typeface="Tahoma"/>
                <a:sym typeface="Tahoma"/>
              </a:rPr>
              <a:t> Συνθετικών Δεδομένων</a:t>
            </a:r>
            <a:endParaRPr dirty="0">
              <a:latin typeface="Tahoma"/>
              <a:ea typeface="Tahoma"/>
              <a:cs typeface="Tahoma"/>
              <a:sym typeface="Tahoma"/>
            </a:endParaRPr>
          </a:p>
        </p:txBody>
      </p:sp>
      <p:sp>
        <p:nvSpPr>
          <p:cNvPr id="656" name="Google Shape;656;p51"/>
          <p:cNvSpPr/>
          <p:nvPr/>
        </p:nvSpPr>
        <p:spPr>
          <a:xfrm rot="5400000">
            <a:off x="649223" y="387939"/>
            <a:ext cx="73152" cy="54864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FFFFFF"/>
              </a:solidFill>
              <a:latin typeface="Calibri"/>
              <a:ea typeface="Calibri"/>
              <a:cs typeface="Calibri"/>
              <a:sym typeface="Calibri"/>
            </a:endParaRPr>
          </a:p>
        </p:txBody>
      </p:sp>
      <p:sp>
        <p:nvSpPr>
          <p:cNvPr id="657" name="Google Shape;657;p51"/>
          <p:cNvSpPr/>
          <p:nvPr/>
        </p:nvSpPr>
        <p:spPr>
          <a:xfrm>
            <a:off x="411480" y="2285541"/>
            <a:ext cx="4389120" cy="18288"/>
          </a:xfrm>
          <a:prstGeom prst="rect">
            <a:avLst/>
          </a:prstGeom>
          <a:solidFill>
            <a:srgbClr val="D6BDD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FFFFFF"/>
              </a:solidFill>
              <a:latin typeface="Calibri"/>
              <a:ea typeface="Calibri"/>
              <a:cs typeface="Calibri"/>
              <a:sym typeface="Calibri"/>
            </a:endParaRPr>
          </a:p>
        </p:txBody>
      </p:sp>
      <p:sp>
        <p:nvSpPr>
          <p:cNvPr id="658" name="Google Shape;658;p51"/>
          <p:cNvSpPr txBox="1">
            <a:spLocks noGrp="1"/>
          </p:cNvSpPr>
          <p:nvPr>
            <p:ph type="body" idx="1"/>
          </p:nvPr>
        </p:nvSpPr>
        <p:spPr>
          <a:xfrm>
            <a:off x="411475" y="2285551"/>
            <a:ext cx="4443300" cy="4404300"/>
          </a:xfrm>
          <a:prstGeom prst="rect">
            <a:avLst/>
          </a:prstGeom>
          <a:noFill/>
          <a:ln>
            <a:noFill/>
          </a:ln>
        </p:spPr>
        <p:txBody>
          <a:bodyPr spcFirstLastPara="1" wrap="square" lIns="91425" tIns="45700" rIns="91425" bIns="45700" anchor="t" anchorCtr="0">
            <a:noAutofit/>
          </a:bodyPr>
          <a:lstStyle/>
          <a:p>
            <a:pPr marL="228600" lvl="0" indent="-241300" algn="l" rtl="0">
              <a:lnSpc>
                <a:spcPct val="100000"/>
              </a:lnSpc>
              <a:spcBef>
                <a:spcPts val="0"/>
              </a:spcBef>
              <a:spcAft>
                <a:spcPts val="0"/>
              </a:spcAft>
              <a:buClr>
                <a:schemeClr val="dk1"/>
              </a:buClr>
              <a:buSzPts val="1600"/>
              <a:buFont typeface="Noto Sans Symbols"/>
              <a:buChar char="❑"/>
            </a:pPr>
            <a:r>
              <a:rPr lang="el-GR" sz="1600" dirty="0">
                <a:latin typeface="Tahoma"/>
                <a:ea typeface="Tahoma"/>
                <a:cs typeface="Tahoma"/>
                <a:sym typeface="Tahoma"/>
              </a:rPr>
              <a:t>Ελέγχεται η ποιότητα των παραγόμενων συνθετικών δεδομένων ως προς τη </a:t>
            </a:r>
            <a:r>
              <a:rPr lang="el-GR" sz="1600" dirty="0" err="1">
                <a:latin typeface="Tahoma"/>
                <a:ea typeface="Tahoma"/>
                <a:cs typeface="Tahoma"/>
                <a:sym typeface="Tahoma"/>
              </a:rPr>
              <a:t>ρεαλιστικότητα</a:t>
            </a:r>
            <a:r>
              <a:rPr lang="el-GR" sz="1600" dirty="0">
                <a:latin typeface="Tahoma"/>
                <a:ea typeface="Tahoma"/>
                <a:cs typeface="Tahoma"/>
                <a:sym typeface="Tahoma"/>
              </a:rPr>
              <a:t> και τη στατιστική τους συμπεριφορά. Οι καμπύλες αποτυπώνουν την εξέλιξη των τιμών στα πρώτα 100 δείγματα, με </a:t>
            </a:r>
            <a:r>
              <a:rPr lang="el-GR" sz="1600" dirty="0" err="1">
                <a:latin typeface="Tahoma"/>
                <a:ea typeface="Tahoma"/>
                <a:cs typeface="Tahoma"/>
                <a:sym typeface="Tahoma"/>
              </a:rPr>
              <a:t>κανονικοποιημένες</a:t>
            </a:r>
            <a:r>
              <a:rPr lang="el-GR" sz="1600" dirty="0">
                <a:latin typeface="Tahoma"/>
                <a:ea typeface="Tahoma"/>
                <a:cs typeface="Tahoma"/>
                <a:sym typeface="Tahoma"/>
              </a:rPr>
              <a:t> τιμές για σύγκριση. </a:t>
            </a:r>
            <a:endParaRPr sz="1600" dirty="0"/>
          </a:p>
          <a:p>
            <a:pPr marL="228600" lvl="0" indent="-241300" algn="l" rtl="0">
              <a:lnSpc>
                <a:spcPct val="100000"/>
              </a:lnSpc>
              <a:spcBef>
                <a:spcPts val="1000"/>
              </a:spcBef>
              <a:spcAft>
                <a:spcPts val="0"/>
              </a:spcAft>
              <a:buClr>
                <a:schemeClr val="dk1"/>
              </a:buClr>
              <a:buSzPts val="1600"/>
              <a:buFont typeface="Noto Sans Symbols"/>
              <a:buChar char="❑"/>
            </a:pPr>
            <a:r>
              <a:rPr lang="el-GR" sz="1600" b="1" dirty="0">
                <a:latin typeface="Tahoma"/>
                <a:ea typeface="Tahoma"/>
                <a:cs typeface="Tahoma"/>
                <a:sym typeface="Tahoma"/>
              </a:rPr>
              <a:t>Αντιστοιχεί πολύ καλά και στις συσχετίσεις που είδαμε στο </a:t>
            </a:r>
            <a:r>
              <a:rPr lang="el-GR" sz="1600" b="1" dirty="0" err="1">
                <a:latin typeface="Tahoma"/>
                <a:ea typeface="Tahoma"/>
                <a:cs typeface="Tahoma"/>
                <a:sym typeface="Tahoma"/>
              </a:rPr>
              <a:t>heatmap</a:t>
            </a:r>
            <a:r>
              <a:rPr lang="el-GR" sz="1600" b="1" dirty="0">
                <a:latin typeface="Tahoma"/>
                <a:ea typeface="Tahoma"/>
                <a:cs typeface="Tahoma"/>
                <a:sym typeface="Tahoma"/>
              </a:rPr>
              <a:t>.</a:t>
            </a:r>
            <a:endParaRPr sz="1600" dirty="0"/>
          </a:p>
          <a:p>
            <a:pPr marL="228600" lvl="0" indent="-241300" algn="l" rtl="0">
              <a:lnSpc>
                <a:spcPct val="100000"/>
              </a:lnSpc>
              <a:spcBef>
                <a:spcPts val="1000"/>
              </a:spcBef>
              <a:spcAft>
                <a:spcPts val="0"/>
              </a:spcAft>
              <a:buClr>
                <a:schemeClr val="dk1"/>
              </a:buClr>
              <a:buSzPts val="1600"/>
              <a:buFont typeface="Noto Sans Symbols"/>
              <a:buChar char="❑"/>
            </a:pPr>
            <a:r>
              <a:rPr lang="el-GR" sz="1600" dirty="0">
                <a:latin typeface="Tahoma"/>
                <a:ea typeface="Tahoma"/>
                <a:cs typeface="Tahoma"/>
                <a:sym typeface="Tahoma"/>
              </a:rPr>
              <a:t>SMS In ↔ SMS </a:t>
            </a:r>
            <a:r>
              <a:rPr lang="el-GR" sz="1600" dirty="0" err="1">
                <a:latin typeface="Tahoma"/>
                <a:ea typeface="Tahoma"/>
                <a:cs typeface="Tahoma"/>
                <a:sym typeface="Tahoma"/>
              </a:rPr>
              <a:t>Out</a:t>
            </a:r>
            <a:r>
              <a:rPr lang="el-GR" sz="1600" dirty="0">
                <a:latin typeface="Tahoma"/>
                <a:ea typeface="Tahoma"/>
                <a:cs typeface="Tahoma"/>
                <a:sym typeface="Tahoma"/>
              </a:rPr>
              <a:t> (r≈0.58): Σε κάθε μεγάλο </a:t>
            </a:r>
            <a:r>
              <a:rPr lang="el-GR" sz="1600" dirty="0" err="1">
                <a:latin typeface="Tahoma"/>
                <a:ea typeface="Tahoma"/>
                <a:cs typeface="Tahoma"/>
                <a:sym typeface="Tahoma"/>
              </a:rPr>
              <a:t>spike</a:t>
            </a:r>
            <a:r>
              <a:rPr lang="el-GR" sz="1600" dirty="0">
                <a:latin typeface="Tahoma"/>
                <a:ea typeface="Tahoma"/>
                <a:cs typeface="Tahoma"/>
                <a:sym typeface="Tahoma"/>
              </a:rPr>
              <a:t> της μπλε καμπύλης (“</a:t>
            </a:r>
            <a:r>
              <a:rPr lang="el-GR" sz="1600" dirty="0" err="1">
                <a:latin typeface="Tahoma"/>
                <a:ea typeface="Tahoma"/>
                <a:cs typeface="Tahoma"/>
                <a:sym typeface="Tahoma"/>
              </a:rPr>
              <a:t>Generated</a:t>
            </a:r>
            <a:r>
              <a:rPr lang="el-GR" sz="1600" dirty="0">
                <a:latin typeface="Tahoma"/>
                <a:ea typeface="Tahoma"/>
                <a:cs typeface="Tahoma"/>
                <a:sym typeface="Tahoma"/>
              </a:rPr>
              <a:t> SMS In”) βλέπουμε σχεδόν ταυτόχρονα </a:t>
            </a:r>
            <a:r>
              <a:rPr lang="el-GR" sz="1600" dirty="0" err="1">
                <a:latin typeface="Tahoma"/>
                <a:ea typeface="Tahoma"/>
                <a:cs typeface="Tahoma"/>
                <a:sym typeface="Tahoma"/>
              </a:rPr>
              <a:t>spike</a:t>
            </a:r>
            <a:r>
              <a:rPr lang="el-GR" sz="1600" dirty="0">
                <a:latin typeface="Tahoma"/>
                <a:ea typeface="Tahoma"/>
                <a:cs typeface="Tahoma"/>
                <a:sym typeface="Tahoma"/>
              </a:rPr>
              <a:t> στην πορτοκαλί (“</a:t>
            </a:r>
            <a:r>
              <a:rPr lang="el-GR" sz="1600" dirty="0" err="1">
                <a:latin typeface="Tahoma"/>
                <a:ea typeface="Tahoma"/>
                <a:cs typeface="Tahoma"/>
                <a:sym typeface="Tahoma"/>
              </a:rPr>
              <a:t>Generated</a:t>
            </a:r>
            <a:r>
              <a:rPr lang="el-GR" sz="1600" dirty="0">
                <a:latin typeface="Tahoma"/>
                <a:ea typeface="Tahoma"/>
                <a:cs typeface="Tahoma"/>
                <a:sym typeface="Tahoma"/>
              </a:rPr>
              <a:t> SMS </a:t>
            </a:r>
            <a:r>
              <a:rPr lang="el-GR" sz="1600" dirty="0" err="1">
                <a:latin typeface="Tahoma"/>
                <a:ea typeface="Tahoma"/>
                <a:cs typeface="Tahoma"/>
                <a:sym typeface="Tahoma"/>
              </a:rPr>
              <a:t>Out</a:t>
            </a:r>
            <a:r>
              <a:rPr lang="el-GR" sz="1600" dirty="0">
                <a:latin typeface="Tahoma"/>
                <a:ea typeface="Tahoma"/>
                <a:cs typeface="Tahoma"/>
                <a:sym typeface="Tahoma"/>
              </a:rPr>
              <a:t>”). Αυτό αντανακλά την ισχυρή θετική συσχέτιση μεταξύ εισερχόμενων και εξερχόμενων μηνυμάτων.</a:t>
            </a:r>
            <a:endParaRPr sz="1600" dirty="0">
              <a:latin typeface="Tahoma"/>
              <a:ea typeface="Tahoma"/>
              <a:cs typeface="Tahoma"/>
              <a:sym typeface="Tahoma"/>
            </a:endParaRPr>
          </a:p>
        </p:txBody>
      </p:sp>
      <p:pic>
        <p:nvPicPr>
          <p:cNvPr id="3" name="Picture 2" descr="A graph showing a number of different colors&#10;&#10;AI-generated content may be incorrect.">
            <a:extLst>
              <a:ext uri="{FF2B5EF4-FFF2-40B4-BE49-F238E27FC236}">
                <a16:creationId xmlns:a16="http://schemas.microsoft.com/office/drawing/2014/main" id="{FA4734D7-D5CB-93A5-60E2-63B02244F176}"/>
              </a:ext>
            </a:extLst>
          </p:cNvPr>
          <p:cNvPicPr>
            <a:picLocks noChangeAspect="1"/>
          </p:cNvPicPr>
          <p:nvPr/>
        </p:nvPicPr>
        <p:blipFill>
          <a:blip r:embed="rId3"/>
          <a:stretch>
            <a:fillRect/>
          </a:stretch>
        </p:blipFill>
        <p:spPr>
          <a:xfrm>
            <a:off x="5402302" y="1967580"/>
            <a:ext cx="6514406" cy="4185163"/>
          </a:xfrm>
          <a:prstGeom prst="rect">
            <a:avLst/>
          </a:prstGeom>
          <a:ln>
            <a:noFill/>
          </a:ln>
          <a:effectLst>
            <a:outerShdw blurRad="190500" algn="tl" rotWithShape="0">
              <a:srgbClr val="000000">
                <a:alpha val="70000"/>
              </a:srgbClr>
            </a:outerShdw>
          </a:effectLst>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663"/>
        <p:cNvGrpSpPr/>
        <p:nvPr/>
      </p:nvGrpSpPr>
      <p:grpSpPr>
        <a:xfrm>
          <a:off x="0" y="0"/>
          <a:ext cx="0" cy="0"/>
          <a:chOff x="0" y="0"/>
          <a:chExt cx="0" cy="0"/>
        </a:xfrm>
      </p:grpSpPr>
      <p:sp>
        <p:nvSpPr>
          <p:cNvPr id="664" name="Google Shape;664;p52"/>
          <p:cNvSpPr txBox="1">
            <a:spLocks noGrp="1"/>
          </p:cNvSpPr>
          <p:nvPr>
            <p:ph type="title"/>
          </p:nvPr>
        </p:nvSpPr>
        <p:spPr>
          <a:xfrm>
            <a:off x="1115568" y="548640"/>
            <a:ext cx="10168128" cy="1179576"/>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000"/>
              <a:buFont typeface="Avenir"/>
              <a:buNone/>
            </a:pPr>
            <a:r>
              <a:rPr lang="el-GR" dirty="0" err="1">
                <a:latin typeface="Tahoma" panose="020B0604030504040204" pitchFamily="34" charset="0"/>
                <a:ea typeface="Tahoma" panose="020B0604030504040204" pitchFamily="34" charset="0"/>
                <a:cs typeface="Tahoma" panose="020B0604030504040204" pitchFamily="34" charset="0"/>
              </a:rPr>
              <a:t>Υπερπαράμετροι</a:t>
            </a:r>
            <a:r>
              <a:rPr lang="el-GR" dirty="0">
                <a:latin typeface="Tahoma" panose="020B0604030504040204" pitchFamily="34" charset="0"/>
                <a:ea typeface="Tahoma" panose="020B0604030504040204" pitchFamily="34" charset="0"/>
                <a:cs typeface="Tahoma" panose="020B0604030504040204" pitchFamily="34" charset="0"/>
              </a:rPr>
              <a:t> Εκπαίδευσης (I) </a:t>
            </a:r>
            <a:endParaRPr dirty="0">
              <a:latin typeface="Tahoma" panose="020B0604030504040204" pitchFamily="34" charset="0"/>
              <a:ea typeface="Tahoma" panose="020B0604030504040204" pitchFamily="34" charset="0"/>
              <a:cs typeface="Tahoma" panose="020B0604030504040204" pitchFamily="34" charset="0"/>
            </a:endParaRPr>
          </a:p>
        </p:txBody>
      </p:sp>
      <p:sp>
        <p:nvSpPr>
          <p:cNvPr id="665" name="Google Shape;665;p52"/>
          <p:cNvSpPr txBox="1">
            <a:spLocks noGrp="1"/>
          </p:cNvSpPr>
          <p:nvPr>
            <p:ph type="body" idx="1"/>
          </p:nvPr>
        </p:nvSpPr>
        <p:spPr>
          <a:xfrm>
            <a:off x="1115568" y="2478023"/>
            <a:ext cx="10168128" cy="3951351"/>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110000"/>
              </a:lnSpc>
              <a:spcBef>
                <a:spcPts val="0"/>
              </a:spcBef>
              <a:spcAft>
                <a:spcPts val="0"/>
              </a:spcAft>
              <a:buClr>
                <a:schemeClr val="dk1"/>
              </a:buClr>
              <a:buSzPts val="1700"/>
              <a:buFont typeface="Noto Sans Symbols"/>
              <a:buChar char="❑"/>
            </a:pPr>
            <a:r>
              <a:rPr lang="el-GR" sz="1700" b="1" dirty="0" err="1">
                <a:latin typeface="Tahoma"/>
                <a:ea typeface="Tahoma"/>
                <a:cs typeface="Tahoma"/>
                <a:sym typeface="Tahoma"/>
              </a:rPr>
              <a:t>batch_size</a:t>
            </a:r>
            <a:r>
              <a:rPr lang="el-GR" sz="1700" b="1" dirty="0">
                <a:latin typeface="Tahoma"/>
                <a:ea typeface="Tahoma"/>
                <a:cs typeface="Tahoma"/>
                <a:sym typeface="Tahoma"/>
              </a:rPr>
              <a:t> = 128: </a:t>
            </a:r>
            <a:r>
              <a:rPr lang="el-GR" sz="1700" dirty="0">
                <a:latin typeface="Tahoma"/>
                <a:ea typeface="Tahoma"/>
                <a:cs typeface="Tahoma"/>
                <a:sym typeface="Tahoma"/>
              </a:rPr>
              <a:t>Καθορίζει πόσα δείγματα χρησιμοποιούνται σε κάθε βήμα </a:t>
            </a:r>
            <a:r>
              <a:rPr lang="el-GR" sz="1700" dirty="0" err="1">
                <a:latin typeface="Tahoma"/>
                <a:ea typeface="Tahoma"/>
                <a:cs typeface="Tahoma"/>
                <a:sym typeface="Tahoma"/>
              </a:rPr>
              <a:t>gradient</a:t>
            </a:r>
            <a:r>
              <a:rPr lang="el-GR" sz="1700" dirty="0">
                <a:latin typeface="Tahoma"/>
                <a:ea typeface="Tahoma"/>
                <a:cs typeface="Tahoma"/>
                <a:sym typeface="Tahoma"/>
              </a:rPr>
              <a:t> </a:t>
            </a:r>
            <a:r>
              <a:rPr lang="el-GR" sz="1700" dirty="0" err="1">
                <a:latin typeface="Tahoma"/>
                <a:ea typeface="Tahoma"/>
                <a:cs typeface="Tahoma"/>
                <a:sym typeface="Tahoma"/>
              </a:rPr>
              <a:t>update</a:t>
            </a:r>
            <a:r>
              <a:rPr lang="el-GR" sz="1700" dirty="0">
                <a:latin typeface="Tahoma"/>
                <a:ea typeface="Tahoma"/>
                <a:cs typeface="Tahoma"/>
                <a:sym typeface="Tahoma"/>
              </a:rPr>
              <a:t>. Δίνει καλή ισορροπία μεταξύ σταθερότητας των </a:t>
            </a:r>
            <a:r>
              <a:rPr lang="el-GR" sz="1700" dirty="0" err="1">
                <a:latin typeface="Tahoma"/>
                <a:ea typeface="Tahoma"/>
                <a:cs typeface="Tahoma"/>
                <a:sym typeface="Tahoma"/>
              </a:rPr>
              <a:t>gradients</a:t>
            </a:r>
            <a:r>
              <a:rPr lang="el-GR" sz="1700" dirty="0">
                <a:latin typeface="Tahoma"/>
                <a:ea typeface="Tahoma"/>
                <a:cs typeface="Tahoma"/>
                <a:sym typeface="Tahoma"/>
              </a:rPr>
              <a:t> (λιγότερος θόρυβος από πολύ μικρά </a:t>
            </a:r>
            <a:r>
              <a:rPr lang="el-GR" sz="1700" dirty="0" err="1">
                <a:latin typeface="Tahoma"/>
                <a:ea typeface="Tahoma"/>
                <a:cs typeface="Tahoma"/>
                <a:sym typeface="Tahoma"/>
              </a:rPr>
              <a:t>batches</a:t>
            </a:r>
            <a:r>
              <a:rPr lang="el-GR" sz="1700" dirty="0">
                <a:latin typeface="Tahoma"/>
                <a:ea typeface="Tahoma"/>
                <a:cs typeface="Tahoma"/>
                <a:sym typeface="Tahoma"/>
              </a:rPr>
              <a:t>) και ταχύτητας/χρήσης μνήμης GPU (μεγάλα </a:t>
            </a:r>
            <a:r>
              <a:rPr lang="el-GR" sz="1700" dirty="0" err="1">
                <a:latin typeface="Tahoma"/>
                <a:ea typeface="Tahoma"/>
                <a:cs typeface="Tahoma"/>
                <a:sym typeface="Tahoma"/>
              </a:rPr>
              <a:t>batches</a:t>
            </a:r>
            <a:r>
              <a:rPr lang="el-GR" sz="1700" dirty="0">
                <a:latin typeface="Tahoma"/>
                <a:ea typeface="Tahoma"/>
                <a:cs typeface="Tahoma"/>
                <a:sym typeface="Tahoma"/>
              </a:rPr>
              <a:t> μπορεί να μην χωράνε).</a:t>
            </a:r>
            <a:endParaRPr sz="1700" dirty="0">
              <a:latin typeface="Tahoma"/>
              <a:ea typeface="Tahoma"/>
              <a:cs typeface="Tahoma"/>
              <a:sym typeface="Tahoma"/>
            </a:endParaRPr>
          </a:p>
          <a:p>
            <a:pPr marL="228600" lvl="0" indent="-228600" algn="l" rtl="0">
              <a:lnSpc>
                <a:spcPct val="110000"/>
              </a:lnSpc>
              <a:spcBef>
                <a:spcPts val="1000"/>
              </a:spcBef>
              <a:spcAft>
                <a:spcPts val="0"/>
              </a:spcAft>
              <a:buClr>
                <a:schemeClr val="dk1"/>
              </a:buClr>
              <a:buSzPts val="1700"/>
              <a:buFont typeface="Noto Sans Symbols"/>
              <a:buChar char="❑"/>
            </a:pPr>
            <a:r>
              <a:rPr lang="el-GR" sz="1700" b="1" dirty="0">
                <a:latin typeface="Tahoma"/>
                <a:ea typeface="Tahoma"/>
                <a:cs typeface="Tahoma"/>
                <a:sym typeface="Tahoma"/>
              </a:rPr>
              <a:t>LAMBDA = 10.0: </a:t>
            </a:r>
            <a:r>
              <a:rPr lang="el-GR" sz="1700" dirty="0">
                <a:latin typeface="Tahoma"/>
                <a:ea typeface="Tahoma"/>
                <a:cs typeface="Tahoma"/>
                <a:sym typeface="Tahoma"/>
              </a:rPr>
              <a:t>Συντελεστής για το </a:t>
            </a:r>
            <a:r>
              <a:rPr lang="el-GR" sz="1700" dirty="0" err="1">
                <a:latin typeface="Tahoma"/>
                <a:ea typeface="Tahoma"/>
                <a:cs typeface="Tahoma"/>
                <a:sym typeface="Tahoma"/>
              </a:rPr>
              <a:t>gradient</a:t>
            </a:r>
            <a:r>
              <a:rPr lang="el-GR" sz="1700" dirty="0">
                <a:latin typeface="Tahoma"/>
                <a:ea typeface="Tahoma"/>
                <a:cs typeface="Tahoma"/>
                <a:sym typeface="Tahoma"/>
              </a:rPr>
              <a:t> </a:t>
            </a:r>
            <a:r>
              <a:rPr lang="el-GR" sz="1700" dirty="0" err="1">
                <a:latin typeface="Tahoma"/>
                <a:ea typeface="Tahoma"/>
                <a:cs typeface="Tahoma"/>
                <a:sym typeface="Tahoma"/>
              </a:rPr>
              <a:t>penalty</a:t>
            </a:r>
            <a:r>
              <a:rPr lang="el-GR" sz="1700" dirty="0">
                <a:latin typeface="Tahoma"/>
                <a:ea typeface="Tahoma"/>
                <a:cs typeface="Tahoma"/>
                <a:sym typeface="Tahoma"/>
              </a:rPr>
              <a:t> στον WGAN-GP. Το αρχικό WGAN-GP </a:t>
            </a:r>
            <a:r>
              <a:rPr lang="el-GR" sz="1700" dirty="0" err="1">
                <a:latin typeface="Tahoma"/>
                <a:ea typeface="Tahoma"/>
                <a:cs typeface="Tahoma"/>
                <a:sym typeface="Tahoma"/>
              </a:rPr>
              <a:t>paper</a:t>
            </a:r>
            <a:r>
              <a:rPr lang="el-GR" sz="1700" dirty="0">
                <a:latin typeface="Tahoma"/>
                <a:ea typeface="Tahoma"/>
                <a:cs typeface="Tahoma"/>
                <a:sym typeface="Tahoma"/>
              </a:rPr>
              <a:t> (</a:t>
            </a:r>
            <a:r>
              <a:rPr lang="el-GR" sz="1700" dirty="0" err="1">
                <a:latin typeface="Tahoma"/>
                <a:ea typeface="Tahoma"/>
                <a:cs typeface="Tahoma"/>
                <a:sym typeface="Tahoma"/>
              </a:rPr>
              <a:t>Gulrajani</a:t>
            </a:r>
            <a:r>
              <a:rPr lang="el-GR" sz="1700" dirty="0">
                <a:latin typeface="Tahoma"/>
                <a:ea typeface="Tahoma"/>
                <a:cs typeface="Tahoma"/>
                <a:sym typeface="Tahoma"/>
              </a:rPr>
              <a:t> </a:t>
            </a:r>
            <a:r>
              <a:rPr lang="el-GR" sz="1700" dirty="0" err="1">
                <a:latin typeface="Tahoma"/>
                <a:ea typeface="Tahoma"/>
                <a:cs typeface="Tahoma"/>
                <a:sym typeface="Tahoma"/>
              </a:rPr>
              <a:t>et</a:t>
            </a:r>
            <a:r>
              <a:rPr lang="el-GR" sz="1700" dirty="0">
                <a:latin typeface="Tahoma"/>
                <a:ea typeface="Tahoma"/>
                <a:cs typeface="Tahoma"/>
                <a:sym typeface="Tahoma"/>
              </a:rPr>
              <a:t> </a:t>
            </a:r>
            <a:r>
              <a:rPr lang="el-GR" sz="1700" dirty="0" err="1">
                <a:latin typeface="Tahoma"/>
                <a:ea typeface="Tahoma"/>
                <a:cs typeface="Tahoma"/>
                <a:sym typeface="Tahoma"/>
              </a:rPr>
              <a:t>al</a:t>
            </a:r>
            <a:r>
              <a:rPr lang="el-GR" sz="1700" dirty="0">
                <a:latin typeface="Tahoma"/>
                <a:ea typeface="Tahoma"/>
                <a:cs typeface="Tahoma"/>
                <a:sym typeface="Tahoma"/>
              </a:rPr>
              <a:t>.) διαπίστωσε ότι λ≈10 ισορροπεί την ποινή ώστε ο κριτής να παραμένει </a:t>
            </a:r>
            <a:r>
              <a:rPr lang="el-GR" sz="1700" dirty="0" err="1">
                <a:latin typeface="Tahoma"/>
                <a:ea typeface="Tahoma"/>
                <a:cs typeface="Tahoma"/>
                <a:sym typeface="Tahoma"/>
              </a:rPr>
              <a:t>Lipschitz</a:t>
            </a:r>
            <a:r>
              <a:rPr lang="el-GR" sz="1700" dirty="0">
                <a:latin typeface="Tahoma"/>
                <a:ea typeface="Tahoma"/>
                <a:cs typeface="Tahoma"/>
                <a:sym typeface="Tahoma"/>
              </a:rPr>
              <a:t> χωρίς να κυριαρχεί στο </a:t>
            </a:r>
            <a:r>
              <a:rPr lang="el-GR" sz="1700" dirty="0" err="1">
                <a:latin typeface="Tahoma"/>
                <a:ea typeface="Tahoma"/>
                <a:cs typeface="Tahoma"/>
                <a:sym typeface="Tahoma"/>
              </a:rPr>
              <a:t>loss</a:t>
            </a:r>
            <a:r>
              <a:rPr lang="el-GR" sz="1700" dirty="0">
                <a:latin typeface="Tahoma"/>
                <a:ea typeface="Tahoma"/>
                <a:cs typeface="Tahoma"/>
                <a:sym typeface="Tahoma"/>
              </a:rPr>
              <a:t>.</a:t>
            </a:r>
            <a:endParaRPr sz="1700" dirty="0">
              <a:latin typeface="Tahoma"/>
              <a:ea typeface="Tahoma"/>
              <a:cs typeface="Tahoma"/>
              <a:sym typeface="Tahoma"/>
            </a:endParaRPr>
          </a:p>
          <a:p>
            <a:pPr marL="228600" lvl="0" indent="-228600" algn="l" rtl="0">
              <a:lnSpc>
                <a:spcPct val="110000"/>
              </a:lnSpc>
              <a:spcBef>
                <a:spcPts val="1000"/>
              </a:spcBef>
              <a:spcAft>
                <a:spcPts val="0"/>
              </a:spcAft>
              <a:buClr>
                <a:schemeClr val="dk1"/>
              </a:buClr>
              <a:buSzPts val="1700"/>
              <a:buFont typeface="Noto Sans Symbols"/>
              <a:buChar char="❑"/>
            </a:pPr>
            <a:r>
              <a:rPr lang="el-GR" sz="1700" b="1" dirty="0" err="1">
                <a:latin typeface="Tahoma"/>
                <a:ea typeface="Tahoma"/>
                <a:cs typeface="Tahoma"/>
                <a:sym typeface="Tahoma"/>
              </a:rPr>
              <a:t>latent_dim</a:t>
            </a:r>
            <a:r>
              <a:rPr lang="el-GR" sz="1700" b="1" dirty="0">
                <a:latin typeface="Tahoma"/>
                <a:ea typeface="Tahoma"/>
                <a:cs typeface="Tahoma"/>
                <a:sym typeface="Tahoma"/>
              </a:rPr>
              <a:t> = 16: </a:t>
            </a:r>
            <a:r>
              <a:rPr lang="el-GR" sz="1700" dirty="0">
                <a:latin typeface="Tahoma"/>
                <a:ea typeface="Tahoma"/>
                <a:cs typeface="Tahoma"/>
                <a:sym typeface="Tahoma"/>
              </a:rPr>
              <a:t>Διάσταση του θορύβου 𝑧 που εισάγεται στον Generator. Δίνει αρκετή χωρητικότητα για ποικιλία συνθετικών δειγμάτων χωρίς να δυσκολεύει υπερβολικά την εκπαίδευση.</a:t>
            </a:r>
            <a:endParaRPr dirty="0"/>
          </a:p>
          <a:p>
            <a:pPr marL="228600" lvl="0" indent="-228600" algn="l" rtl="0">
              <a:lnSpc>
                <a:spcPct val="110000"/>
              </a:lnSpc>
              <a:spcBef>
                <a:spcPts val="1000"/>
              </a:spcBef>
              <a:spcAft>
                <a:spcPts val="0"/>
              </a:spcAft>
              <a:buClr>
                <a:schemeClr val="dk1"/>
              </a:buClr>
              <a:buSzPts val="1700"/>
              <a:buFont typeface="Noto Sans Symbols"/>
              <a:buChar char="❑"/>
            </a:pPr>
            <a:r>
              <a:rPr lang="el-GR" sz="1700" b="1" dirty="0" err="1">
                <a:latin typeface="Tahoma"/>
                <a:ea typeface="Tahoma"/>
                <a:cs typeface="Tahoma"/>
                <a:sym typeface="Tahoma"/>
              </a:rPr>
              <a:t>current_learning_rate</a:t>
            </a:r>
            <a:r>
              <a:rPr lang="el-GR" sz="1700" b="1" dirty="0">
                <a:latin typeface="Tahoma"/>
                <a:ea typeface="Tahoma"/>
                <a:cs typeface="Tahoma"/>
                <a:sym typeface="Tahoma"/>
              </a:rPr>
              <a:t> = 0.0001 &amp; </a:t>
            </a:r>
            <a:r>
              <a:rPr lang="el-GR" sz="1700" b="1" dirty="0" err="1">
                <a:latin typeface="Tahoma"/>
                <a:ea typeface="Tahoma"/>
                <a:cs typeface="Tahoma"/>
                <a:sym typeface="Tahoma"/>
              </a:rPr>
              <a:t>Adam</a:t>
            </a:r>
            <a:r>
              <a:rPr lang="el-GR" sz="1700" b="1" dirty="0">
                <a:latin typeface="Tahoma"/>
                <a:ea typeface="Tahoma"/>
                <a:cs typeface="Tahoma"/>
                <a:sym typeface="Tahoma"/>
              </a:rPr>
              <a:t> </a:t>
            </a:r>
            <a:r>
              <a:rPr lang="el-GR" sz="1700" b="1" dirty="0" err="1">
                <a:latin typeface="Tahoma"/>
                <a:ea typeface="Tahoma"/>
                <a:cs typeface="Tahoma"/>
                <a:sym typeface="Tahoma"/>
              </a:rPr>
              <a:t>βeta</a:t>
            </a:r>
            <a:r>
              <a:rPr lang="el-GR" sz="1700" b="1" dirty="0">
                <a:latin typeface="Tahoma"/>
                <a:ea typeface="Tahoma"/>
                <a:cs typeface="Tahoma"/>
                <a:sym typeface="Tahoma"/>
              </a:rPr>
              <a:t>₁ = 0.5: </a:t>
            </a:r>
            <a:r>
              <a:rPr lang="el-GR" sz="1700" dirty="0">
                <a:latin typeface="Tahoma"/>
                <a:ea typeface="Tahoma"/>
                <a:cs typeface="Tahoma"/>
                <a:sym typeface="Tahoma"/>
              </a:rPr>
              <a:t>Αρχικό </a:t>
            </a:r>
            <a:r>
              <a:rPr lang="el-GR" sz="1700" dirty="0" err="1">
                <a:latin typeface="Tahoma"/>
                <a:ea typeface="Tahoma"/>
                <a:cs typeface="Tahoma"/>
                <a:sym typeface="Tahoma"/>
              </a:rPr>
              <a:t>learning</a:t>
            </a:r>
            <a:r>
              <a:rPr lang="el-GR" sz="1700" dirty="0">
                <a:latin typeface="Tahoma"/>
                <a:ea typeface="Tahoma"/>
                <a:cs typeface="Tahoma"/>
                <a:sym typeface="Tahoma"/>
              </a:rPr>
              <a:t> </a:t>
            </a:r>
            <a:r>
              <a:rPr lang="el-GR" sz="1700" dirty="0" err="1">
                <a:latin typeface="Tahoma"/>
                <a:ea typeface="Tahoma"/>
                <a:cs typeface="Tahoma"/>
                <a:sym typeface="Tahoma"/>
              </a:rPr>
              <a:t>rate</a:t>
            </a:r>
            <a:r>
              <a:rPr lang="el-GR" sz="1700" dirty="0">
                <a:latin typeface="Tahoma"/>
                <a:ea typeface="Tahoma"/>
                <a:cs typeface="Tahoma"/>
                <a:sym typeface="Tahoma"/>
              </a:rPr>
              <a:t> και για τους δύο </a:t>
            </a:r>
            <a:r>
              <a:rPr lang="el-GR" sz="1700" dirty="0" err="1">
                <a:latin typeface="Tahoma"/>
                <a:ea typeface="Tahoma"/>
                <a:cs typeface="Tahoma"/>
                <a:sym typeface="Tahoma"/>
              </a:rPr>
              <a:t>Adam</a:t>
            </a:r>
            <a:r>
              <a:rPr lang="el-GR" sz="1700" dirty="0">
                <a:latin typeface="Tahoma"/>
                <a:ea typeface="Tahoma"/>
                <a:cs typeface="Tahoma"/>
                <a:sym typeface="Tahoma"/>
              </a:rPr>
              <a:t> </a:t>
            </a:r>
            <a:r>
              <a:rPr lang="el-GR" sz="1700" dirty="0" err="1">
                <a:latin typeface="Tahoma"/>
                <a:ea typeface="Tahoma"/>
                <a:cs typeface="Tahoma"/>
                <a:sym typeface="Tahoma"/>
              </a:rPr>
              <a:t>optimizers</a:t>
            </a:r>
            <a:r>
              <a:rPr lang="el-GR" sz="1700" dirty="0">
                <a:latin typeface="Tahoma"/>
                <a:ea typeface="Tahoma"/>
                <a:cs typeface="Tahoma"/>
                <a:sym typeface="Tahoma"/>
              </a:rPr>
              <a:t>. Αν οι αλλαγές στα βάρη του δικτύου είναι πολύ μεγάλες και απότομες, τότε είτε ο Generator είτε ο </a:t>
            </a:r>
            <a:r>
              <a:rPr lang="en-GB" sz="1700" dirty="0">
                <a:latin typeface="Tahoma"/>
                <a:ea typeface="Tahoma"/>
                <a:cs typeface="Tahoma"/>
                <a:sym typeface="Tahoma"/>
              </a:rPr>
              <a:t>Critic</a:t>
            </a:r>
            <a:r>
              <a:rPr lang="el-GR" sz="1700" dirty="0">
                <a:latin typeface="Tahoma"/>
                <a:ea typeface="Tahoma"/>
                <a:cs typeface="Tahoma"/>
                <a:sym typeface="Tahoma"/>
              </a:rPr>
              <a:t> μπορεί να «ξεφύγει» και να μάθει πολύ πιο γρήγορα από τον άλλο. Μειώνοντας το </a:t>
            </a:r>
            <a:r>
              <a:rPr lang="el-GR" sz="1700" dirty="0" err="1">
                <a:latin typeface="Tahoma"/>
                <a:ea typeface="Tahoma"/>
                <a:cs typeface="Tahoma"/>
                <a:sym typeface="Tahoma"/>
              </a:rPr>
              <a:t>beta</a:t>
            </a:r>
            <a:r>
              <a:rPr lang="el-GR" sz="1700" dirty="0">
                <a:latin typeface="Tahoma"/>
                <a:ea typeface="Tahoma"/>
                <a:cs typeface="Tahoma"/>
                <a:sym typeface="Tahoma"/>
              </a:rPr>
              <a:t>₁=0.5 φροντίζουμε οι ενημερώσεις να γίνονται πιο μικρές και ήπιες, ώστε και οι δύο να μαθαίνουν παράλληλα και σταθερά. </a:t>
            </a:r>
            <a:endParaRPr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669"/>
        <p:cNvGrpSpPr/>
        <p:nvPr/>
      </p:nvGrpSpPr>
      <p:grpSpPr>
        <a:xfrm>
          <a:off x="0" y="0"/>
          <a:ext cx="0" cy="0"/>
          <a:chOff x="0" y="0"/>
          <a:chExt cx="0" cy="0"/>
        </a:xfrm>
      </p:grpSpPr>
      <p:sp>
        <p:nvSpPr>
          <p:cNvPr id="670" name="Google Shape;670;p53"/>
          <p:cNvSpPr txBox="1">
            <a:spLocks noGrp="1"/>
          </p:cNvSpPr>
          <p:nvPr>
            <p:ph type="title"/>
          </p:nvPr>
        </p:nvSpPr>
        <p:spPr>
          <a:xfrm>
            <a:off x="1115568" y="548640"/>
            <a:ext cx="10168128" cy="1179576"/>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000"/>
              <a:buFont typeface="Avenir"/>
              <a:buNone/>
            </a:pPr>
            <a:r>
              <a:rPr lang="el-GR" dirty="0" err="1">
                <a:latin typeface="Tahoma" panose="020B0604030504040204" pitchFamily="34" charset="0"/>
                <a:ea typeface="Tahoma" panose="020B0604030504040204" pitchFamily="34" charset="0"/>
                <a:cs typeface="Tahoma" panose="020B0604030504040204" pitchFamily="34" charset="0"/>
              </a:rPr>
              <a:t>Υπερπαράμετροι</a:t>
            </a:r>
            <a:r>
              <a:rPr lang="el-GR" dirty="0">
                <a:latin typeface="Tahoma" panose="020B0604030504040204" pitchFamily="34" charset="0"/>
                <a:ea typeface="Tahoma" panose="020B0604030504040204" pitchFamily="34" charset="0"/>
                <a:cs typeface="Tahoma" panose="020B0604030504040204" pitchFamily="34" charset="0"/>
              </a:rPr>
              <a:t> Εκπαίδευσης (II) </a:t>
            </a:r>
            <a:endParaRPr dirty="0">
              <a:latin typeface="Tahoma" panose="020B0604030504040204" pitchFamily="34" charset="0"/>
              <a:ea typeface="Tahoma" panose="020B0604030504040204" pitchFamily="34" charset="0"/>
              <a:cs typeface="Tahoma" panose="020B0604030504040204" pitchFamily="34" charset="0"/>
            </a:endParaRPr>
          </a:p>
        </p:txBody>
      </p:sp>
      <p:sp>
        <p:nvSpPr>
          <p:cNvPr id="671" name="Google Shape;671;p53"/>
          <p:cNvSpPr txBox="1">
            <a:spLocks noGrp="1"/>
          </p:cNvSpPr>
          <p:nvPr>
            <p:ph type="body" idx="1"/>
          </p:nvPr>
        </p:nvSpPr>
        <p:spPr>
          <a:xfrm>
            <a:off x="1115568" y="2262759"/>
            <a:ext cx="10168128" cy="3951351"/>
          </a:xfrm>
          <a:prstGeom prst="rect">
            <a:avLst/>
          </a:prstGeom>
          <a:noFill/>
          <a:ln>
            <a:noFill/>
          </a:ln>
        </p:spPr>
        <p:txBody>
          <a:bodyPr spcFirstLastPara="1" wrap="square" lIns="91425" tIns="45700" rIns="91425" bIns="45700" anchor="t" anchorCtr="0">
            <a:noAutofit/>
          </a:bodyPr>
          <a:lstStyle/>
          <a:p>
            <a:pPr marL="228600" lvl="0" indent="-228600" algn="l" rtl="0">
              <a:lnSpc>
                <a:spcPct val="110000"/>
              </a:lnSpc>
              <a:spcBef>
                <a:spcPts val="0"/>
              </a:spcBef>
              <a:spcAft>
                <a:spcPts val="0"/>
              </a:spcAft>
              <a:buClr>
                <a:schemeClr val="dk1"/>
              </a:buClr>
              <a:buSzPts val="1700"/>
              <a:buFont typeface="Noto Sans Symbols"/>
              <a:buChar char="❑"/>
            </a:pPr>
            <a:r>
              <a:rPr lang="el-GR" sz="1700" b="1" dirty="0" err="1">
                <a:latin typeface="Tahoma"/>
                <a:ea typeface="Tahoma"/>
                <a:cs typeface="Tahoma"/>
                <a:sym typeface="Tahoma"/>
              </a:rPr>
              <a:t>learning_rate_decay</a:t>
            </a:r>
            <a:r>
              <a:rPr lang="el-GR" sz="1700" b="1" dirty="0">
                <a:latin typeface="Tahoma"/>
                <a:ea typeface="Tahoma"/>
                <a:cs typeface="Tahoma"/>
                <a:sym typeface="Tahoma"/>
              </a:rPr>
              <a:t> (</a:t>
            </a:r>
            <a:r>
              <a:rPr lang="el-GR" sz="1700" b="1" dirty="0" err="1">
                <a:latin typeface="Tahoma"/>
                <a:ea typeface="Tahoma"/>
                <a:cs typeface="Tahoma"/>
                <a:sym typeface="Tahoma"/>
              </a:rPr>
              <a:t>decay_rate</a:t>
            </a:r>
            <a:r>
              <a:rPr lang="el-GR" sz="1700" b="1" dirty="0">
                <a:latin typeface="Tahoma"/>
                <a:ea typeface="Tahoma"/>
                <a:cs typeface="Tahoma"/>
                <a:sym typeface="Tahoma"/>
              </a:rPr>
              <a:t> = 0.99): </a:t>
            </a:r>
            <a:r>
              <a:rPr lang="el-GR" sz="1700" dirty="0">
                <a:latin typeface="Tahoma"/>
                <a:ea typeface="Tahoma"/>
                <a:cs typeface="Tahoma"/>
                <a:sym typeface="Tahoma"/>
              </a:rPr>
              <a:t>Μικρή μείωση του </a:t>
            </a:r>
            <a:r>
              <a:rPr lang="el-GR" sz="1700" dirty="0" err="1">
                <a:latin typeface="Tahoma"/>
                <a:ea typeface="Tahoma"/>
                <a:cs typeface="Tahoma"/>
                <a:sym typeface="Tahoma"/>
              </a:rPr>
              <a:t>learning</a:t>
            </a:r>
            <a:r>
              <a:rPr lang="el-GR" sz="1700" dirty="0">
                <a:latin typeface="Tahoma"/>
                <a:ea typeface="Tahoma"/>
                <a:cs typeface="Tahoma"/>
                <a:sym typeface="Tahoma"/>
              </a:rPr>
              <a:t> </a:t>
            </a:r>
            <a:r>
              <a:rPr lang="el-GR" sz="1700" dirty="0" err="1">
                <a:latin typeface="Tahoma"/>
                <a:ea typeface="Tahoma"/>
                <a:cs typeface="Tahoma"/>
                <a:sym typeface="Tahoma"/>
              </a:rPr>
              <a:t>rate</a:t>
            </a:r>
            <a:r>
              <a:rPr lang="el-GR" sz="1700" dirty="0">
                <a:latin typeface="Tahoma"/>
                <a:ea typeface="Tahoma"/>
                <a:cs typeface="Tahoma"/>
                <a:sym typeface="Tahoma"/>
              </a:rPr>
              <a:t> σε κάθε </a:t>
            </a:r>
            <a:r>
              <a:rPr lang="el-GR" sz="1700" dirty="0" err="1">
                <a:latin typeface="Tahoma"/>
                <a:ea typeface="Tahoma"/>
                <a:cs typeface="Tahoma"/>
                <a:sym typeface="Tahoma"/>
              </a:rPr>
              <a:t>epoch</a:t>
            </a:r>
            <a:r>
              <a:rPr lang="el-GR" sz="1700" dirty="0">
                <a:latin typeface="Tahoma"/>
                <a:ea typeface="Tahoma"/>
                <a:cs typeface="Tahoma"/>
                <a:sym typeface="Tahoma"/>
              </a:rPr>
              <a:t>. Σταδιακή εξομάλυνση της εκπαίδευσης, αποφεύγοντας απότομες αλλαγές και βοηθώντας στη σύγκλιση προς σταθερό σημείο.</a:t>
            </a:r>
            <a:endParaRPr sz="1700" dirty="0">
              <a:latin typeface="Tahoma"/>
              <a:ea typeface="Tahoma"/>
              <a:cs typeface="Tahoma"/>
              <a:sym typeface="Tahoma"/>
            </a:endParaRPr>
          </a:p>
          <a:p>
            <a:pPr marL="228600" lvl="0" indent="-228600" algn="l" rtl="0">
              <a:lnSpc>
                <a:spcPct val="110000"/>
              </a:lnSpc>
              <a:spcBef>
                <a:spcPts val="1000"/>
              </a:spcBef>
              <a:spcAft>
                <a:spcPts val="0"/>
              </a:spcAft>
              <a:buClr>
                <a:schemeClr val="dk1"/>
              </a:buClr>
              <a:buSzPts val="1700"/>
              <a:buFont typeface="Noto Sans Symbols"/>
              <a:buChar char="❑"/>
            </a:pPr>
            <a:r>
              <a:rPr lang="el-GR" sz="1700" b="1" dirty="0" err="1">
                <a:latin typeface="Tahoma"/>
                <a:ea typeface="Tahoma"/>
                <a:cs typeface="Tahoma"/>
                <a:sym typeface="Tahoma"/>
              </a:rPr>
              <a:t>shuffle</a:t>
            </a:r>
            <a:r>
              <a:rPr lang="el-GR" sz="1700" b="1" dirty="0">
                <a:latin typeface="Tahoma"/>
                <a:ea typeface="Tahoma"/>
                <a:cs typeface="Tahoma"/>
                <a:sym typeface="Tahoma"/>
              </a:rPr>
              <a:t>(</a:t>
            </a:r>
            <a:r>
              <a:rPr lang="el-GR" sz="1700" b="1" dirty="0" err="1">
                <a:latin typeface="Tahoma"/>
                <a:ea typeface="Tahoma"/>
                <a:cs typeface="Tahoma"/>
                <a:sym typeface="Tahoma"/>
              </a:rPr>
              <a:t>buffer_size</a:t>
            </a:r>
            <a:r>
              <a:rPr lang="el-GR" sz="1700" b="1" dirty="0">
                <a:latin typeface="Tahoma"/>
                <a:ea typeface="Tahoma"/>
                <a:cs typeface="Tahoma"/>
                <a:sym typeface="Tahoma"/>
              </a:rPr>
              <a:t>=1024): </a:t>
            </a:r>
            <a:r>
              <a:rPr lang="el-GR" sz="1700" dirty="0">
                <a:latin typeface="Tahoma"/>
                <a:ea typeface="Tahoma"/>
                <a:cs typeface="Tahoma"/>
                <a:sym typeface="Tahoma"/>
              </a:rPr>
              <a:t>Πριν φτιάξει κάθε </a:t>
            </a:r>
            <a:r>
              <a:rPr lang="el-GR" sz="1700" dirty="0" err="1">
                <a:latin typeface="Tahoma"/>
                <a:ea typeface="Tahoma"/>
                <a:cs typeface="Tahoma"/>
                <a:sym typeface="Tahoma"/>
              </a:rPr>
              <a:t>batch</a:t>
            </a:r>
            <a:r>
              <a:rPr lang="el-GR" sz="1700" dirty="0">
                <a:latin typeface="Tahoma"/>
                <a:ea typeface="Tahoma"/>
                <a:cs typeface="Tahoma"/>
                <a:sym typeface="Tahoma"/>
              </a:rPr>
              <a:t>, παίρνει 1024 δείγματα στη μνήμη και τα ανακατεύει τυχαία. Με αυτόν τον τρόπο, κάθε </a:t>
            </a:r>
            <a:r>
              <a:rPr lang="el-GR" sz="1700" dirty="0" err="1">
                <a:latin typeface="Tahoma"/>
                <a:ea typeface="Tahoma"/>
                <a:cs typeface="Tahoma"/>
                <a:sym typeface="Tahoma"/>
              </a:rPr>
              <a:t>batch</a:t>
            </a:r>
            <a:r>
              <a:rPr lang="el-GR" sz="1700" dirty="0">
                <a:latin typeface="Tahoma"/>
                <a:ea typeface="Tahoma"/>
                <a:cs typeface="Tahoma"/>
                <a:sym typeface="Tahoma"/>
              </a:rPr>
              <a:t> περιέχει διαφορετικά δείγματα σε κάθε εποχή, αποφεύγοντας μοτίβα εκπαίδευσης που θα μπορούσαν να “μάθει” το μοντέλο. Το 1024 επιλέγεται γιατί είναι αρκετά μεγάλο ώστε να δώσει καλή </a:t>
            </a:r>
            <a:r>
              <a:rPr lang="el-GR" sz="1700" dirty="0" err="1">
                <a:latin typeface="Tahoma"/>
                <a:ea typeface="Tahoma"/>
                <a:cs typeface="Tahoma"/>
                <a:sym typeface="Tahoma"/>
              </a:rPr>
              <a:t>τυχαιότητα</a:t>
            </a:r>
            <a:r>
              <a:rPr lang="el-GR" sz="1700" dirty="0">
                <a:latin typeface="Tahoma"/>
                <a:ea typeface="Tahoma"/>
                <a:cs typeface="Tahoma"/>
                <a:sym typeface="Tahoma"/>
              </a:rPr>
              <a:t> , αλλά όχι τόσο μεγάλο που να γεμίζει τη μνήμη χωρίς λόγο.</a:t>
            </a:r>
            <a:endParaRPr dirty="0"/>
          </a:p>
          <a:p>
            <a:pPr marL="228600" lvl="0" indent="-228600" algn="l" rtl="0">
              <a:lnSpc>
                <a:spcPct val="110000"/>
              </a:lnSpc>
              <a:spcBef>
                <a:spcPts val="1000"/>
              </a:spcBef>
              <a:spcAft>
                <a:spcPts val="0"/>
              </a:spcAft>
              <a:buClr>
                <a:schemeClr val="dk1"/>
              </a:buClr>
              <a:buSzPts val="1700"/>
              <a:buFont typeface="Noto Sans Symbols"/>
              <a:buChar char="❑"/>
            </a:pPr>
            <a:r>
              <a:rPr lang="el-GR" sz="1700" b="1" dirty="0" err="1">
                <a:latin typeface="Tahoma"/>
                <a:ea typeface="Tahoma"/>
                <a:cs typeface="Tahoma"/>
                <a:sym typeface="Tahoma"/>
              </a:rPr>
              <a:t>EPOCHs</a:t>
            </a:r>
            <a:r>
              <a:rPr lang="el-GR" sz="1700" b="1" dirty="0">
                <a:latin typeface="Tahoma"/>
                <a:ea typeface="Tahoma"/>
                <a:cs typeface="Tahoma"/>
                <a:sym typeface="Tahoma"/>
              </a:rPr>
              <a:t> = </a:t>
            </a:r>
            <a:r>
              <a:rPr lang="en-GB" sz="1700" b="1" dirty="0">
                <a:latin typeface="Tahoma"/>
                <a:ea typeface="Tahoma"/>
                <a:cs typeface="Tahoma"/>
                <a:sym typeface="Tahoma"/>
              </a:rPr>
              <a:t>1</a:t>
            </a:r>
            <a:r>
              <a:rPr lang="el-GR" sz="1700" b="1" dirty="0">
                <a:latin typeface="Tahoma"/>
                <a:ea typeface="Tahoma"/>
                <a:cs typeface="Tahoma"/>
                <a:sym typeface="Tahoma"/>
              </a:rPr>
              <a:t>50: </a:t>
            </a:r>
            <a:r>
              <a:rPr lang="el-GR" sz="1700" dirty="0">
                <a:latin typeface="Tahoma"/>
                <a:ea typeface="Tahoma"/>
                <a:cs typeface="Tahoma"/>
                <a:sym typeface="Tahoma"/>
              </a:rPr>
              <a:t>Συνολικός αριθμός κύκλων πάνω στο </a:t>
            </a:r>
            <a:r>
              <a:rPr lang="el-GR" sz="1700" dirty="0" err="1">
                <a:latin typeface="Tahoma"/>
                <a:ea typeface="Tahoma"/>
                <a:cs typeface="Tahoma"/>
                <a:sym typeface="Tahoma"/>
              </a:rPr>
              <a:t>dataset</a:t>
            </a:r>
            <a:r>
              <a:rPr lang="el-GR" sz="1700" dirty="0">
                <a:latin typeface="Tahoma"/>
                <a:ea typeface="Tahoma"/>
                <a:cs typeface="Tahoma"/>
                <a:sym typeface="Tahoma"/>
              </a:rPr>
              <a:t>. Επαρκής για σύγκλιση χωρίς να </a:t>
            </a:r>
            <a:r>
              <a:rPr lang="el-GR" sz="1700" dirty="0" err="1">
                <a:latin typeface="Tahoma"/>
                <a:ea typeface="Tahoma"/>
                <a:cs typeface="Tahoma"/>
                <a:sym typeface="Tahoma"/>
              </a:rPr>
              <a:t>υπερεκπαιδεύεται</a:t>
            </a:r>
            <a:r>
              <a:rPr lang="el-GR" sz="1700" dirty="0">
                <a:latin typeface="Tahoma"/>
                <a:ea typeface="Tahoma"/>
                <a:cs typeface="Tahoma"/>
                <a:sym typeface="Tahoma"/>
              </a:rPr>
              <a:t> ο Generator</a:t>
            </a:r>
            <a:r>
              <a:rPr lang="en-GB" sz="1700" dirty="0">
                <a:latin typeface="Tahoma"/>
                <a:ea typeface="Tahoma"/>
                <a:cs typeface="Tahoma"/>
                <a:sym typeface="Tahoma"/>
              </a:rPr>
              <a:t>, </a:t>
            </a:r>
            <a:r>
              <a:rPr lang="el-GR" sz="1700" dirty="0">
                <a:latin typeface="Tahoma"/>
                <a:ea typeface="Tahoma"/>
                <a:cs typeface="Tahoma"/>
                <a:sym typeface="Tahoma"/>
              </a:rPr>
              <a:t>και ισορροπία ποικιλίας και πιστότητας.</a:t>
            </a:r>
            <a:endParaRPr dirty="0"/>
          </a:p>
          <a:p>
            <a:pPr marL="228600" lvl="0" indent="-228600" algn="l" rtl="0">
              <a:lnSpc>
                <a:spcPct val="110000"/>
              </a:lnSpc>
              <a:spcBef>
                <a:spcPts val="1000"/>
              </a:spcBef>
              <a:spcAft>
                <a:spcPts val="0"/>
              </a:spcAft>
              <a:buClr>
                <a:schemeClr val="dk1"/>
              </a:buClr>
              <a:buSzPts val="1700"/>
              <a:buFont typeface="Noto Sans Symbols"/>
              <a:buChar char="❑"/>
            </a:pPr>
            <a:r>
              <a:rPr lang="el-GR" sz="1700" b="1" dirty="0">
                <a:latin typeface="Tahoma"/>
                <a:ea typeface="Tahoma"/>
                <a:cs typeface="Tahoma"/>
                <a:sym typeface="Tahoma"/>
              </a:rPr>
              <a:t>N_CRITIC = 5: </a:t>
            </a:r>
            <a:r>
              <a:rPr lang="el-GR" sz="1700" dirty="0">
                <a:latin typeface="Tahoma"/>
                <a:ea typeface="Tahoma"/>
                <a:cs typeface="Tahoma"/>
                <a:sym typeface="Tahoma"/>
              </a:rPr>
              <a:t>Βήματα του </a:t>
            </a:r>
            <a:r>
              <a:rPr lang="el-GR" sz="1700" dirty="0" err="1">
                <a:latin typeface="Tahoma"/>
                <a:ea typeface="Tahoma"/>
                <a:cs typeface="Tahoma"/>
                <a:sym typeface="Tahoma"/>
              </a:rPr>
              <a:t>Critic</a:t>
            </a:r>
            <a:r>
              <a:rPr lang="el-GR" sz="1700" dirty="0">
                <a:latin typeface="Tahoma"/>
                <a:ea typeface="Tahoma"/>
                <a:cs typeface="Tahoma"/>
                <a:sym typeface="Tahoma"/>
              </a:rPr>
              <a:t> πριν από κάθε ενημέρωση του Generator. Το WGAN-GP συνιστά 5, καθώς ο </a:t>
            </a:r>
            <a:r>
              <a:rPr lang="el-GR" sz="1700" dirty="0" err="1">
                <a:latin typeface="Tahoma"/>
                <a:ea typeface="Tahoma"/>
                <a:cs typeface="Tahoma"/>
                <a:sym typeface="Tahoma"/>
              </a:rPr>
              <a:t>critic</a:t>
            </a:r>
            <a:r>
              <a:rPr lang="el-GR" sz="1700" dirty="0">
                <a:latin typeface="Tahoma"/>
                <a:ea typeface="Tahoma"/>
                <a:cs typeface="Tahoma"/>
                <a:sym typeface="Tahoma"/>
              </a:rPr>
              <a:t> χρειάζεται περισσότερες ενημερώσεις για να διατηρήσει τον </a:t>
            </a:r>
            <a:r>
              <a:rPr lang="el-GR" sz="1700" dirty="0" err="1">
                <a:latin typeface="Tahoma"/>
                <a:ea typeface="Tahoma"/>
                <a:cs typeface="Tahoma"/>
                <a:sym typeface="Tahoma"/>
              </a:rPr>
              <a:t>Lipschitz</a:t>
            </a:r>
            <a:r>
              <a:rPr lang="el-GR" sz="1700" dirty="0">
                <a:latin typeface="Tahoma"/>
                <a:ea typeface="Tahoma"/>
                <a:cs typeface="Tahoma"/>
                <a:sym typeface="Tahoma"/>
              </a:rPr>
              <a:t> περιορισμό πριν το </a:t>
            </a:r>
            <a:r>
              <a:rPr lang="el-GR" sz="1700" dirty="0" err="1">
                <a:latin typeface="Tahoma"/>
                <a:ea typeface="Tahoma"/>
                <a:cs typeface="Tahoma"/>
                <a:sym typeface="Tahoma"/>
              </a:rPr>
              <a:t>generator</a:t>
            </a:r>
            <a:r>
              <a:rPr lang="el-GR" sz="1700" dirty="0">
                <a:latin typeface="Tahoma"/>
                <a:ea typeface="Tahoma"/>
                <a:cs typeface="Tahoma"/>
                <a:sym typeface="Tahoma"/>
              </a:rPr>
              <a:t> λάβει “αξιόπιστο” </a:t>
            </a:r>
            <a:r>
              <a:rPr lang="el-GR" sz="1700" dirty="0" err="1">
                <a:latin typeface="Tahoma"/>
                <a:ea typeface="Tahoma"/>
                <a:cs typeface="Tahoma"/>
                <a:sym typeface="Tahoma"/>
              </a:rPr>
              <a:t>feedback</a:t>
            </a:r>
            <a:r>
              <a:rPr lang="el-GR" sz="1700" dirty="0">
                <a:latin typeface="Tahoma"/>
                <a:ea typeface="Tahoma"/>
                <a:cs typeface="Tahoma"/>
                <a:sym typeface="Tahoma"/>
              </a:rPr>
              <a:t>.</a:t>
            </a:r>
            <a:endParaRPr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675"/>
        <p:cNvGrpSpPr/>
        <p:nvPr/>
      </p:nvGrpSpPr>
      <p:grpSpPr>
        <a:xfrm>
          <a:off x="0" y="0"/>
          <a:ext cx="0" cy="0"/>
          <a:chOff x="0" y="0"/>
          <a:chExt cx="0" cy="0"/>
        </a:xfrm>
      </p:grpSpPr>
      <p:sp>
        <p:nvSpPr>
          <p:cNvPr id="676" name="Google Shape;676;p54"/>
          <p:cNvSpPr txBox="1">
            <a:spLocks noGrp="1"/>
          </p:cNvSpPr>
          <p:nvPr>
            <p:ph type="title"/>
          </p:nvPr>
        </p:nvSpPr>
        <p:spPr>
          <a:xfrm>
            <a:off x="1115568" y="548640"/>
            <a:ext cx="10168128" cy="1179576"/>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000"/>
              <a:buFont typeface="Avenir"/>
              <a:buNone/>
            </a:pPr>
            <a:r>
              <a:rPr lang="el-GR" dirty="0">
                <a:latin typeface="Tahoma" panose="020B0604030504040204" pitchFamily="34" charset="0"/>
                <a:ea typeface="Tahoma" panose="020B0604030504040204" pitchFamily="34" charset="0"/>
                <a:cs typeface="Tahoma" panose="020B0604030504040204" pitchFamily="34" charset="0"/>
              </a:rPr>
              <a:t>N_CRITIC (for 10 </a:t>
            </a:r>
            <a:r>
              <a:rPr lang="el-GR" dirty="0" err="1">
                <a:latin typeface="Tahoma" panose="020B0604030504040204" pitchFamily="34" charset="0"/>
                <a:ea typeface="Tahoma" panose="020B0604030504040204" pitchFamily="34" charset="0"/>
                <a:cs typeface="Tahoma" panose="020B0604030504040204" pitchFamily="34" charset="0"/>
              </a:rPr>
              <a:t>epochs</a:t>
            </a:r>
            <a:r>
              <a:rPr lang="el-GR" dirty="0">
                <a:latin typeface="Tahoma" panose="020B0604030504040204" pitchFamily="34" charset="0"/>
                <a:ea typeface="Tahoma" panose="020B0604030504040204" pitchFamily="34" charset="0"/>
                <a:cs typeface="Tahoma" panose="020B0604030504040204" pitchFamily="34" charset="0"/>
              </a:rPr>
              <a:t>) </a:t>
            </a:r>
            <a:endParaRPr dirty="0">
              <a:latin typeface="Tahoma" panose="020B0604030504040204" pitchFamily="34" charset="0"/>
              <a:ea typeface="Tahoma" panose="020B0604030504040204" pitchFamily="34" charset="0"/>
              <a:cs typeface="Tahoma" panose="020B0604030504040204" pitchFamily="34" charset="0"/>
            </a:endParaRPr>
          </a:p>
        </p:txBody>
      </p:sp>
      <p:sp>
        <p:nvSpPr>
          <p:cNvPr id="677" name="Google Shape;677;p54"/>
          <p:cNvSpPr txBox="1">
            <a:spLocks noGrp="1"/>
          </p:cNvSpPr>
          <p:nvPr>
            <p:ph type="body" idx="1"/>
          </p:nvPr>
        </p:nvSpPr>
        <p:spPr>
          <a:xfrm>
            <a:off x="1115568" y="2478023"/>
            <a:ext cx="10168128" cy="3951351"/>
          </a:xfrm>
          <a:prstGeom prst="rect">
            <a:avLst/>
          </a:prstGeom>
          <a:noFill/>
          <a:ln>
            <a:noFill/>
          </a:ln>
        </p:spPr>
        <p:txBody>
          <a:bodyPr spcFirstLastPara="1" wrap="square" lIns="91425" tIns="45700" rIns="91425" bIns="45700" anchor="t" anchorCtr="0">
            <a:normAutofit fontScale="85000" lnSpcReduction="20000"/>
          </a:bodyPr>
          <a:lstStyle/>
          <a:p>
            <a:pPr marL="228600" lvl="0" indent="-216376" algn="l" rtl="0">
              <a:lnSpc>
                <a:spcPct val="110000"/>
              </a:lnSpc>
              <a:spcBef>
                <a:spcPts val="0"/>
              </a:spcBef>
              <a:spcAft>
                <a:spcPts val="0"/>
              </a:spcAft>
              <a:buClr>
                <a:schemeClr val="dk1"/>
              </a:buClr>
              <a:buSzPct val="100000"/>
              <a:buFont typeface="Noto Sans Symbols"/>
              <a:buChar char="❑"/>
            </a:pPr>
            <a:r>
              <a:rPr lang="el-GR" sz="2100" dirty="0">
                <a:latin typeface="Tahoma"/>
                <a:ea typeface="Tahoma"/>
                <a:cs typeface="Tahoma"/>
                <a:sym typeface="Tahoma"/>
              </a:rPr>
              <a:t>Η παράμετρος N_CRITIC καθορίζει πόσες φορές εκπαιδεύουμε τον κριτή για κάθε ενημέρωση της γεννήτριας. Αλλάζει δραστικά την ισορροπία μεταξύ του πόσο καλά μαθαίνει ο κριτής να ξεχωρίζει πραγματικά από ψεύτικα δείγματα και του πόσο συχνά βελτιώνεται η γεννήτρια.</a:t>
            </a:r>
            <a:endParaRPr sz="2100" dirty="0">
              <a:latin typeface="Tahoma"/>
              <a:ea typeface="Tahoma"/>
              <a:cs typeface="Tahoma"/>
              <a:sym typeface="Tahoma"/>
            </a:endParaRPr>
          </a:p>
          <a:p>
            <a:pPr marL="228600" lvl="0" indent="0" algn="l" rtl="0">
              <a:lnSpc>
                <a:spcPct val="110000"/>
              </a:lnSpc>
              <a:spcBef>
                <a:spcPts val="0"/>
              </a:spcBef>
              <a:spcAft>
                <a:spcPts val="0"/>
              </a:spcAft>
              <a:buNone/>
            </a:pPr>
            <a:endParaRPr sz="2100" dirty="0">
              <a:latin typeface="Tahoma"/>
              <a:ea typeface="Tahoma"/>
              <a:cs typeface="Tahoma"/>
              <a:sym typeface="Tahoma"/>
            </a:endParaRPr>
          </a:p>
          <a:p>
            <a:pPr marL="228600" lvl="0" indent="-216376" algn="l" rtl="0">
              <a:lnSpc>
                <a:spcPct val="110000"/>
              </a:lnSpc>
              <a:spcBef>
                <a:spcPts val="1000"/>
              </a:spcBef>
              <a:spcAft>
                <a:spcPts val="0"/>
              </a:spcAft>
              <a:buClr>
                <a:schemeClr val="dk1"/>
              </a:buClr>
              <a:buSzPct val="100000"/>
              <a:buFont typeface="Noto Sans Symbols"/>
              <a:buChar char="❑"/>
            </a:pPr>
            <a:r>
              <a:rPr lang="el-GR" sz="2100" b="1" dirty="0">
                <a:latin typeface="Tahoma"/>
                <a:ea typeface="Tahoma"/>
                <a:cs typeface="Tahoma"/>
                <a:sym typeface="Tahoma"/>
              </a:rPr>
              <a:t>N_CRITIC = 1 </a:t>
            </a:r>
            <a:r>
              <a:rPr lang="el-GR" sz="2100" dirty="0">
                <a:latin typeface="Tahoma"/>
                <a:ea typeface="Tahoma"/>
                <a:cs typeface="Tahoma"/>
                <a:sym typeface="Tahoma"/>
              </a:rPr>
              <a:t>(Ο </a:t>
            </a:r>
            <a:r>
              <a:rPr lang="el-GR" sz="2100" dirty="0" err="1">
                <a:latin typeface="Tahoma"/>
                <a:ea typeface="Tahoma"/>
                <a:cs typeface="Tahoma"/>
                <a:sym typeface="Tahoma"/>
              </a:rPr>
              <a:t>critic</a:t>
            </a:r>
            <a:r>
              <a:rPr lang="el-GR" sz="2100" dirty="0">
                <a:latin typeface="Tahoma"/>
                <a:ea typeface="Tahoma"/>
                <a:cs typeface="Tahoma"/>
                <a:sym typeface="Tahoma"/>
              </a:rPr>
              <a:t> κάνει μόνο ένα βήμα εκπαίδευσης πριν από κάθε βήμα του </a:t>
            </a:r>
            <a:r>
              <a:rPr lang="el-GR" sz="2100" dirty="0" err="1">
                <a:latin typeface="Tahoma"/>
                <a:ea typeface="Tahoma"/>
                <a:cs typeface="Tahoma"/>
                <a:sym typeface="Tahoma"/>
              </a:rPr>
              <a:t>generator</a:t>
            </a:r>
            <a:r>
              <a:rPr lang="el-GR" sz="2100" dirty="0">
                <a:latin typeface="Tahoma"/>
                <a:ea typeface="Tahoma"/>
                <a:cs typeface="Tahoma"/>
                <a:sym typeface="Tahoma"/>
              </a:rPr>
              <a:t>). Αυτό οδηγεί σε:</a:t>
            </a:r>
            <a:endParaRPr sz="2100" dirty="0">
              <a:latin typeface="Tahoma"/>
              <a:ea typeface="Tahoma"/>
              <a:cs typeface="Tahoma"/>
              <a:sym typeface="Tahoma"/>
            </a:endParaRPr>
          </a:p>
          <a:p>
            <a:pPr marL="685800" lvl="1" indent="-216376" algn="l" rtl="0">
              <a:lnSpc>
                <a:spcPct val="110000"/>
              </a:lnSpc>
              <a:spcBef>
                <a:spcPts val="500"/>
              </a:spcBef>
              <a:spcAft>
                <a:spcPts val="0"/>
              </a:spcAft>
              <a:buClr>
                <a:schemeClr val="dk1"/>
              </a:buClr>
              <a:buSzPct val="100000"/>
              <a:buFont typeface="Noto Sans Symbols"/>
              <a:buChar char="❑"/>
            </a:pPr>
            <a:r>
              <a:rPr lang="el-GR" sz="2100" b="1" dirty="0">
                <a:latin typeface="Tahoma"/>
                <a:ea typeface="Tahoma"/>
                <a:cs typeface="Tahoma"/>
                <a:sym typeface="Tahoma"/>
              </a:rPr>
              <a:t>Υψηλό MSE (1.04) και χαμηλή </a:t>
            </a:r>
            <a:r>
              <a:rPr lang="el-GR" sz="2100" b="1" dirty="0" err="1">
                <a:latin typeface="Tahoma"/>
                <a:ea typeface="Tahoma"/>
                <a:cs typeface="Tahoma"/>
                <a:sym typeface="Tahoma"/>
              </a:rPr>
              <a:t>Cosine</a:t>
            </a:r>
            <a:r>
              <a:rPr lang="el-GR" sz="2100" b="1" dirty="0">
                <a:latin typeface="Tahoma"/>
                <a:ea typeface="Tahoma"/>
                <a:cs typeface="Tahoma"/>
                <a:sym typeface="Tahoma"/>
              </a:rPr>
              <a:t> </a:t>
            </a:r>
            <a:r>
              <a:rPr lang="el-GR" sz="2100" b="1" dirty="0" err="1">
                <a:latin typeface="Tahoma"/>
                <a:ea typeface="Tahoma"/>
                <a:cs typeface="Tahoma"/>
                <a:sym typeface="Tahoma"/>
              </a:rPr>
              <a:t>Sim</a:t>
            </a:r>
            <a:r>
              <a:rPr lang="el-GR" sz="2100" b="1" dirty="0">
                <a:latin typeface="Tahoma"/>
                <a:ea typeface="Tahoma"/>
                <a:cs typeface="Tahoma"/>
                <a:sym typeface="Tahoma"/>
              </a:rPr>
              <a:t>. (0.59) </a:t>
            </a:r>
            <a:r>
              <a:rPr lang="el-GR" sz="2100" dirty="0">
                <a:latin typeface="Tahoma"/>
                <a:ea typeface="Tahoma"/>
                <a:cs typeface="Tahoma"/>
                <a:sym typeface="Tahoma"/>
              </a:rPr>
              <a:t>→ ο </a:t>
            </a:r>
            <a:r>
              <a:rPr lang="el-GR" sz="2100" dirty="0" err="1">
                <a:latin typeface="Tahoma"/>
                <a:ea typeface="Tahoma"/>
                <a:cs typeface="Tahoma"/>
                <a:sym typeface="Tahoma"/>
              </a:rPr>
              <a:t>generator</a:t>
            </a:r>
            <a:r>
              <a:rPr lang="el-GR" sz="2100" dirty="0">
                <a:latin typeface="Tahoma"/>
                <a:ea typeface="Tahoma"/>
                <a:cs typeface="Tahoma"/>
                <a:sym typeface="Tahoma"/>
              </a:rPr>
              <a:t> δεν δέχεται αρκετά “σύνθετα” και σταθερά </a:t>
            </a:r>
            <a:r>
              <a:rPr lang="el-GR" sz="2100" dirty="0" err="1">
                <a:latin typeface="Tahoma"/>
                <a:ea typeface="Tahoma"/>
                <a:cs typeface="Tahoma"/>
                <a:sym typeface="Tahoma"/>
              </a:rPr>
              <a:t>gradients</a:t>
            </a:r>
            <a:r>
              <a:rPr lang="el-GR" sz="2100" dirty="0">
                <a:latin typeface="Tahoma"/>
                <a:ea typeface="Tahoma"/>
                <a:cs typeface="Tahoma"/>
                <a:sym typeface="Tahoma"/>
              </a:rPr>
              <a:t>, με αποτέλεσμα να μην προσεγγίζει καλά τις πραγματικές τιμές.</a:t>
            </a:r>
            <a:endParaRPr sz="2100" dirty="0">
              <a:latin typeface="Tahoma"/>
              <a:ea typeface="Tahoma"/>
              <a:cs typeface="Tahoma"/>
              <a:sym typeface="Tahoma"/>
            </a:endParaRPr>
          </a:p>
          <a:p>
            <a:pPr marL="685800" lvl="1" indent="-216376" algn="l" rtl="0">
              <a:lnSpc>
                <a:spcPct val="110000"/>
              </a:lnSpc>
              <a:spcBef>
                <a:spcPts val="500"/>
              </a:spcBef>
              <a:spcAft>
                <a:spcPts val="0"/>
              </a:spcAft>
              <a:buClr>
                <a:schemeClr val="dk1"/>
              </a:buClr>
              <a:buSzPct val="100000"/>
              <a:buFont typeface="Noto Sans Symbols"/>
              <a:buChar char="❑"/>
            </a:pPr>
            <a:r>
              <a:rPr lang="el-GR" sz="2100" b="1" dirty="0">
                <a:latin typeface="Tahoma"/>
                <a:ea typeface="Tahoma"/>
                <a:cs typeface="Tahoma"/>
                <a:sym typeface="Tahoma"/>
              </a:rPr>
              <a:t>Μεγάλη KL (12.46) </a:t>
            </a:r>
            <a:r>
              <a:rPr lang="el-GR" sz="2100" dirty="0">
                <a:latin typeface="Tahoma"/>
                <a:ea typeface="Tahoma"/>
                <a:cs typeface="Tahoma"/>
                <a:sym typeface="Tahoma"/>
              </a:rPr>
              <a:t>→ η συνολική κατανομή των συνθετικών αποκλίνει πολύ από την </a:t>
            </a:r>
            <a:r>
              <a:rPr lang="el-GR" sz="2100" dirty="0" err="1">
                <a:latin typeface="Tahoma"/>
                <a:ea typeface="Tahoma"/>
                <a:cs typeface="Tahoma"/>
                <a:sym typeface="Tahoma"/>
              </a:rPr>
              <a:t>πραγμάτικη</a:t>
            </a:r>
            <a:r>
              <a:rPr lang="el-GR" sz="2100" dirty="0">
                <a:latin typeface="Tahoma"/>
                <a:ea typeface="Tahoma"/>
                <a:cs typeface="Tahoma"/>
                <a:sym typeface="Tahoma"/>
              </a:rPr>
              <a:t>.</a:t>
            </a:r>
            <a:endParaRPr sz="2100" dirty="0">
              <a:latin typeface="Tahoma"/>
              <a:ea typeface="Tahoma"/>
              <a:cs typeface="Tahoma"/>
              <a:sym typeface="Tahoma"/>
            </a:endParaRPr>
          </a:p>
          <a:p>
            <a:pPr marL="685800" lvl="1" indent="-216376" algn="l" rtl="0">
              <a:lnSpc>
                <a:spcPct val="110000"/>
              </a:lnSpc>
              <a:spcBef>
                <a:spcPts val="500"/>
              </a:spcBef>
              <a:spcAft>
                <a:spcPts val="0"/>
              </a:spcAft>
              <a:buClr>
                <a:schemeClr val="dk1"/>
              </a:buClr>
              <a:buSzPct val="100000"/>
              <a:buFont typeface="Noto Sans Symbols"/>
              <a:buChar char="❑"/>
            </a:pPr>
            <a:r>
              <a:rPr lang="el-GR" sz="2100" b="1" dirty="0">
                <a:latin typeface="Tahoma"/>
                <a:ea typeface="Tahoma"/>
                <a:cs typeface="Tahoma"/>
                <a:sym typeface="Tahoma"/>
              </a:rPr>
              <a:t>Πολύ υψηλή ποικιλότητα (</a:t>
            </a:r>
            <a:r>
              <a:rPr lang="el-GR" sz="2100" b="1" dirty="0" err="1">
                <a:latin typeface="Tahoma"/>
                <a:ea typeface="Tahoma"/>
                <a:cs typeface="Tahoma"/>
                <a:sym typeface="Tahoma"/>
              </a:rPr>
              <a:t>Variance</a:t>
            </a:r>
            <a:r>
              <a:rPr lang="el-GR" sz="2100" b="1" dirty="0">
                <a:latin typeface="Tahoma"/>
                <a:ea typeface="Tahoma"/>
                <a:cs typeface="Tahoma"/>
                <a:sym typeface="Tahoma"/>
              </a:rPr>
              <a:t> ~2 350) και μεγάλη κάλυψη (</a:t>
            </a:r>
            <a:r>
              <a:rPr lang="el-GR" sz="2100" b="1" dirty="0" err="1">
                <a:latin typeface="Tahoma"/>
                <a:ea typeface="Tahoma"/>
                <a:cs typeface="Tahoma"/>
                <a:sym typeface="Tahoma"/>
              </a:rPr>
              <a:t>Coverage</a:t>
            </a:r>
            <a:r>
              <a:rPr lang="el-GR" sz="2100" b="1" dirty="0">
                <a:latin typeface="Tahoma"/>
                <a:ea typeface="Tahoma"/>
                <a:cs typeface="Tahoma"/>
                <a:sym typeface="Tahoma"/>
              </a:rPr>
              <a:t> ~78 %) </a:t>
            </a:r>
            <a:r>
              <a:rPr lang="el-GR" sz="2100" dirty="0">
                <a:latin typeface="Tahoma"/>
                <a:ea typeface="Tahoma"/>
                <a:cs typeface="Tahoma"/>
                <a:sym typeface="Tahoma"/>
              </a:rPr>
              <a:t>→ σαν να “βολτάρει” ελεύθερα χωρίς έλεγχο, παράγει πολύ ευρεία γκάμα τιμών, πολλές από τις οποίες όμως σπάνια εμφανίζονται στα πραγματικά δεδομένα.</a:t>
            </a:r>
            <a:endParaRPr sz="2100" dirty="0">
              <a:latin typeface="Tahoma"/>
              <a:ea typeface="Tahoma"/>
              <a:cs typeface="Tahoma"/>
              <a:sym typeface="Tahoma"/>
            </a:endParaRPr>
          </a:p>
          <a:p>
            <a:pPr marL="228600" lvl="0" indent="-64135" algn="l" rtl="0">
              <a:lnSpc>
                <a:spcPct val="110000"/>
              </a:lnSpc>
              <a:spcBef>
                <a:spcPts val="1000"/>
              </a:spcBef>
              <a:spcAft>
                <a:spcPts val="0"/>
              </a:spcAft>
              <a:buClr>
                <a:schemeClr val="dk1"/>
              </a:buClr>
              <a:buSzPct val="100000"/>
              <a:buNone/>
            </a:pPr>
            <a:endParaRPr dirty="0"/>
          </a:p>
          <a:p>
            <a:pPr marL="228600" lvl="0" indent="-64135" algn="l" rtl="0">
              <a:lnSpc>
                <a:spcPct val="110000"/>
              </a:lnSpc>
              <a:spcBef>
                <a:spcPts val="1000"/>
              </a:spcBef>
              <a:spcAft>
                <a:spcPts val="0"/>
              </a:spcAft>
              <a:buClr>
                <a:schemeClr val="dk1"/>
              </a:buClr>
              <a:buSzPct val="100000"/>
              <a:buNone/>
            </a:pPr>
            <a:endParaRPr dirty="0"/>
          </a:p>
          <a:p>
            <a:pPr marL="228600" lvl="0" indent="-64135" algn="l" rtl="0">
              <a:lnSpc>
                <a:spcPct val="110000"/>
              </a:lnSpc>
              <a:spcBef>
                <a:spcPts val="1000"/>
              </a:spcBef>
              <a:spcAft>
                <a:spcPts val="0"/>
              </a:spcAft>
              <a:buClr>
                <a:schemeClr val="dk1"/>
              </a:buClr>
              <a:buSzPct val="100000"/>
              <a:buNone/>
            </a:pPr>
            <a:endParaRPr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681"/>
        <p:cNvGrpSpPr/>
        <p:nvPr/>
      </p:nvGrpSpPr>
      <p:grpSpPr>
        <a:xfrm>
          <a:off x="0" y="0"/>
          <a:ext cx="0" cy="0"/>
          <a:chOff x="0" y="0"/>
          <a:chExt cx="0" cy="0"/>
        </a:xfrm>
      </p:grpSpPr>
      <p:sp>
        <p:nvSpPr>
          <p:cNvPr id="682" name="Google Shape;682;p55"/>
          <p:cNvSpPr txBox="1">
            <a:spLocks noGrp="1"/>
          </p:cNvSpPr>
          <p:nvPr>
            <p:ph type="title"/>
          </p:nvPr>
        </p:nvSpPr>
        <p:spPr>
          <a:xfrm>
            <a:off x="1115568" y="548640"/>
            <a:ext cx="10168128" cy="1179576"/>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000"/>
              <a:buFont typeface="Avenir"/>
              <a:buNone/>
            </a:pPr>
            <a:r>
              <a:rPr lang="el-GR" dirty="0">
                <a:latin typeface="Tahoma" panose="020B0604030504040204" pitchFamily="34" charset="0"/>
                <a:ea typeface="Tahoma" panose="020B0604030504040204" pitchFamily="34" charset="0"/>
                <a:cs typeface="Tahoma" panose="020B0604030504040204" pitchFamily="34" charset="0"/>
              </a:rPr>
              <a:t>N_CRITIC (for 10 </a:t>
            </a:r>
            <a:r>
              <a:rPr lang="el-GR" dirty="0" err="1">
                <a:latin typeface="Tahoma" panose="020B0604030504040204" pitchFamily="34" charset="0"/>
                <a:ea typeface="Tahoma" panose="020B0604030504040204" pitchFamily="34" charset="0"/>
                <a:cs typeface="Tahoma" panose="020B0604030504040204" pitchFamily="34" charset="0"/>
              </a:rPr>
              <a:t>epochs</a:t>
            </a:r>
            <a:r>
              <a:rPr lang="el-GR" dirty="0">
                <a:latin typeface="Tahoma" panose="020B0604030504040204" pitchFamily="34" charset="0"/>
                <a:ea typeface="Tahoma" panose="020B0604030504040204" pitchFamily="34" charset="0"/>
                <a:cs typeface="Tahoma" panose="020B0604030504040204" pitchFamily="34" charset="0"/>
              </a:rPr>
              <a:t>)</a:t>
            </a:r>
            <a:endParaRPr dirty="0">
              <a:latin typeface="Tahoma" panose="020B0604030504040204" pitchFamily="34" charset="0"/>
              <a:ea typeface="Tahoma" panose="020B0604030504040204" pitchFamily="34" charset="0"/>
              <a:cs typeface="Tahoma" panose="020B0604030504040204" pitchFamily="34" charset="0"/>
            </a:endParaRPr>
          </a:p>
        </p:txBody>
      </p:sp>
      <p:sp>
        <p:nvSpPr>
          <p:cNvPr id="683" name="Google Shape;683;p55"/>
          <p:cNvSpPr txBox="1">
            <a:spLocks noGrp="1"/>
          </p:cNvSpPr>
          <p:nvPr>
            <p:ph type="body" idx="1"/>
          </p:nvPr>
        </p:nvSpPr>
        <p:spPr>
          <a:xfrm>
            <a:off x="1115568" y="2312653"/>
            <a:ext cx="10168128" cy="4379977"/>
          </a:xfrm>
          <a:prstGeom prst="rect">
            <a:avLst/>
          </a:prstGeom>
          <a:noFill/>
          <a:ln>
            <a:noFill/>
          </a:ln>
        </p:spPr>
        <p:txBody>
          <a:bodyPr spcFirstLastPara="1" wrap="square" lIns="91425" tIns="45700" rIns="91425" bIns="45700" anchor="t" anchorCtr="0">
            <a:normAutofit fontScale="85000" lnSpcReduction="20000"/>
          </a:bodyPr>
          <a:lstStyle/>
          <a:p>
            <a:pPr marL="228600" lvl="0" indent="-214899" algn="l" rtl="0">
              <a:lnSpc>
                <a:spcPct val="110000"/>
              </a:lnSpc>
              <a:spcBef>
                <a:spcPts val="0"/>
              </a:spcBef>
              <a:spcAft>
                <a:spcPts val="0"/>
              </a:spcAft>
              <a:buClr>
                <a:schemeClr val="dk1"/>
              </a:buClr>
              <a:buSzPct val="100000"/>
              <a:buFont typeface="Noto Sans Symbols"/>
              <a:buChar char="❑"/>
            </a:pPr>
            <a:r>
              <a:rPr lang="el-GR" sz="2100" b="1" dirty="0">
                <a:latin typeface="Tahoma"/>
                <a:ea typeface="Tahoma"/>
                <a:cs typeface="Tahoma"/>
                <a:sym typeface="Tahoma"/>
              </a:rPr>
              <a:t>N_CRITIC = 3 (</a:t>
            </a:r>
            <a:r>
              <a:rPr lang="el-GR" sz="2100" dirty="0">
                <a:latin typeface="Tahoma"/>
                <a:ea typeface="Tahoma"/>
                <a:cs typeface="Tahoma"/>
                <a:sym typeface="Tahoma"/>
              </a:rPr>
              <a:t>Ο </a:t>
            </a:r>
            <a:r>
              <a:rPr lang="el-GR" sz="2100" dirty="0" err="1">
                <a:latin typeface="Tahoma"/>
                <a:ea typeface="Tahoma"/>
                <a:cs typeface="Tahoma"/>
                <a:sym typeface="Tahoma"/>
              </a:rPr>
              <a:t>critic</a:t>
            </a:r>
            <a:r>
              <a:rPr lang="el-GR" sz="2100" dirty="0">
                <a:latin typeface="Tahoma"/>
                <a:ea typeface="Tahoma"/>
                <a:cs typeface="Tahoma"/>
                <a:sym typeface="Tahoma"/>
              </a:rPr>
              <a:t> εκπαιδεύεται τριπλάσια πριν κάθε βήμα του </a:t>
            </a:r>
            <a:r>
              <a:rPr lang="el-GR" sz="2100" dirty="0" err="1">
                <a:latin typeface="Tahoma"/>
                <a:ea typeface="Tahoma"/>
                <a:cs typeface="Tahoma"/>
                <a:sym typeface="Tahoma"/>
              </a:rPr>
              <a:t>generator</a:t>
            </a:r>
            <a:r>
              <a:rPr lang="el-GR" sz="2100" dirty="0">
                <a:latin typeface="Tahoma"/>
                <a:ea typeface="Tahoma"/>
                <a:cs typeface="Tahoma"/>
                <a:sym typeface="Tahoma"/>
              </a:rPr>
              <a:t>.) Έχουμε:</a:t>
            </a:r>
            <a:endParaRPr sz="2100" dirty="0"/>
          </a:p>
          <a:p>
            <a:pPr marL="685800" lvl="1" indent="-214899" algn="l" rtl="0">
              <a:lnSpc>
                <a:spcPct val="110000"/>
              </a:lnSpc>
              <a:spcBef>
                <a:spcPts val="500"/>
              </a:spcBef>
              <a:spcAft>
                <a:spcPts val="0"/>
              </a:spcAft>
              <a:buClr>
                <a:schemeClr val="dk1"/>
              </a:buClr>
              <a:buSzPct val="100000"/>
              <a:buFont typeface="Noto Sans Symbols"/>
              <a:buChar char="❑"/>
            </a:pPr>
            <a:r>
              <a:rPr lang="el-GR" sz="2100" b="1" dirty="0">
                <a:latin typeface="Tahoma"/>
                <a:ea typeface="Tahoma"/>
                <a:cs typeface="Tahoma"/>
                <a:sym typeface="Tahoma"/>
              </a:rPr>
              <a:t>Μικρότερο MSE (0.75)</a:t>
            </a:r>
            <a:r>
              <a:rPr lang="el-GR" sz="2100" dirty="0">
                <a:latin typeface="Tahoma"/>
                <a:ea typeface="Tahoma"/>
                <a:cs typeface="Tahoma"/>
                <a:sym typeface="Tahoma"/>
              </a:rPr>
              <a:t> και </a:t>
            </a:r>
            <a:r>
              <a:rPr lang="el-GR" sz="2100" b="1" dirty="0">
                <a:latin typeface="Tahoma"/>
                <a:ea typeface="Tahoma"/>
                <a:cs typeface="Tahoma"/>
                <a:sym typeface="Tahoma"/>
              </a:rPr>
              <a:t>καλύτερη </a:t>
            </a:r>
            <a:r>
              <a:rPr lang="el-GR" sz="2100" b="1" dirty="0" err="1">
                <a:latin typeface="Tahoma"/>
                <a:ea typeface="Tahoma"/>
                <a:cs typeface="Tahoma"/>
                <a:sym typeface="Tahoma"/>
              </a:rPr>
              <a:t>Cosine</a:t>
            </a:r>
            <a:r>
              <a:rPr lang="el-GR" sz="2100" b="1" dirty="0">
                <a:latin typeface="Tahoma"/>
                <a:ea typeface="Tahoma"/>
                <a:cs typeface="Tahoma"/>
                <a:sym typeface="Tahoma"/>
              </a:rPr>
              <a:t> </a:t>
            </a:r>
            <a:r>
              <a:rPr lang="el-GR" sz="2100" b="1" dirty="0" err="1">
                <a:latin typeface="Tahoma"/>
                <a:ea typeface="Tahoma"/>
                <a:cs typeface="Tahoma"/>
                <a:sym typeface="Tahoma"/>
              </a:rPr>
              <a:t>Sim</a:t>
            </a:r>
            <a:r>
              <a:rPr lang="el-GR" sz="2100" b="1" dirty="0">
                <a:latin typeface="Tahoma"/>
                <a:ea typeface="Tahoma"/>
                <a:cs typeface="Tahoma"/>
                <a:sym typeface="Tahoma"/>
              </a:rPr>
              <a:t>. (0.77)</a:t>
            </a:r>
            <a:r>
              <a:rPr lang="el-GR" sz="2100" dirty="0">
                <a:latin typeface="Tahoma"/>
                <a:ea typeface="Tahoma"/>
                <a:cs typeface="Tahoma"/>
                <a:sym typeface="Tahoma"/>
              </a:rPr>
              <a:t> → ο </a:t>
            </a:r>
            <a:r>
              <a:rPr lang="el-GR" sz="2100" dirty="0" err="1">
                <a:latin typeface="Tahoma"/>
                <a:ea typeface="Tahoma"/>
                <a:cs typeface="Tahoma"/>
                <a:sym typeface="Tahoma"/>
              </a:rPr>
              <a:t>generator</a:t>
            </a:r>
            <a:r>
              <a:rPr lang="el-GR" sz="2100" dirty="0">
                <a:latin typeface="Tahoma"/>
                <a:ea typeface="Tahoma"/>
                <a:cs typeface="Tahoma"/>
                <a:sym typeface="Tahoma"/>
              </a:rPr>
              <a:t> μαθαίνει πιο χρήσιμα μοτίβα.</a:t>
            </a:r>
            <a:endParaRPr sz="2100" dirty="0"/>
          </a:p>
          <a:p>
            <a:pPr marL="685800" lvl="1" indent="-214899" algn="l" rtl="0">
              <a:lnSpc>
                <a:spcPct val="110000"/>
              </a:lnSpc>
              <a:spcBef>
                <a:spcPts val="500"/>
              </a:spcBef>
              <a:spcAft>
                <a:spcPts val="0"/>
              </a:spcAft>
              <a:buClr>
                <a:schemeClr val="dk1"/>
              </a:buClr>
              <a:buSzPct val="100000"/>
              <a:buFont typeface="Noto Sans Symbols"/>
              <a:buChar char="❑"/>
            </a:pPr>
            <a:r>
              <a:rPr lang="el-GR" sz="2100" b="1" dirty="0">
                <a:latin typeface="Tahoma"/>
                <a:ea typeface="Tahoma"/>
                <a:cs typeface="Tahoma"/>
                <a:sym typeface="Tahoma"/>
              </a:rPr>
              <a:t>KL ≈ 8.86</a:t>
            </a:r>
            <a:r>
              <a:rPr lang="el-GR" sz="2100" dirty="0">
                <a:latin typeface="Tahoma"/>
                <a:ea typeface="Tahoma"/>
                <a:cs typeface="Tahoma"/>
                <a:sym typeface="Tahoma"/>
              </a:rPr>
              <a:t> → πιο κοντά στις πραγματικές κατανομές αλλά ακόμα με διαφορά.</a:t>
            </a:r>
            <a:endParaRPr sz="2100" dirty="0"/>
          </a:p>
          <a:p>
            <a:pPr marL="685800" lvl="1" indent="-214899" algn="l" rtl="0">
              <a:lnSpc>
                <a:spcPct val="110000"/>
              </a:lnSpc>
              <a:spcBef>
                <a:spcPts val="500"/>
              </a:spcBef>
              <a:spcAft>
                <a:spcPts val="0"/>
              </a:spcAft>
              <a:buClr>
                <a:schemeClr val="dk1"/>
              </a:buClr>
              <a:buSzPct val="100000"/>
              <a:buFont typeface="Noto Sans Symbols"/>
              <a:buChar char="❑"/>
            </a:pPr>
            <a:r>
              <a:rPr lang="el-GR" sz="2100" b="1" dirty="0">
                <a:latin typeface="Tahoma"/>
                <a:ea typeface="Tahoma"/>
                <a:cs typeface="Tahoma"/>
                <a:sym typeface="Tahoma"/>
              </a:rPr>
              <a:t>Ακραία υψηλή ποικιλότητα (</a:t>
            </a:r>
            <a:r>
              <a:rPr lang="el-GR" sz="2100" b="1" dirty="0" err="1">
                <a:latin typeface="Tahoma"/>
                <a:ea typeface="Tahoma"/>
                <a:cs typeface="Tahoma"/>
                <a:sym typeface="Tahoma"/>
              </a:rPr>
              <a:t>Variance</a:t>
            </a:r>
            <a:r>
              <a:rPr lang="el-GR" sz="2100" b="1" dirty="0">
                <a:latin typeface="Tahoma"/>
                <a:ea typeface="Tahoma"/>
                <a:cs typeface="Tahoma"/>
                <a:sym typeface="Tahoma"/>
              </a:rPr>
              <a:t> ~</a:t>
            </a:r>
            <a:r>
              <a:rPr lang="en-GB" sz="2100" b="1" dirty="0">
                <a:latin typeface="Tahoma"/>
                <a:ea typeface="Tahoma"/>
                <a:cs typeface="Tahoma"/>
                <a:sym typeface="Tahoma"/>
              </a:rPr>
              <a:t>12</a:t>
            </a:r>
            <a:r>
              <a:rPr lang="el-GR" sz="2100" b="1" dirty="0">
                <a:latin typeface="Tahoma"/>
                <a:ea typeface="Tahoma"/>
                <a:cs typeface="Tahoma"/>
                <a:sym typeface="Tahoma"/>
              </a:rPr>
              <a:t> 000)</a:t>
            </a:r>
            <a:r>
              <a:rPr lang="el-GR" sz="2100" dirty="0">
                <a:latin typeface="Tahoma"/>
                <a:ea typeface="Tahoma"/>
                <a:cs typeface="Tahoma"/>
                <a:sym typeface="Tahoma"/>
              </a:rPr>
              <a:t> και </a:t>
            </a:r>
            <a:r>
              <a:rPr lang="el-GR" sz="2100" b="1" dirty="0">
                <a:latin typeface="Tahoma"/>
                <a:ea typeface="Tahoma"/>
                <a:cs typeface="Tahoma"/>
                <a:sym typeface="Tahoma"/>
              </a:rPr>
              <a:t>πολύ χαμηλή κάλυψη (</a:t>
            </a:r>
            <a:r>
              <a:rPr lang="el-GR" sz="2100" b="1" dirty="0" err="1">
                <a:latin typeface="Tahoma"/>
                <a:ea typeface="Tahoma"/>
                <a:cs typeface="Tahoma"/>
                <a:sym typeface="Tahoma"/>
              </a:rPr>
              <a:t>Coverage</a:t>
            </a:r>
            <a:r>
              <a:rPr lang="el-GR" sz="2100" b="1" dirty="0">
                <a:latin typeface="Tahoma"/>
                <a:ea typeface="Tahoma"/>
                <a:cs typeface="Tahoma"/>
                <a:sym typeface="Tahoma"/>
              </a:rPr>
              <a:t> ~13 %)</a:t>
            </a:r>
            <a:r>
              <a:rPr lang="el-GR" sz="2100" dirty="0">
                <a:latin typeface="Tahoma"/>
                <a:ea typeface="Tahoma"/>
                <a:cs typeface="Tahoma"/>
                <a:sym typeface="Tahoma"/>
              </a:rPr>
              <a:t> → “mode </a:t>
            </a:r>
            <a:r>
              <a:rPr lang="el-GR" sz="2100" dirty="0" err="1">
                <a:latin typeface="Tahoma"/>
                <a:ea typeface="Tahoma"/>
                <a:cs typeface="Tahoma"/>
                <a:sym typeface="Tahoma"/>
              </a:rPr>
              <a:t>collapse</a:t>
            </a:r>
            <a:r>
              <a:rPr lang="el-GR" sz="2100" dirty="0">
                <a:latin typeface="Tahoma"/>
                <a:ea typeface="Tahoma"/>
                <a:cs typeface="Tahoma"/>
                <a:sym typeface="Tahoma"/>
              </a:rPr>
              <a:t>” σε κάποιες ζώνες (αρκετά πολύ λίγες διαφορετικές τιμές καλύπτονται), αλλά όπου καλύπτει, σκορπίζει πολύ έξω από το πραγματικό εύρος.</a:t>
            </a:r>
            <a:endParaRPr sz="2100" dirty="0">
              <a:latin typeface="Tahoma"/>
              <a:ea typeface="Tahoma"/>
              <a:cs typeface="Tahoma"/>
              <a:sym typeface="Tahoma"/>
            </a:endParaRPr>
          </a:p>
          <a:p>
            <a:pPr marL="685800" lvl="0" indent="0" algn="l" rtl="0">
              <a:lnSpc>
                <a:spcPct val="110000"/>
              </a:lnSpc>
              <a:spcBef>
                <a:spcPts val="500"/>
              </a:spcBef>
              <a:spcAft>
                <a:spcPts val="0"/>
              </a:spcAft>
              <a:buNone/>
            </a:pPr>
            <a:endParaRPr sz="2100" dirty="0">
              <a:latin typeface="Tahoma"/>
              <a:ea typeface="Tahoma"/>
              <a:cs typeface="Tahoma"/>
              <a:sym typeface="Tahoma"/>
            </a:endParaRPr>
          </a:p>
          <a:p>
            <a:pPr marL="228600" lvl="0" indent="-214899" algn="l" rtl="0">
              <a:lnSpc>
                <a:spcPct val="110000"/>
              </a:lnSpc>
              <a:spcBef>
                <a:spcPts val="1000"/>
              </a:spcBef>
              <a:spcAft>
                <a:spcPts val="0"/>
              </a:spcAft>
              <a:buClr>
                <a:schemeClr val="dk1"/>
              </a:buClr>
              <a:buSzPct val="100000"/>
              <a:buFont typeface="Noto Sans Symbols"/>
              <a:buChar char="❑"/>
            </a:pPr>
            <a:r>
              <a:rPr lang="el-GR" sz="2100" b="1" dirty="0">
                <a:latin typeface="Tahoma"/>
                <a:ea typeface="Tahoma"/>
                <a:cs typeface="Tahoma"/>
                <a:sym typeface="Tahoma"/>
              </a:rPr>
              <a:t>N_CRITIC = 5 </a:t>
            </a:r>
            <a:r>
              <a:rPr lang="el-GR" sz="2100" dirty="0">
                <a:latin typeface="Tahoma"/>
                <a:ea typeface="Tahoma"/>
                <a:cs typeface="Tahoma"/>
                <a:sym typeface="Tahoma"/>
              </a:rPr>
              <a:t>(Ο </a:t>
            </a:r>
            <a:r>
              <a:rPr lang="el-GR" sz="2100" dirty="0" err="1">
                <a:latin typeface="Tahoma"/>
                <a:ea typeface="Tahoma"/>
                <a:cs typeface="Tahoma"/>
                <a:sym typeface="Tahoma"/>
              </a:rPr>
              <a:t>critic</a:t>
            </a:r>
            <a:r>
              <a:rPr lang="el-GR" sz="2100" dirty="0">
                <a:latin typeface="Tahoma"/>
                <a:ea typeface="Tahoma"/>
                <a:cs typeface="Tahoma"/>
                <a:sym typeface="Tahoma"/>
              </a:rPr>
              <a:t> κάνει πέντε βήματα για κάθε ένα του </a:t>
            </a:r>
            <a:r>
              <a:rPr lang="el-GR" sz="2100" dirty="0" err="1">
                <a:latin typeface="Tahoma"/>
                <a:ea typeface="Tahoma"/>
                <a:cs typeface="Tahoma"/>
                <a:sym typeface="Tahoma"/>
              </a:rPr>
              <a:t>generator</a:t>
            </a:r>
            <a:r>
              <a:rPr lang="el-GR" sz="2100" dirty="0">
                <a:latin typeface="Tahoma"/>
                <a:ea typeface="Tahoma"/>
                <a:cs typeface="Tahoma"/>
                <a:sym typeface="Tahoma"/>
              </a:rPr>
              <a:t>). Είναι η πιο συνήθης ρύθμιση σε WGAN-GP:</a:t>
            </a:r>
            <a:endParaRPr sz="2100" dirty="0">
              <a:latin typeface="Tahoma"/>
              <a:ea typeface="Tahoma"/>
              <a:cs typeface="Tahoma"/>
              <a:sym typeface="Tahoma"/>
            </a:endParaRPr>
          </a:p>
          <a:p>
            <a:pPr marL="685800" lvl="1" indent="-214899" algn="l" rtl="0">
              <a:lnSpc>
                <a:spcPct val="110000"/>
              </a:lnSpc>
              <a:spcBef>
                <a:spcPts val="500"/>
              </a:spcBef>
              <a:spcAft>
                <a:spcPts val="0"/>
              </a:spcAft>
              <a:buClr>
                <a:schemeClr val="dk1"/>
              </a:buClr>
              <a:buSzPct val="100000"/>
              <a:buFont typeface="Noto Sans Symbols"/>
              <a:buChar char="❑"/>
            </a:pPr>
            <a:r>
              <a:rPr lang="el-GR" sz="2100" b="1" dirty="0">
                <a:latin typeface="Tahoma"/>
                <a:ea typeface="Tahoma"/>
                <a:cs typeface="Tahoma"/>
                <a:sym typeface="Tahoma"/>
              </a:rPr>
              <a:t>Πολύ χαμηλό MSE (0.5581) και σταθερή </a:t>
            </a:r>
            <a:r>
              <a:rPr lang="el-GR" sz="2100" b="1" dirty="0" err="1">
                <a:latin typeface="Tahoma"/>
                <a:ea typeface="Tahoma"/>
                <a:cs typeface="Tahoma"/>
                <a:sym typeface="Tahoma"/>
              </a:rPr>
              <a:t>Cosine</a:t>
            </a:r>
            <a:r>
              <a:rPr lang="el-GR" sz="2100" b="1" dirty="0">
                <a:latin typeface="Tahoma"/>
                <a:ea typeface="Tahoma"/>
                <a:cs typeface="Tahoma"/>
                <a:sym typeface="Tahoma"/>
              </a:rPr>
              <a:t> </a:t>
            </a:r>
            <a:r>
              <a:rPr lang="el-GR" sz="2100" b="1" dirty="0" err="1">
                <a:latin typeface="Tahoma"/>
                <a:ea typeface="Tahoma"/>
                <a:cs typeface="Tahoma"/>
                <a:sym typeface="Tahoma"/>
              </a:rPr>
              <a:t>Sim</a:t>
            </a:r>
            <a:r>
              <a:rPr lang="el-GR" sz="2100" b="1" dirty="0">
                <a:latin typeface="Tahoma"/>
                <a:ea typeface="Tahoma"/>
                <a:cs typeface="Tahoma"/>
                <a:sym typeface="Tahoma"/>
              </a:rPr>
              <a:t>. (0.7697)</a:t>
            </a:r>
            <a:r>
              <a:rPr lang="el-GR" sz="2100" dirty="0">
                <a:latin typeface="Tahoma"/>
                <a:ea typeface="Tahoma"/>
                <a:cs typeface="Tahoma"/>
                <a:sym typeface="Tahoma"/>
              </a:rPr>
              <a:t> → ο </a:t>
            </a:r>
            <a:r>
              <a:rPr lang="el-GR" sz="2100" dirty="0" err="1">
                <a:latin typeface="Tahoma"/>
                <a:ea typeface="Tahoma"/>
                <a:cs typeface="Tahoma"/>
                <a:sym typeface="Tahoma"/>
              </a:rPr>
              <a:t>generator</a:t>
            </a:r>
            <a:r>
              <a:rPr lang="el-GR" sz="2100" dirty="0">
                <a:latin typeface="Tahoma"/>
                <a:ea typeface="Tahoma"/>
                <a:cs typeface="Tahoma"/>
                <a:sym typeface="Tahoma"/>
              </a:rPr>
              <a:t> παράγει πολύ αξιόπιστα σημεία.</a:t>
            </a:r>
            <a:endParaRPr sz="2100" dirty="0"/>
          </a:p>
          <a:p>
            <a:pPr marL="685800" lvl="1" indent="-214899" algn="l" rtl="0">
              <a:lnSpc>
                <a:spcPct val="110000"/>
              </a:lnSpc>
              <a:spcBef>
                <a:spcPts val="500"/>
              </a:spcBef>
              <a:spcAft>
                <a:spcPts val="0"/>
              </a:spcAft>
              <a:buClr>
                <a:schemeClr val="dk1"/>
              </a:buClr>
              <a:buSzPct val="100000"/>
              <a:buFont typeface="Noto Sans Symbols"/>
              <a:buChar char="❑"/>
            </a:pPr>
            <a:r>
              <a:rPr lang="el-GR" sz="2100" b="1" dirty="0">
                <a:latin typeface="Tahoma"/>
                <a:ea typeface="Tahoma"/>
                <a:cs typeface="Tahoma"/>
                <a:sym typeface="Tahoma"/>
              </a:rPr>
              <a:t>Χαμηλή KL (5.28) </a:t>
            </a:r>
            <a:r>
              <a:rPr lang="el-GR" sz="2100" dirty="0">
                <a:latin typeface="Tahoma"/>
                <a:ea typeface="Tahoma"/>
                <a:cs typeface="Tahoma"/>
                <a:sym typeface="Tahoma"/>
              </a:rPr>
              <a:t>→ οι κατανομές είναι πλέον αρκετά ευθυγραμμισμένες.</a:t>
            </a:r>
            <a:endParaRPr sz="2100" dirty="0"/>
          </a:p>
          <a:p>
            <a:pPr marL="685800" lvl="1" indent="-214899" algn="l" rtl="0">
              <a:lnSpc>
                <a:spcPct val="110000"/>
              </a:lnSpc>
              <a:spcBef>
                <a:spcPts val="500"/>
              </a:spcBef>
              <a:spcAft>
                <a:spcPts val="0"/>
              </a:spcAft>
              <a:buClr>
                <a:schemeClr val="dk1"/>
              </a:buClr>
              <a:buSzPct val="100000"/>
              <a:buFont typeface="Noto Sans Symbols"/>
              <a:buChar char="❑"/>
            </a:pPr>
            <a:r>
              <a:rPr lang="el-GR" sz="2100" b="1" dirty="0" err="1">
                <a:latin typeface="Tahoma"/>
                <a:ea typeface="Tahoma"/>
                <a:cs typeface="Tahoma"/>
                <a:sym typeface="Tahoma"/>
              </a:rPr>
              <a:t>Μετρια</a:t>
            </a:r>
            <a:r>
              <a:rPr lang="el-GR" sz="2100" b="1" dirty="0">
                <a:latin typeface="Tahoma"/>
                <a:ea typeface="Tahoma"/>
                <a:cs typeface="Tahoma"/>
                <a:sym typeface="Tahoma"/>
              </a:rPr>
              <a:t> Ποικιλότητα (</a:t>
            </a:r>
            <a:r>
              <a:rPr lang="el-GR" sz="2100" b="1" dirty="0" err="1">
                <a:latin typeface="Tahoma"/>
                <a:ea typeface="Tahoma"/>
                <a:cs typeface="Tahoma"/>
                <a:sym typeface="Tahoma"/>
              </a:rPr>
              <a:t>Variance</a:t>
            </a:r>
            <a:r>
              <a:rPr lang="el-GR" sz="2100" b="1" dirty="0">
                <a:latin typeface="Tahoma"/>
                <a:ea typeface="Tahoma"/>
                <a:cs typeface="Tahoma"/>
                <a:sym typeface="Tahoma"/>
              </a:rPr>
              <a:t> ~925) και </a:t>
            </a:r>
            <a:r>
              <a:rPr lang="el-GR" sz="2100" b="1" dirty="0" err="1">
                <a:latin typeface="Tahoma"/>
                <a:ea typeface="Tahoma"/>
                <a:cs typeface="Tahoma"/>
                <a:sym typeface="Tahoma"/>
              </a:rPr>
              <a:t>Coverage</a:t>
            </a:r>
            <a:r>
              <a:rPr lang="el-GR" sz="2100" b="1" dirty="0">
                <a:latin typeface="Tahoma"/>
                <a:ea typeface="Tahoma"/>
                <a:cs typeface="Tahoma"/>
                <a:sym typeface="Tahoma"/>
              </a:rPr>
              <a:t> ~15 % </a:t>
            </a:r>
            <a:r>
              <a:rPr lang="el-GR" sz="2100" dirty="0">
                <a:latin typeface="Tahoma"/>
                <a:ea typeface="Tahoma"/>
                <a:cs typeface="Tahoma"/>
                <a:sym typeface="Tahoma"/>
              </a:rPr>
              <a:t>→, διατηρεί ικανοποιητική ποικιλία.</a:t>
            </a:r>
            <a:endParaRPr sz="2100" dirty="0"/>
          </a:p>
          <a:p>
            <a:pPr marL="228600" lvl="0" indent="-64135" algn="l" rtl="0">
              <a:lnSpc>
                <a:spcPct val="110000"/>
              </a:lnSpc>
              <a:spcBef>
                <a:spcPts val="1000"/>
              </a:spcBef>
              <a:spcAft>
                <a:spcPts val="0"/>
              </a:spcAft>
              <a:buClr>
                <a:schemeClr val="dk1"/>
              </a:buClr>
              <a:buSzPct val="100000"/>
              <a:buNone/>
            </a:pPr>
            <a:endParaRPr dirty="0"/>
          </a:p>
          <a:p>
            <a:pPr marL="228600" lvl="0" indent="-64135" algn="l" rtl="0">
              <a:lnSpc>
                <a:spcPct val="110000"/>
              </a:lnSpc>
              <a:spcBef>
                <a:spcPts val="1000"/>
              </a:spcBef>
              <a:spcAft>
                <a:spcPts val="0"/>
              </a:spcAft>
              <a:buClr>
                <a:schemeClr val="dk1"/>
              </a:buClr>
              <a:buSzPct val="100000"/>
              <a:buNone/>
            </a:pPr>
            <a:endParaRPr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87"/>
        <p:cNvGrpSpPr/>
        <p:nvPr/>
      </p:nvGrpSpPr>
      <p:grpSpPr>
        <a:xfrm>
          <a:off x="0" y="0"/>
          <a:ext cx="0" cy="0"/>
          <a:chOff x="0" y="0"/>
          <a:chExt cx="0" cy="0"/>
        </a:xfrm>
      </p:grpSpPr>
      <p:sp>
        <p:nvSpPr>
          <p:cNvPr id="688" name="Google Shape;688;p56"/>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venir"/>
              <a:ea typeface="Avenir"/>
              <a:cs typeface="Avenir"/>
              <a:sym typeface="Avenir"/>
            </a:endParaRPr>
          </a:p>
        </p:txBody>
      </p:sp>
      <p:sp>
        <p:nvSpPr>
          <p:cNvPr id="689" name="Google Shape;689;p56"/>
          <p:cNvSpPr/>
          <p:nvPr/>
        </p:nvSpPr>
        <p:spPr>
          <a:xfrm>
            <a:off x="409575" y="633619"/>
            <a:ext cx="6838569" cy="5495925"/>
          </a:xfrm>
          <a:prstGeom prst="rect">
            <a:avLst/>
          </a:prstGeom>
          <a:solidFill>
            <a:schemeClr val="lt1"/>
          </a:solidFill>
          <a:ln w="9525" cap="flat" cmpd="sng">
            <a:solidFill>
              <a:srgbClr val="F1E3F1"/>
            </a:solidFill>
            <a:prstDash val="solid"/>
            <a:miter lim="800000"/>
            <a:headEnd type="none" w="sm" len="sm"/>
            <a:tailEnd type="none" w="sm" len="sm"/>
          </a:ln>
          <a:effectLst>
            <a:outerShdw blurRad="50800" dist="38100" dir="2700000" algn="tl" rotWithShape="0">
              <a:srgbClr val="D8D8D8">
                <a:alpha val="29803"/>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FFFFFF"/>
              </a:solidFill>
              <a:latin typeface="Calibri"/>
              <a:ea typeface="Calibri"/>
              <a:cs typeface="Calibri"/>
              <a:sym typeface="Calibri"/>
            </a:endParaRPr>
          </a:p>
        </p:txBody>
      </p:sp>
      <p:sp>
        <p:nvSpPr>
          <p:cNvPr id="690" name="Google Shape;690;p56"/>
          <p:cNvSpPr txBox="1">
            <a:spLocks noGrp="1"/>
          </p:cNvSpPr>
          <p:nvPr>
            <p:ph type="title"/>
          </p:nvPr>
        </p:nvSpPr>
        <p:spPr>
          <a:xfrm>
            <a:off x="841246" y="978619"/>
            <a:ext cx="5991244" cy="110642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200"/>
              <a:buFont typeface="Avenir"/>
              <a:buNone/>
            </a:pPr>
            <a:r>
              <a:rPr lang="el-GR" sz="3200" dirty="0" err="1">
                <a:latin typeface="Tahoma" panose="020B0604030504040204" pitchFamily="34" charset="0"/>
                <a:ea typeface="Tahoma" panose="020B0604030504040204" pitchFamily="34" charset="0"/>
                <a:cs typeface="Tahoma" panose="020B0604030504040204" pitchFamily="34" charset="0"/>
              </a:rPr>
              <a:t>Epochs</a:t>
            </a:r>
            <a:endParaRPr sz="3200" dirty="0">
              <a:latin typeface="Tahoma" panose="020B0604030504040204" pitchFamily="34" charset="0"/>
              <a:ea typeface="Tahoma" panose="020B0604030504040204" pitchFamily="34" charset="0"/>
              <a:cs typeface="Tahoma" panose="020B0604030504040204" pitchFamily="34" charset="0"/>
            </a:endParaRPr>
          </a:p>
        </p:txBody>
      </p:sp>
      <p:sp>
        <p:nvSpPr>
          <p:cNvPr id="691" name="Google Shape;691;p56"/>
          <p:cNvSpPr/>
          <p:nvPr/>
        </p:nvSpPr>
        <p:spPr>
          <a:xfrm>
            <a:off x="345567" y="1171300"/>
            <a:ext cx="128016" cy="704088"/>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FFFFFF"/>
              </a:solidFill>
              <a:latin typeface="Calibri"/>
              <a:ea typeface="Calibri"/>
              <a:cs typeface="Calibri"/>
              <a:sym typeface="Calibri"/>
            </a:endParaRPr>
          </a:p>
        </p:txBody>
      </p:sp>
      <p:sp>
        <p:nvSpPr>
          <p:cNvPr id="692" name="Google Shape;692;p56"/>
          <p:cNvSpPr/>
          <p:nvPr/>
        </p:nvSpPr>
        <p:spPr>
          <a:xfrm>
            <a:off x="877458" y="2093976"/>
            <a:ext cx="5846683" cy="9144"/>
          </a:xfrm>
          <a:prstGeom prst="rect">
            <a:avLst/>
          </a:prstGeom>
          <a:solidFill>
            <a:srgbClr val="D6BDD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FFFFFF"/>
              </a:solidFill>
              <a:latin typeface="Calibri"/>
              <a:ea typeface="Calibri"/>
              <a:cs typeface="Calibri"/>
              <a:sym typeface="Calibri"/>
            </a:endParaRPr>
          </a:p>
        </p:txBody>
      </p:sp>
      <p:sp>
        <p:nvSpPr>
          <p:cNvPr id="693" name="Google Shape;693;p56"/>
          <p:cNvSpPr txBox="1">
            <a:spLocks noGrp="1"/>
          </p:cNvSpPr>
          <p:nvPr>
            <p:ph type="body" idx="1"/>
          </p:nvPr>
        </p:nvSpPr>
        <p:spPr>
          <a:xfrm>
            <a:off x="526852" y="2148629"/>
            <a:ext cx="6721292" cy="4121472"/>
          </a:xfrm>
          <a:prstGeom prst="rect">
            <a:avLst/>
          </a:prstGeom>
          <a:noFill/>
          <a:ln>
            <a:noFill/>
          </a:ln>
        </p:spPr>
        <p:txBody>
          <a:bodyPr spcFirstLastPara="1" wrap="square" lIns="91425" tIns="45700" rIns="91425" bIns="45700" anchor="t" anchorCtr="0">
            <a:normAutofit fontScale="85000" lnSpcReduction="20000"/>
          </a:bodyPr>
          <a:lstStyle/>
          <a:p>
            <a:pPr marL="288529" lvl="0" indent="-285750" algn="l" rtl="0">
              <a:lnSpc>
                <a:spcPct val="100000"/>
              </a:lnSpc>
              <a:spcBef>
                <a:spcPts val="0"/>
              </a:spcBef>
              <a:spcAft>
                <a:spcPts val="0"/>
              </a:spcAft>
              <a:buClr>
                <a:schemeClr val="dk1"/>
              </a:buClr>
              <a:buSzPct val="100000"/>
              <a:buFont typeface="Wingdings" panose="05000000000000000000" pitchFamily="2" charset="2"/>
              <a:buChar char="q"/>
            </a:pPr>
            <a:r>
              <a:rPr lang="el-GR" sz="1750" dirty="0">
                <a:latin typeface="Tahoma"/>
                <a:ea typeface="Tahoma"/>
                <a:cs typeface="Tahoma"/>
                <a:sym typeface="Tahoma"/>
              </a:rPr>
              <a:t>Η επίδραση των </a:t>
            </a:r>
            <a:r>
              <a:rPr lang="el-GR" sz="1750" dirty="0" err="1">
                <a:latin typeface="Tahoma"/>
                <a:ea typeface="Tahoma"/>
                <a:cs typeface="Tahoma"/>
                <a:sym typeface="Tahoma"/>
              </a:rPr>
              <a:t>υπερπαραμέτρων</a:t>
            </a:r>
            <a:r>
              <a:rPr lang="el-GR" sz="1750" dirty="0">
                <a:latin typeface="Tahoma"/>
                <a:ea typeface="Tahoma"/>
                <a:cs typeface="Tahoma"/>
                <a:sym typeface="Tahoma"/>
              </a:rPr>
              <a:t> και της διάρκειας της εκπαίδευσης αντανακλάται ξεκάθαρα στην εξέλιξη των βασικών μετρικών κατά τη διάρκεια των </a:t>
            </a:r>
            <a:r>
              <a:rPr lang="el-GR" sz="1750" dirty="0" err="1">
                <a:latin typeface="Tahoma"/>
                <a:ea typeface="Tahoma"/>
                <a:cs typeface="Tahoma"/>
                <a:sym typeface="Tahoma"/>
              </a:rPr>
              <a:t>epochs</a:t>
            </a:r>
            <a:r>
              <a:rPr lang="el-GR" sz="1750" dirty="0">
                <a:latin typeface="Tahoma"/>
                <a:ea typeface="Tahoma"/>
                <a:cs typeface="Tahoma"/>
                <a:sym typeface="Tahoma"/>
              </a:rPr>
              <a:t>. Στα πρώτα 5 </a:t>
            </a:r>
            <a:r>
              <a:rPr lang="el-GR" sz="1750" dirty="0" err="1">
                <a:latin typeface="Tahoma"/>
                <a:ea typeface="Tahoma"/>
                <a:cs typeface="Tahoma"/>
                <a:sym typeface="Tahoma"/>
              </a:rPr>
              <a:t>epochs</a:t>
            </a:r>
            <a:r>
              <a:rPr lang="el-GR" sz="1750" dirty="0">
                <a:latin typeface="Tahoma"/>
                <a:ea typeface="Tahoma"/>
                <a:cs typeface="Tahoma"/>
                <a:sym typeface="Tahoma"/>
              </a:rPr>
              <a:t>, το μοντέλο εμφανίζει υψηλό σφάλμα (MSE = 0.5234), χαμηλή </a:t>
            </a:r>
            <a:r>
              <a:rPr lang="el-GR" sz="1750" dirty="0" err="1">
                <a:latin typeface="Tahoma"/>
                <a:ea typeface="Tahoma"/>
                <a:cs typeface="Tahoma"/>
                <a:sym typeface="Tahoma"/>
              </a:rPr>
              <a:t>Cosine</a:t>
            </a:r>
            <a:r>
              <a:rPr lang="el-GR" sz="1750" dirty="0">
                <a:latin typeface="Tahoma"/>
                <a:ea typeface="Tahoma"/>
                <a:cs typeface="Tahoma"/>
                <a:sym typeface="Tahoma"/>
              </a:rPr>
              <a:t> </a:t>
            </a:r>
            <a:r>
              <a:rPr lang="el-GR" sz="1750" dirty="0" err="1">
                <a:latin typeface="Tahoma"/>
                <a:ea typeface="Tahoma"/>
                <a:cs typeface="Tahoma"/>
                <a:sym typeface="Tahoma"/>
              </a:rPr>
              <a:t>Similarity</a:t>
            </a:r>
            <a:r>
              <a:rPr lang="el-GR" sz="1750" dirty="0">
                <a:latin typeface="Tahoma"/>
                <a:ea typeface="Tahoma"/>
                <a:cs typeface="Tahoma"/>
                <a:sym typeface="Tahoma"/>
              </a:rPr>
              <a:t> (0.7027) και υπερβολικά μεγάλη διασπορά (</a:t>
            </a:r>
            <a:r>
              <a:rPr lang="el-GR" sz="1750" dirty="0" err="1">
                <a:latin typeface="Tahoma"/>
                <a:ea typeface="Tahoma"/>
                <a:cs typeface="Tahoma"/>
                <a:sym typeface="Tahoma"/>
              </a:rPr>
              <a:t>Diversity</a:t>
            </a:r>
            <a:r>
              <a:rPr lang="el-GR" sz="1750" dirty="0">
                <a:latin typeface="Tahoma"/>
                <a:ea typeface="Tahoma"/>
                <a:cs typeface="Tahoma"/>
                <a:sym typeface="Tahoma"/>
              </a:rPr>
              <a:t> = 5690.47), ενώ η κάλυψη των πραγματικών τιμών είναι περιορισμένη (</a:t>
            </a:r>
            <a:r>
              <a:rPr lang="el-GR" sz="1750" dirty="0" err="1">
                <a:latin typeface="Tahoma"/>
                <a:ea typeface="Tahoma"/>
                <a:cs typeface="Tahoma"/>
                <a:sym typeface="Tahoma"/>
              </a:rPr>
              <a:t>Coverage</a:t>
            </a:r>
            <a:r>
              <a:rPr lang="el-GR" sz="1750" dirty="0">
                <a:latin typeface="Tahoma"/>
                <a:ea typeface="Tahoma"/>
                <a:cs typeface="Tahoma"/>
                <a:sym typeface="Tahoma"/>
              </a:rPr>
              <a:t> = 18.23%). Με τη σταδιακή αύξηση των </a:t>
            </a:r>
            <a:r>
              <a:rPr lang="el-GR" sz="1750" dirty="0" err="1">
                <a:latin typeface="Tahoma"/>
                <a:ea typeface="Tahoma"/>
                <a:cs typeface="Tahoma"/>
                <a:sym typeface="Tahoma"/>
              </a:rPr>
              <a:t>epochs</a:t>
            </a:r>
            <a:r>
              <a:rPr lang="el-GR" sz="1750" dirty="0">
                <a:latin typeface="Tahoma"/>
                <a:ea typeface="Tahoma"/>
                <a:cs typeface="Tahoma"/>
                <a:sym typeface="Tahoma"/>
              </a:rPr>
              <a:t>, παρατηρείται αισθητή βελτίωση: στα 50 </a:t>
            </a:r>
            <a:r>
              <a:rPr lang="el-GR" sz="1750" dirty="0" err="1">
                <a:latin typeface="Tahoma"/>
                <a:ea typeface="Tahoma"/>
                <a:cs typeface="Tahoma"/>
                <a:sym typeface="Tahoma"/>
              </a:rPr>
              <a:t>epochs</a:t>
            </a:r>
            <a:r>
              <a:rPr lang="el-GR" sz="1750" dirty="0">
                <a:latin typeface="Tahoma"/>
                <a:ea typeface="Tahoma"/>
                <a:cs typeface="Tahoma"/>
                <a:sym typeface="Tahoma"/>
              </a:rPr>
              <a:t> οι μετρικές βελτιώνονται σημαντικά, ενώ στα 100 και 150 </a:t>
            </a:r>
            <a:r>
              <a:rPr lang="el-GR" sz="1750" dirty="0" err="1">
                <a:latin typeface="Tahoma"/>
                <a:ea typeface="Tahoma"/>
                <a:cs typeface="Tahoma"/>
                <a:sym typeface="Tahoma"/>
              </a:rPr>
              <a:t>epochs</a:t>
            </a:r>
            <a:r>
              <a:rPr lang="el-GR" sz="1750" dirty="0">
                <a:latin typeface="Tahoma"/>
                <a:ea typeface="Tahoma"/>
                <a:cs typeface="Tahoma"/>
                <a:sym typeface="Tahoma"/>
              </a:rPr>
              <a:t> το μοντέλο καταγράφει σαφή πρόοδο, με το MSE να μειώνεται (0.2029 στους 150 </a:t>
            </a:r>
            <a:r>
              <a:rPr lang="el-GR" sz="1750" dirty="0" err="1">
                <a:latin typeface="Tahoma"/>
                <a:ea typeface="Tahoma"/>
                <a:cs typeface="Tahoma"/>
                <a:sym typeface="Tahoma"/>
              </a:rPr>
              <a:t>epochs</a:t>
            </a:r>
            <a:r>
              <a:rPr lang="el-GR" sz="1750" dirty="0">
                <a:latin typeface="Tahoma"/>
                <a:ea typeface="Tahoma"/>
                <a:cs typeface="Tahoma"/>
                <a:sym typeface="Tahoma"/>
              </a:rPr>
              <a:t>), την ομοιότητα να αυξάνεται (</a:t>
            </a:r>
            <a:r>
              <a:rPr lang="el-GR" sz="1750" dirty="0" err="1">
                <a:latin typeface="Tahoma"/>
                <a:ea typeface="Tahoma"/>
                <a:cs typeface="Tahoma"/>
                <a:sym typeface="Tahoma"/>
              </a:rPr>
              <a:t>Cosine</a:t>
            </a:r>
            <a:r>
              <a:rPr lang="el-GR" sz="1750" dirty="0">
                <a:latin typeface="Tahoma"/>
                <a:ea typeface="Tahoma"/>
                <a:cs typeface="Tahoma"/>
                <a:sym typeface="Tahoma"/>
              </a:rPr>
              <a:t> </a:t>
            </a:r>
            <a:r>
              <a:rPr lang="el-GR" sz="1750" dirty="0" err="1">
                <a:latin typeface="Tahoma"/>
                <a:ea typeface="Tahoma"/>
                <a:cs typeface="Tahoma"/>
                <a:sym typeface="Tahoma"/>
              </a:rPr>
              <a:t>Similarity</a:t>
            </a:r>
            <a:r>
              <a:rPr lang="el-GR" sz="1750" dirty="0">
                <a:latin typeface="Tahoma"/>
                <a:ea typeface="Tahoma"/>
                <a:cs typeface="Tahoma"/>
                <a:sym typeface="Tahoma"/>
              </a:rPr>
              <a:t> = 0.7836), και την KL </a:t>
            </a:r>
            <a:r>
              <a:rPr lang="el-GR" sz="1750" dirty="0" err="1">
                <a:latin typeface="Tahoma"/>
                <a:ea typeface="Tahoma"/>
                <a:cs typeface="Tahoma"/>
                <a:sym typeface="Tahoma"/>
              </a:rPr>
              <a:t>Divergence</a:t>
            </a:r>
            <a:r>
              <a:rPr lang="el-GR" sz="1750" dirty="0">
                <a:latin typeface="Tahoma"/>
                <a:ea typeface="Tahoma"/>
                <a:cs typeface="Tahoma"/>
                <a:sym typeface="Tahoma"/>
              </a:rPr>
              <a:t> να περιορίζεται σημαντικά (4.9129).</a:t>
            </a:r>
            <a:endParaRPr lang="en-GB" sz="1750" dirty="0">
              <a:latin typeface="Tahoma"/>
              <a:ea typeface="Tahoma"/>
              <a:cs typeface="Tahoma"/>
              <a:sym typeface="Tahoma"/>
            </a:endParaRPr>
          </a:p>
          <a:p>
            <a:pPr marL="288529" lvl="0" indent="-285750" algn="l" rtl="0">
              <a:lnSpc>
                <a:spcPct val="100000"/>
              </a:lnSpc>
              <a:spcBef>
                <a:spcPts val="0"/>
              </a:spcBef>
              <a:spcAft>
                <a:spcPts val="0"/>
              </a:spcAft>
              <a:buClr>
                <a:schemeClr val="dk1"/>
              </a:buClr>
              <a:buSzPct val="100000"/>
              <a:buFont typeface="Wingdings" panose="05000000000000000000" pitchFamily="2" charset="2"/>
              <a:buChar char="q"/>
            </a:pPr>
            <a:endParaRPr lang="en-GB" sz="1750" dirty="0">
              <a:latin typeface="Tahoma"/>
              <a:ea typeface="Tahoma"/>
              <a:cs typeface="Tahoma"/>
              <a:sym typeface="Tahoma"/>
            </a:endParaRPr>
          </a:p>
          <a:p>
            <a:pPr marL="288529" lvl="0" indent="-285750" algn="l" rtl="0">
              <a:lnSpc>
                <a:spcPct val="100000"/>
              </a:lnSpc>
              <a:spcBef>
                <a:spcPts val="0"/>
              </a:spcBef>
              <a:spcAft>
                <a:spcPts val="0"/>
              </a:spcAft>
              <a:buClr>
                <a:schemeClr val="dk1"/>
              </a:buClr>
              <a:buSzPct val="100000"/>
              <a:buFont typeface="Wingdings" panose="05000000000000000000" pitchFamily="2" charset="2"/>
              <a:buChar char="q"/>
            </a:pPr>
            <a:r>
              <a:rPr lang="el-GR" sz="1750" dirty="0">
                <a:latin typeface="Tahoma"/>
                <a:ea typeface="Tahoma"/>
                <a:cs typeface="Tahoma"/>
                <a:sym typeface="Tahoma"/>
              </a:rPr>
              <a:t>Παρότι στα 200 </a:t>
            </a:r>
            <a:r>
              <a:rPr lang="el-GR" sz="1750" dirty="0" err="1">
                <a:latin typeface="Tahoma"/>
                <a:ea typeface="Tahoma"/>
                <a:cs typeface="Tahoma"/>
                <a:sym typeface="Tahoma"/>
              </a:rPr>
              <a:t>epochs</a:t>
            </a:r>
            <a:r>
              <a:rPr lang="el-GR" sz="1750" dirty="0">
                <a:latin typeface="Tahoma"/>
                <a:ea typeface="Tahoma"/>
                <a:cs typeface="Tahoma"/>
                <a:sym typeface="Tahoma"/>
              </a:rPr>
              <a:t> το σφάλμα μειώνεται περαιτέρω και η ομοιότητα αυξάνεται, καταγράφεται σημαντική πτώση της διασποράς (</a:t>
            </a:r>
            <a:r>
              <a:rPr lang="el-GR" sz="1750" dirty="0" err="1">
                <a:latin typeface="Tahoma"/>
                <a:ea typeface="Tahoma"/>
                <a:cs typeface="Tahoma"/>
                <a:sym typeface="Tahoma"/>
              </a:rPr>
              <a:t>Diversity</a:t>
            </a:r>
            <a:r>
              <a:rPr lang="el-GR" sz="1750" dirty="0">
                <a:latin typeface="Tahoma"/>
                <a:ea typeface="Tahoma"/>
                <a:cs typeface="Tahoma"/>
                <a:sym typeface="Tahoma"/>
              </a:rPr>
              <a:t> = 0.0523) και της κάλυψης (</a:t>
            </a:r>
            <a:r>
              <a:rPr lang="el-GR" sz="1750" dirty="0" err="1">
                <a:latin typeface="Tahoma"/>
                <a:ea typeface="Tahoma"/>
                <a:cs typeface="Tahoma"/>
                <a:sym typeface="Tahoma"/>
              </a:rPr>
              <a:t>Coverage</a:t>
            </a:r>
            <a:r>
              <a:rPr lang="el-GR" sz="1750" dirty="0">
                <a:latin typeface="Tahoma"/>
                <a:ea typeface="Tahoma"/>
                <a:cs typeface="Tahoma"/>
                <a:sym typeface="Tahoma"/>
              </a:rPr>
              <a:t> = 23.25%), ένδειξη απώλειας ποικιλίας (mode </a:t>
            </a:r>
            <a:r>
              <a:rPr lang="el-GR" sz="1750" dirty="0" err="1">
                <a:latin typeface="Tahoma"/>
                <a:ea typeface="Tahoma"/>
                <a:cs typeface="Tahoma"/>
                <a:sym typeface="Tahoma"/>
              </a:rPr>
              <a:t>collapse</a:t>
            </a:r>
            <a:r>
              <a:rPr lang="el-GR" sz="1750" dirty="0">
                <a:latin typeface="Tahoma"/>
                <a:ea typeface="Tahoma"/>
                <a:cs typeface="Tahoma"/>
                <a:sym typeface="Tahoma"/>
              </a:rPr>
              <a:t>). Για τον λόγο αυτό, ως βέλτιστο σημείο εκπαίδευσης επιλέγονται τα 150 </a:t>
            </a:r>
            <a:r>
              <a:rPr lang="el-GR" sz="1750" dirty="0" err="1">
                <a:latin typeface="Tahoma"/>
                <a:ea typeface="Tahoma"/>
                <a:cs typeface="Tahoma"/>
                <a:sym typeface="Tahoma"/>
              </a:rPr>
              <a:t>epochs</a:t>
            </a:r>
            <a:r>
              <a:rPr lang="el-GR" sz="1750" dirty="0">
                <a:latin typeface="Tahoma"/>
                <a:ea typeface="Tahoma"/>
                <a:cs typeface="Tahoma"/>
                <a:sym typeface="Tahoma"/>
              </a:rPr>
              <a:t>, καθώς προσφέρουν την καλύτερη ισορροπία ανάμεσα σε πιστότητα (</a:t>
            </a:r>
            <a:r>
              <a:rPr lang="el-GR" sz="1750" dirty="0" err="1">
                <a:latin typeface="Tahoma"/>
                <a:ea typeface="Tahoma"/>
                <a:cs typeface="Tahoma"/>
                <a:sym typeface="Tahoma"/>
              </a:rPr>
              <a:t>fidelity</a:t>
            </a:r>
            <a:r>
              <a:rPr lang="el-GR" sz="1750" dirty="0">
                <a:latin typeface="Tahoma"/>
                <a:ea typeface="Tahoma"/>
                <a:cs typeface="Tahoma"/>
                <a:sym typeface="Tahoma"/>
              </a:rPr>
              <a:t>) και ποικιλία (</a:t>
            </a:r>
            <a:r>
              <a:rPr lang="el-GR" sz="1750" dirty="0" err="1">
                <a:latin typeface="Tahoma"/>
                <a:ea typeface="Tahoma"/>
                <a:cs typeface="Tahoma"/>
                <a:sym typeface="Tahoma"/>
              </a:rPr>
              <a:t>diversity</a:t>
            </a:r>
            <a:r>
              <a:rPr lang="el-GR" sz="1750" dirty="0">
                <a:latin typeface="Tahoma"/>
                <a:ea typeface="Tahoma"/>
                <a:cs typeface="Tahoma"/>
                <a:sym typeface="Tahoma"/>
              </a:rPr>
              <a:t>), εξασφαλίζοντας ρεαλιστικά και πολυδιάστατα συνθετικά δείγματα.</a:t>
            </a:r>
            <a:endParaRPr sz="1750" dirty="0">
              <a:latin typeface="Tahoma"/>
              <a:ea typeface="Tahoma"/>
              <a:cs typeface="Tahoma"/>
              <a:sym typeface="Tahoma"/>
            </a:endParaRPr>
          </a:p>
          <a:p>
            <a:pPr marL="228600" lvl="0" indent="-139700" algn="l" rtl="0">
              <a:lnSpc>
                <a:spcPct val="100000"/>
              </a:lnSpc>
              <a:spcBef>
                <a:spcPts val="1000"/>
              </a:spcBef>
              <a:spcAft>
                <a:spcPts val="0"/>
              </a:spcAft>
              <a:buClr>
                <a:schemeClr val="dk1"/>
              </a:buClr>
              <a:buSzPct val="100000"/>
              <a:buNone/>
            </a:pPr>
            <a:endParaRPr sz="1400" dirty="0">
              <a:latin typeface="Tahoma"/>
              <a:ea typeface="Tahoma"/>
              <a:cs typeface="Tahoma"/>
              <a:sym typeface="Tahoma"/>
            </a:endParaRPr>
          </a:p>
          <a:p>
            <a:pPr marL="228600" lvl="0" indent="-139700" algn="l" rtl="0">
              <a:lnSpc>
                <a:spcPct val="100000"/>
              </a:lnSpc>
              <a:spcBef>
                <a:spcPts val="1000"/>
              </a:spcBef>
              <a:spcAft>
                <a:spcPts val="0"/>
              </a:spcAft>
              <a:buClr>
                <a:schemeClr val="dk1"/>
              </a:buClr>
              <a:buSzPct val="100000"/>
              <a:buNone/>
            </a:pPr>
            <a:endParaRPr sz="1400" dirty="0">
              <a:latin typeface="Tahoma"/>
              <a:ea typeface="Tahoma"/>
              <a:cs typeface="Tahoma"/>
              <a:sym typeface="Tahoma"/>
            </a:endParaRPr>
          </a:p>
        </p:txBody>
      </p:sp>
      <p:graphicFrame>
        <p:nvGraphicFramePr>
          <p:cNvPr id="2" name="Table 1">
            <a:extLst>
              <a:ext uri="{FF2B5EF4-FFF2-40B4-BE49-F238E27FC236}">
                <a16:creationId xmlns:a16="http://schemas.microsoft.com/office/drawing/2014/main" id="{E0F55B59-401A-27F9-BFB6-E96975963C67}"/>
              </a:ext>
            </a:extLst>
          </p:cNvPr>
          <p:cNvGraphicFramePr>
            <a:graphicFrameLocks noGrp="1"/>
          </p:cNvGraphicFramePr>
          <p:nvPr>
            <p:extLst>
              <p:ext uri="{D42A27DB-BD31-4B8C-83A1-F6EECF244321}">
                <p14:modId xmlns:p14="http://schemas.microsoft.com/office/powerpoint/2010/main" val="1402949704"/>
              </p:ext>
            </p:extLst>
          </p:nvPr>
        </p:nvGraphicFramePr>
        <p:xfrm>
          <a:off x="7491419" y="2185489"/>
          <a:ext cx="4457306" cy="2836482"/>
        </p:xfrm>
        <a:graphic>
          <a:graphicData uri="http://schemas.openxmlformats.org/drawingml/2006/table">
            <a:tbl>
              <a:tblPr firstRow="1" bandRow="1">
                <a:tableStyleId>{9E3BE910-B883-4595-9F21-A33E944D409D}</a:tableStyleId>
              </a:tblPr>
              <a:tblGrid>
                <a:gridCol w="704830">
                  <a:extLst>
                    <a:ext uri="{9D8B030D-6E8A-4147-A177-3AD203B41FA5}">
                      <a16:colId xmlns:a16="http://schemas.microsoft.com/office/drawing/2014/main" val="1944558795"/>
                    </a:ext>
                  </a:extLst>
                </a:gridCol>
                <a:gridCol w="621158">
                  <a:extLst>
                    <a:ext uri="{9D8B030D-6E8A-4147-A177-3AD203B41FA5}">
                      <a16:colId xmlns:a16="http://schemas.microsoft.com/office/drawing/2014/main" val="587489917"/>
                    </a:ext>
                  </a:extLst>
                </a:gridCol>
                <a:gridCol w="670794">
                  <a:extLst>
                    <a:ext uri="{9D8B030D-6E8A-4147-A177-3AD203B41FA5}">
                      <a16:colId xmlns:a16="http://schemas.microsoft.com/office/drawing/2014/main" val="3704444691"/>
                    </a:ext>
                  </a:extLst>
                </a:gridCol>
                <a:gridCol w="709794">
                  <a:extLst>
                    <a:ext uri="{9D8B030D-6E8A-4147-A177-3AD203B41FA5}">
                      <a16:colId xmlns:a16="http://schemas.microsoft.com/office/drawing/2014/main" val="1705108519"/>
                    </a:ext>
                  </a:extLst>
                </a:gridCol>
                <a:gridCol w="855865">
                  <a:extLst>
                    <a:ext uri="{9D8B030D-6E8A-4147-A177-3AD203B41FA5}">
                      <a16:colId xmlns:a16="http://schemas.microsoft.com/office/drawing/2014/main" val="2736627684"/>
                    </a:ext>
                  </a:extLst>
                </a:gridCol>
                <a:gridCol w="894865">
                  <a:extLst>
                    <a:ext uri="{9D8B030D-6E8A-4147-A177-3AD203B41FA5}">
                      <a16:colId xmlns:a16="http://schemas.microsoft.com/office/drawing/2014/main" val="2667919728"/>
                    </a:ext>
                  </a:extLst>
                </a:gridCol>
              </a:tblGrid>
              <a:tr h="472747">
                <a:tc>
                  <a:txBody>
                    <a:bodyPr/>
                    <a:lstStyle/>
                    <a:p>
                      <a:pPr>
                        <a:lnSpc>
                          <a:spcPct val="107000"/>
                        </a:lnSpc>
                        <a:spcAft>
                          <a:spcPts val="800"/>
                        </a:spcAft>
                        <a:buNone/>
                      </a:pPr>
                      <a:r>
                        <a:rPr lang="el-GR" sz="1300" kern="100" dirty="0" err="1">
                          <a:effectLst/>
                          <a:latin typeface="Tahoma" panose="020B0604030504040204" pitchFamily="34" charset="0"/>
                          <a:ea typeface="Tahoma" panose="020B0604030504040204" pitchFamily="34" charset="0"/>
                          <a:cs typeface="Tahoma" panose="020B0604030504040204" pitchFamily="34" charset="0"/>
                        </a:rPr>
                        <a:t>Epochs</a:t>
                      </a:r>
                      <a:endParaRPr lang="el-GR" sz="1200" kern="100" dirty="0">
                        <a:effectLst/>
                        <a:latin typeface="Tahoma" panose="020B0604030504040204" pitchFamily="34" charset="0"/>
                        <a:ea typeface="Tahoma" panose="020B0604030504040204" pitchFamily="34" charset="0"/>
                        <a:cs typeface="Tahoma" panose="020B0604030504040204" pitchFamily="34" charset="0"/>
                      </a:endParaRPr>
                    </a:p>
                  </a:txBody>
                  <a:tcPr marL="63109" marR="63109" marT="31909" marB="31909" anchor="ctr"/>
                </a:tc>
                <a:tc>
                  <a:txBody>
                    <a:bodyPr/>
                    <a:lstStyle/>
                    <a:p>
                      <a:pPr>
                        <a:lnSpc>
                          <a:spcPct val="107000"/>
                        </a:lnSpc>
                        <a:spcAft>
                          <a:spcPts val="800"/>
                        </a:spcAft>
                        <a:buNone/>
                      </a:pPr>
                      <a:r>
                        <a:rPr lang="el-GR" sz="1300" kern="100">
                          <a:effectLst/>
                          <a:latin typeface="Tahoma" panose="020B0604030504040204" pitchFamily="34" charset="0"/>
                          <a:ea typeface="Tahoma" panose="020B0604030504040204" pitchFamily="34" charset="0"/>
                          <a:cs typeface="Tahoma" panose="020B0604030504040204" pitchFamily="34" charset="0"/>
                        </a:rPr>
                        <a:t>MSE</a:t>
                      </a:r>
                      <a:endParaRPr lang="el-GR" sz="1200" kern="100">
                        <a:effectLst/>
                        <a:latin typeface="Tahoma" panose="020B0604030504040204" pitchFamily="34" charset="0"/>
                        <a:ea typeface="Tahoma" panose="020B0604030504040204" pitchFamily="34" charset="0"/>
                        <a:cs typeface="Tahoma" panose="020B0604030504040204" pitchFamily="34" charset="0"/>
                      </a:endParaRPr>
                    </a:p>
                  </a:txBody>
                  <a:tcPr marL="63109" marR="63109" marT="31909" marB="31909" anchor="ctr"/>
                </a:tc>
                <a:tc>
                  <a:txBody>
                    <a:bodyPr/>
                    <a:lstStyle/>
                    <a:p>
                      <a:pPr>
                        <a:lnSpc>
                          <a:spcPct val="107000"/>
                        </a:lnSpc>
                        <a:spcAft>
                          <a:spcPts val="800"/>
                        </a:spcAft>
                        <a:buNone/>
                      </a:pPr>
                      <a:r>
                        <a:rPr lang="el-GR" sz="1300" kern="100">
                          <a:effectLst/>
                          <a:latin typeface="Tahoma" panose="020B0604030504040204" pitchFamily="34" charset="0"/>
                          <a:ea typeface="Tahoma" panose="020B0604030504040204" pitchFamily="34" charset="0"/>
                          <a:cs typeface="Tahoma" panose="020B0604030504040204" pitchFamily="34" charset="0"/>
                        </a:rPr>
                        <a:t>Cosine Sim.</a:t>
                      </a:r>
                      <a:endParaRPr lang="el-GR" sz="1200" kern="100">
                        <a:effectLst/>
                        <a:latin typeface="Tahoma" panose="020B0604030504040204" pitchFamily="34" charset="0"/>
                        <a:ea typeface="Tahoma" panose="020B0604030504040204" pitchFamily="34" charset="0"/>
                        <a:cs typeface="Tahoma" panose="020B0604030504040204" pitchFamily="34" charset="0"/>
                      </a:endParaRPr>
                    </a:p>
                  </a:txBody>
                  <a:tcPr marL="63109" marR="63109" marT="31909" marB="31909" anchor="ctr"/>
                </a:tc>
                <a:tc>
                  <a:txBody>
                    <a:bodyPr/>
                    <a:lstStyle/>
                    <a:p>
                      <a:pPr>
                        <a:lnSpc>
                          <a:spcPct val="107000"/>
                        </a:lnSpc>
                        <a:spcAft>
                          <a:spcPts val="800"/>
                        </a:spcAft>
                        <a:buNone/>
                      </a:pPr>
                      <a:r>
                        <a:rPr lang="el-GR" sz="1300" kern="100">
                          <a:effectLst/>
                          <a:latin typeface="Tahoma" panose="020B0604030504040204" pitchFamily="34" charset="0"/>
                          <a:ea typeface="Tahoma" panose="020B0604030504040204" pitchFamily="34" charset="0"/>
                          <a:cs typeface="Tahoma" panose="020B0604030504040204" pitchFamily="34" charset="0"/>
                        </a:rPr>
                        <a:t>KL Div.</a:t>
                      </a:r>
                      <a:endParaRPr lang="el-GR" sz="1200" kern="100">
                        <a:effectLst/>
                        <a:latin typeface="Tahoma" panose="020B0604030504040204" pitchFamily="34" charset="0"/>
                        <a:ea typeface="Tahoma" panose="020B0604030504040204" pitchFamily="34" charset="0"/>
                        <a:cs typeface="Tahoma" panose="020B0604030504040204" pitchFamily="34" charset="0"/>
                      </a:endParaRPr>
                    </a:p>
                  </a:txBody>
                  <a:tcPr marL="63109" marR="63109" marT="31909" marB="31909" anchor="ctr"/>
                </a:tc>
                <a:tc>
                  <a:txBody>
                    <a:bodyPr/>
                    <a:lstStyle/>
                    <a:p>
                      <a:pPr>
                        <a:lnSpc>
                          <a:spcPct val="107000"/>
                        </a:lnSpc>
                        <a:spcAft>
                          <a:spcPts val="800"/>
                        </a:spcAft>
                        <a:buNone/>
                      </a:pPr>
                      <a:r>
                        <a:rPr lang="el-GR" sz="1300" kern="100">
                          <a:effectLst/>
                          <a:latin typeface="Tahoma" panose="020B0604030504040204" pitchFamily="34" charset="0"/>
                          <a:ea typeface="Tahoma" panose="020B0604030504040204" pitchFamily="34" charset="0"/>
                          <a:cs typeface="Tahoma" panose="020B0604030504040204" pitchFamily="34" charset="0"/>
                        </a:rPr>
                        <a:t>Diversity</a:t>
                      </a:r>
                      <a:endParaRPr lang="el-GR" sz="1200" kern="100">
                        <a:effectLst/>
                        <a:latin typeface="Tahoma" panose="020B0604030504040204" pitchFamily="34" charset="0"/>
                        <a:ea typeface="Tahoma" panose="020B0604030504040204" pitchFamily="34" charset="0"/>
                        <a:cs typeface="Tahoma" panose="020B0604030504040204" pitchFamily="34" charset="0"/>
                      </a:endParaRPr>
                    </a:p>
                  </a:txBody>
                  <a:tcPr marL="63109" marR="63109" marT="31909" marB="31909" anchor="ctr"/>
                </a:tc>
                <a:tc>
                  <a:txBody>
                    <a:bodyPr/>
                    <a:lstStyle/>
                    <a:p>
                      <a:pPr>
                        <a:lnSpc>
                          <a:spcPct val="107000"/>
                        </a:lnSpc>
                        <a:spcAft>
                          <a:spcPts val="800"/>
                        </a:spcAft>
                        <a:buNone/>
                      </a:pPr>
                      <a:r>
                        <a:rPr lang="el-GR" sz="1300" kern="100" dirty="0" err="1">
                          <a:effectLst/>
                          <a:latin typeface="Tahoma" panose="020B0604030504040204" pitchFamily="34" charset="0"/>
                          <a:ea typeface="Tahoma" panose="020B0604030504040204" pitchFamily="34" charset="0"/>
                          <a:cs typeface="Tahoma" panose="020B0604030504040204" pitchFamily="34" charset="0"/>
                        </a:rPr>
                        <a:t>Coverage</a:t>
                      </a:r>
                      <a:r>
                        <a:rPr lang="el-GR" sz="1300" kern="100" dirty="0">
                          <a:effectLst/>
                          <a:latin typeface="Tahoma" panose="020B0604030504040204" pitchFamily="34" charset="0"/>
                          <a:ea typeface="Tahoma" panose="020B0604030504040204" pitchFamily="34" charset="0"/>
                          <a:cs typeface="Tahoma" panose="020B0604030504040204" pitchFamily="34" charset="0"/>
                        </a:rPr>
                        <a:t> (%)</a:t>
                      </a:r>
                      <a:endParaRPr lang="el-GR" sz="1200" kern="100" dirty="0">
                        <a:effectLst/>
                        <a:latin typeface="Tahoma" panose="020B0604030504040204" pitchFamily="34" charset="0"/>
                        <a:ea typeface="Tahoma" panose="020B0604030504040204" pitchFamily="34" charset="0"/>
                        <a:cs typeface="Tahoma" panose="020B0604030504040204" pitchFamily="34" charset="0"/>
                      </a:endParaRPr>
                    </a:p>
                  </a:txBody>
                  <a:tcPr marL="63109" marR="63109" marT="31909" marB="31909" anchor="ctr"/>
                </a:tc>
                <a:extLst>
                  <a:ext uri="{0D108BD9-81ED-4DB2-BD59-A6C34878D82A}">
                    <a16:rowId xmlns:a16="http://schemas.microsoft.com/office/drawing/2014/main" val="2590050785"/>
                  </a:ext>
                </a:extLst>
              </a:tr>
              <a:tr h="472747">
                <a:tc>
                  <a:txBody>
                    <a:bodyPr/>
                    <a:lstStyle/>
                    <a:p>
                      <a:pPr>
                        <a:lnSpc>
                          <a:spcPct val="107000"/>
                        </a:lnSpc>
                        <a:spcAft>
                          <a:spcPts val="800"/>
                        </a:spcAft>
                        <a:buNone/>
                      </a:pPr>
                      <a:r>
                        <a:rPr lang="el-GR" sz="1300" kern="100" dirty="0">
                          <a:effectLst/>
                          <a:latin typeface="Tahoma" panose="020B0604030504040204" pitchFamily="34" charset="0"/>
                          <a:ea typeface="Tahoma" panose="020B0604030504040204" pitchFamily="34" charset="0"/>
                          <a:cs typeface="Tahoma" panose="020B0604030504040204" pitchFamily="34" charset="0"/>
                        </a:rPr>
                        <a:t>5</a:t>
                      </a:r>
                      <a:endParaRPr lang="el-GR" sz="1200" kern="100" dirty="0">
                        <a:effectLst/>
                        <a:latin typeface="Tahoma" panose="020B0604030504040204" pitchFamily="34" charset="0"/>
                        <a:ea typeface="Tahoma" panose="020B0604030504040204" pitchFamily="34" charset="0"/>
                        <a:cs typeface="Tahoma" panose="020B0604030504040204" pitchFamily="34" charset="0"/>
                      </a:endParaRPr>
                    </a:p>
                  </a:txBody>
                  <a:tcPr marL="63109" marR="63109" marT="31909" marB="31909" anchor="ctr"/>
                </a:tc>
                <a:tc>
                  <a:txBody>
                    <a:bodyPr/>
                    <a:lstStyle/>
                    <a:p>
                      <a:pPr>
                        <a:lnSpc>
                          <a:spcPct val="107000"/>
                        </a:lnSpc>
                        <a:spcAft>
                          <a:spcPts val="800"/>
                        </a:spcAft>
                        <a:buNone/>
                      </a:pPr>
                      <a:r>
                        <a:rPr lang="el-GR" sz="1300" kern="100">
                          <a:effectLst/>
                          <a:latin typeface="Tahoma" panose="020B0604030504040204" pitchFamily="34" charset="0"/>
                          <a:ea typeface="Tahoma" panose="020B0604030504040204" pitchFamily="34" charset="0"/>
                          <a:cs typeface="Tahoma" panose="020B0604030504040204" pitchFamily="34" charset="0"/>
                        </a:rPr>
                        <a:t>0.5234</a:t>
                      </a:r>
                      <a:endParaRPr lang="el-GR" sz="1200" kern="100">
                        <a:effectLst/>
                        <a:latin typeface="Tahoma" panose="020B0604030504040204" pitchFamily="34" charset="0"/>
                        <a:ea typeface="Tahoma" panose="020B0604030504040204" pitchFamily="34" charset="0"/>
                        <a:cs typeface="Tahoma" panose="020B0604030504040204" pitchFamily="34" charset="0"/>
                      </a:endParaRPr>
                    </a:p>
                  </a:txBody>
                  <a:tcPr marL="63109" marR="63109" marT="31909" marB="31909" anchor="ctr"/>
                </a:tc>
                <a:tc>
                  <a:txBody>
                    <a:bodyPr/>
                    <a:lstStyle/>
                    <a:p>
                      <a:pPr>
                        <a:lnSpc>
                          <a:spcPct val="107000"/>
                        </a:lnSpc>
                        <a:spcAft>
                          <a:spcPts val="800"/>
                        </a:spcAft>
                        <a:buNone/>
                      </a:pPr>
                      <a:r>
                        <a:rPr lang="el-GR" sz="1300" kern="100">
                          <a:effectLst/>
                          <a:latin typeface="Tahoma" panose="020B0604030504040204" pitchFamily="34" charset="0"/>
                          <a:ea typeface="Tahoma" panose="020B0604030504040204" pitchFamily="34" charset="0"/>
                          <a:cs typeface="Tahoma" panose="020B0604030504040204" pitchFamily="34" charset="0"/>
                        </a:rPr>
                        <a:t>0.7027</a:t>
                      </a:r>
                      <a:endParaRPr lang="el-GR" sz="1200" kern="100">
                        <a:effectLst/>
                        <a:latin typeface="Tahoma" panose="020B0604030504040204" pitchFamily="34" charset="0"/>
                        <a:ea typeface="Tahoma" panose="020B0604030504040204" pitchFamily="34" charset="0"/>
                        <a:cs typeface="Tahoma" panose="020B0604030504040204" pitchFamily="34" charset="0"/>
                      </a:endParaRPr>
                    </a:p>
                  </a:txBody>
                  <a:tcPr marL="63109" marR="63109" marT="31909" marB="31909" anchor="ctr"/>
                </a:tc>
                <a:tc>
                  <a:txBody>
                    <a:bodyPr/>
                    <a:lstStyle/>
                    <a:p>
                      <a:pPr>
                        <a:lnSpc>
                          <a:spcPct val="107000"/>
                        </a:lnSpc>
                        <a:spcAft>
                          <a:spcPts val="800"/>
                        </a:spcAft>
                        <a:buNone/>
                      </a:pPr>
                      <a:r>
                        <a:rPr lang="el-GR" sz="1300" kern="100">
                          <a:effectLst/>
                          <a:latin typeface="Tahoma" panose="020B0604030504040204" pitchFamily="34" charset="0"/>
                          <a:ea typeface="Tahoma" panose="020B0604030504040204" pitchFamily="34" charset="0"/>
                          <a:cs typeface="Tahoma" panose="020B0604030504040204" pitchFamily="34" charset="0"/>
                        </a:rPr>
                        <a:t>22.5015</a:t>
                      </a:r>
                      <a:endParaRPr lang="el-GR" sz="1200" kern="100">
                        <a:effectLst/>
                        <a:latin typeface="Tahoma" panose="020B0604030504040204" pitchFamily="34" charset="0"/>
                        <a:ea typeface="Tahoma" panose="020B0604030504040204" pitchFamily="34" charset="0"/>
                        <a:cs typeface="Tahoma" panose="020B0604030504040204" pitchFamily="34" charset="0"/>
                      </a:endParaRPr>
                    </a:p>
                  </a:txBody>
                  <a:tcPr marL="63109" marR="63109" marT="31909" marB="31909" anchor="ctr"/>
                </a:tc>
                <a:tc>
                  <a:txBody>
                    <a:bodyPr/>
                    <a:lstStyle/>
                    <a:p>
                      <a:pPr>
                        <a:lnSpc>
                          <a:spcPct val="107000"/>
                        </a:lnSpc>
                        <a:spcAft>
                          <a:spcPts val="800"/>
                        </a:spcAft>
                        <a:buNone/>
                      </a:pPr>
                      <a:r>
                        <a:rPr lang="el-GR" sz="1300" kern="100" dirty="0">
                          <a:effectLst/>
                          <a:latin typeface="Tahoma" panose="020B0604030504040204" pitchFamily="34" charset="0"/>
                          <a:ea typeface="Tahoma" panose="020B0604030504040204" pitchFamily="34" charset="0"/>
                          <a:cs typeface="Tahoma" panose="020B0604030504040204" pitchFamily="34" charset="0"/>
                        </a:rPr>
                        <a:t>5690.47</a:t>
                      </a:r>
                      <a:endParaRPr lang="el-GR" sz="1200" kern="100" dirty="0">
                        <a:effectLst/>
                        <a:latin typeface="Tahoma" panose="020B0604030504040204" pitchFamily="34" charset="0"/>
                        <a:ea typeface="Tahoma" panose="020B0604030504040204" pitchFamily="34" charset="0"/>
                        <a:cs typeface="Tahoma" panose="020B0604030504040204" pitchFamily="34" charset="0"/>
                      </a:endParaRPr>
                    </a:p>
                  </a:txBody>
                  <a:tcPr marL="63109" marR="63109" marT="31909" marB="31909" anchor="ctr"/>
                </a:tc>
                <a:tc>
                  <a:txBody>
                    <a:bodyPr/>
                    <a:lstStyle/>
                    <a:p>
                      <a:pPr>
                        <a:lnSpc>
                          <a:spcPct val="107000"/>
                        </a:lnSpc>
                        <a:spcAft>
                          <a:spcPts val="800"/>
                        </a:spcAft>
                        <a:buNone/>
                      </a:pPr>
                      <a:r>
                        <a:rPr lang="el-GR" sz="1300" kern="100">
                          <a:effectLst/>
                          <a:latin typeface="Tahoma" panose="020B0604030504040204" pitchFamily="34" charset="0"/>
                          <a:ea typeface="Tahoma" panose="020B0604030504040204" pitchFamily="34" charset="0"/>
                          <a:cs typeface="Tahoma" panose="020B0604030504040204" pitchFamily="34" charset="0"/>
                        </a:rPr>
                        <a:t>18.23</a:t>
                      </a:r>
                      <a:endParaRPr lang="el-GR" sz="1200" kern="100">
                        <a:effectLst/>
                        <a:latin typeface="Tahoma" panose="020B0604030504040204" pitchFamily="34" charset="0"/>
                        <a:ea typeface="Tahoma" panose="020B0604030504040204" pitchFamily="34" charset="0"/>
                        <a:cs typeface="Tahoma" panose="020B0604030504040204" pitchFamily="34" charset="0"/>
                      </a:endParaRPr>
                    </a:p>
                  </a:txBody>
                  <a:tcPr marL="63109" marR="63109" marT="31909" marB="31909" anchor="ctr"/>
                </a:tc>
                <a:extLst>
                  <a:ext uri="{0D108BD9-81ED-4DB2-BD59-A6C34878D82A}">
                    <a16:rowId xmlns:a16="http://schemas.microsoft.com/office/drawing/2014/main" val="138408483"/>
                  </a:ext>
                </a:extLst>
              </a:tr>
              <a:tr h="472747">
                <a:tc>
                  <a:txBody>
                    <a:bodyPr/>
                    <a:lstStyle/>
                    <a:p>
                      <a:pPr>
                        <a:lnSpc>
                          <a:spcPct val="107000"/>
                        </a:lnSpc>
                        <a:spcAft>
                          <a:spcPts val="800"/>
                        </a:spcAft>
                        <a:buNone/>
                      </a:pPr>
                      <a:r>
                        <a:rPr lang="el-GR" sz="1300" kern="100">
                          <a:effectLst/>
                          <a:latin typeface="Tahoma" panose="020B0604030504040204" pitchFamily="34" charset="0"/>
                          <a:ea typeface="Tahoma" panose="020B0604030504040204" pitchFamily="34" charset="0"/>
                          <a:cs typeface="Tahoma" panose="020B0604030504040204" pitchFamily="34" charset="0"/>
                        </a:rPr>
                        <a:t>50</a:t>
                      </a:r>
                      <a:endParaRPr lang="el-GR" sz="1200" kern="100">
                        <a:effectLst/>
                        <a:latin typeface="Tahoma" panose="020B0604030504040204" pitchFamily="34" charset="0"/>
                        <a:ea typeface="Tahoma" panose="020B0604030504040204" pitchFamily="34" charset="0"/>
                        <a:cs typeface="Tahoma" panose="020B0604030504040204" pitchFamily="34" charset="0"/>
                      </a:endParaRPr>
                    </a:p>
                  </a:txBody>
                  <a:tcPr marL="63109" marR="63109" marT="31909" marB="31909" anchor="ctr"/>
                </a:tc>
                <a:tc>
                  <a:txBody>
                    <a:bodyPr/>
                    <a:lstStyle/>
                    <a:p>
                      <a:pPr>
                        <a:lnSpc>
                          <a:spcPct val="107000"/>
                        </a:lnSpc>
                        <a:spcAft>
                          <a:spcPts val="800"/>
                        </a:spcAft>
                        <a:buNone/>
                      </a:pPr>
                      <a:r>
                        <a:rPr lang="el-GR" sz="1300" kern="100">
                          <a:effectLst/>
                          <a:latin typeface="Tahoma" panose="020B0604030504040204" pitchFamily="34" charset="0"/>
                          <a:ea typeface="Tahoma" panose="020B0604030504040204" pitchFamily="34" charset="0"/>
                          <a:cs typeface="Tahoma" panose="020B0604030504040204" pitchFamily="34" charset="0"/>
                        </a:rPr>
                        <a:t>0.4754</a:t>
                      </a:r>
                      <a:endParaRPr lang="el-GR" sz="1200" kern="100">
                        <a:effectLst/>
                        <a:latin typeface="Tahoma" panose="020B0604030504040204" pitchFamily="34" charset="0"/>
                        <a:ea typeface="Tahoma" panose="020B0604030504040204" pitchFamily="34" charset="0"/>
                        <a:cs typeface="Tahoma" panose="020B0604030504040204" pitchFamily="34" charset="0"/>
                      </a:endParaRPr>
                    </a:p>
                  </a:txBody>
                  <a:tcPr marL="63109" marR="63109" marT="31909" marB="31909" anchor="ctr"/>
                </a:tc>
                <a:tc>
                  <a:txBody>
                    <a:bodyPr/>
                    <a:lstStyle/>
                    <a:p>
                      <a:pPr>
                        <a:lnSpc>
                          <a:spcPct val="107000"/>
                        </a:lnSpc>
                        <a:spcAft>
                          <a:spcPts val="800"/>
                        </a:spcAft>
                        <a:buNone/>
                      </a:pPr>
                      <a:r>
                        <a:rPr lang="el-GR" sz="1300" kern="100">
                          <a:effectLst/>
                          <a:latin typeface="Tahoma" panose="020B0604030504040204" pitchFamily="34" charset="0"/>
                          <a:ea typeface="Tahoma" panose="020B0604030504040204" pitchFamily="34" charset="0"/>
                          <a:cs typeface="Tahoma" panose="020B0604030504040204" pitchFamily="34" charset="0"/>
                        </a:rPr>
                        <a:t>0.7347</a:t>
                      </a:r>
                      <a:endParaRPr lang="el-GR" sz="1200" kern="100">
                        <a:effectLst/>
                        <a:latin typeface="Tahoma" panose="020B0604030504040204" pitchFamily="34" charset="0"/>
                        <a:ea typeface="Tahoma" panose="020B0604030504040204" pitchFamily="34" charset="0"/>
                        <a:cs typeface="Tahoma" panose="020B0604030504040204" pitchFamily="34" charset="0"/>
                      </a:endParaRPr>
                    </a:p>
                  </a:txBody>
                  <a:tcPr marL="63109" marR="63109" marT="31909" marB="31909" anchor="ctr"/>
                </a:tc>
                <a:tc>
                  <a:txBody>
                    <a:bodyPr/>
                    <a:lstStyle/>
                    <a:p>
                      <a:pPr>
                        <a:lnSpc>
                          <a:spcPct val="107000"/>
                        </a:lnSpc>
                        <a:spcAft>
                          <a:spcPts val="800"/>
                        </a:spcAft>
                        <a:buNone/>
                      </a:pPr>
                      <a:r>
                        <a:rPr lang="en-GB" sz="1300" kern="100">
                          <a:effectLst/>
                          <a:latin typeface="Tahoma" panose="020B0604030504040204" pitchFamily="34" charset="0"/>
                          <a:ea typeface="Tahoma" panose="020B0604030504040204" pitchFamily="34" charset="0"/>
                          <a:cs typeface="Tahoma" panose="020B0604030504040204" pitchFamily="34" charset="0"/>
                        </a:rPr>
                        <a:t>1</a:t>
                      </a:r>
                      <a:r>
                        <a:rPr lang="el-GR" sz="1300" kern="100">
                          <a:effectLst/>
                          <a:latin typeface="Tahoma" panose="020B0604030504040204" pitchFamily="34" charset="0"/>
                          <a:ea typeface="Tahoma" panose="020B0604030504040204" pitchFamily="34" charset="0"/>
                          <a:cs typeface="Tahoma" panose="020B0604030504040204" pitchFamily="34" charset="0"/>
                        </a:rPr>
                        <a:t>8.2778</a:t>
                      </a:r>
                      <a:endParaRPr lang="el-GR" sz="1200" kern="100">
                        <a:effectLst/>
                        <a:latin typeface="Tahoma" panose="020B0604030504040204" pitchFamily="34" charset="0"/>
                        <a:ea typeface="Tahoma" panose="020B0604030504040204" pitchFamily="34" charset="0"/>
                        <a:cs typeface="Tahoma" panose="020B0604030504040204" pitchFamily="34" charset="0"/>
                      </a:endParaRPr>
                    </a:p>
                  </a:txBody>
                  <a:tcPr marL="63109" marR="63109" marT="31909" marB="31909" anchor="ctr"/>
                </a:tc>
                <a:tc>
                  <a:txBody>
                    <a:bodyPr/>
                    <a:lstStyle/>
                    <a:p>
                      <a:pPr>
                        <a:lnSpc>
                          <a:spcPct val="107000"/>
                        </a:lnSpc>
                        <a:spcAft>
                          <a:spcPts val="800"/>
                        </a:spcAft>
                        <a:buNone/>
                      </a:pPr>
                      <a:r>
                        <a:rPr lang="el-GR" sz="1300" kern="100">
                          <a:effectLst/>
                          <a:latin typeface="Tahoma" panose="020B0604030504040204" pitchFamily="34" charset="0"/>
                          <a:ea typeface="Tahoma" panose="020B0604030504040204" pitchFamily="34" charset="0"/>
                          <a:cs typeface="Tahoma" panose="020B0604030504040204" pitchFamily="34" charset="0"/>
                        </a:rPr>
                        <a:t>3.7242</a:t>
                      </a:r>
                      <a:endParaRPr lang="el-GR" sz="1200" kern="100">
                        <a:effectLst/>
                        <a:latin typeface="Tahoma" panose="020B0604030504040204" pitchFamily="34" charset="0"/>
                        <a:ea typeface="Tahoma" panose="020B0604030504040204" pitchFamily="34" charset="0"/>
                        <a:cs typeface="Tahoma" panose="020B0604030504040204" pitchFamily="34" charset="0"/>
                      </a:endParaRPr>
                    </a:p>
                  </a:txBody>
                  <a:tcPr marL="63109" marR="63109" marT="31909" marB="31909" anchor="ctr"/>
                </a:tc>
                <a:tc>
                  <a:txBody>
                    <a:bodyPr/>
                    <a:lstStyle/>
                    <a:p>
                      <a:pPr>
                        <a:lnSpc>
                          <a:spcPct val="107000"/>
                        </a:lnSpc>
                        <a:spcAft>
                          <a:spcPts val="800"/>
                        </a:spcAft>
                        <a:buNone/>
                      </a:pPr>
                      <a:r>
                        <a:rPr lang="el-GR" sz="1300" kern="100">
                          <a:effectLst/>
                          <a:latin typeface="Tahoma" panose="020B0604030504040204" pitchFamily="34" charset="0"/>
                          <a:ea typeface="Tahoma" panose="020B0604030504040204" pitchFamily="34" charset="0"/>
                          <a:cs typeface="Tahoma" panose="020B0604030504040204" pitchFamily="34" charset="0"/>
                        </a:rPr>
                        <a:t>24.39</a:t>
                      </a:r>
                      <a:endParaRPr lang="el-GR" sz="1200" kern="100">
                        <a:effectLst/>
                        <a:latin typeface="Tahoma" panose="020B0604030504040204" pitchFamily="34" charset="0"/>
                        <a:ea typeface="Tahoma" panose="020B0604030504040204" pitchFamily="34" charset="0"/>
                        <a:cs typeface="Tahoma" panose="020B0604030504040204" pitchFamily="34" charset="0"/>
                      </a:endParaRPr>
                    </a:p>
                  </a:txBody>
                  <a:tcPr marL="63109" marR="63109" marT="31909" marB="31909" anchor="ctr"/>
                </a:tc>
                <a:extLst>
                  <a:ext uri="{0D108BD9-81ED-4DB2-BD59-A6C34878D82A}">
                    <a16:rowId xmlns:a16="http://schemas.microsoft.com/office/drawing/2014/main" val="2340749480"/>
                  </a:ext>
                </a:extLst>
              </a:tr>
              <a:tr h="472747">
                <a:tc>
                  <a:txBody>
                    <a:bodyPr/>
                    <a:lstStyle/>
                    <a:p>
                      <a:pPr>
                        <a:lnSpc>
                          <a:spcPct val="107000"/>
                        </a:lnSpc>
                        <a:spcAft>
                          <a:spcPts val="800"/>
                        </a:spcAft>
                        <a:buNone/>
                      </a:pPr>
                      <a:r>
                        <a:rPr lang="el-GR" sz="1300" kern="100">
                          <a:effectLst/>
                          <a:latin typeface="Tahoma" panose="020B0604030504040204" pitchFamily="34" charset="0"/>
                          <a:ea typeface="Tahoma" panose="020B0604030504040204" pitchFamily="34" charset="0"/>
                          <a:cs typeface="Tahoma" panose="020B0604030504040204" pitchFamily="34" charset="0"/>
                        </a:rPr>
                        <a:t>100</a:t>
                      </a:r>
                      <a:endParaRPr lang="el-GR" sz="1200" kern="100">
                        <a:effectLst/>
                        <a:latin typeface="Tahoma" panose="020B0604030504040204" pitchFamily="34" charset="0"/>
                        <a:ea typeface="Tahoma" panose="020B0604030504040204" pitchFamily="34" charset="0"/>
                        <a:cs typeface="Tahoma" panose="020B0604030504040204" pitchFamily="34" charset="0"/>
                      </a:endParaRPr>
                    </a:p>
                  </a:txBody>
                  <a:tcPr marL="63109" marR="63109" marT="31909" marB="31909" anchor="ctr"/>
                </a:tc>
                <a:tc>
                  <a:txBody>
                    <a:bodyPr/>
                    <a:lstStyle/>
                    <a:p>
                      <a:pPr>
                        <a:lnSpc>
                          <a:spcPct val="107000"/>
                        </a:lnSpc>
                        <a:spcAft>
                          <a:spcPts val="800"/>
                        </a:spcAft>
                        <a:buNone/>
                      </a:pPr>
                      <a:r>
                        <a:rPr lang="el-GR" sz="1300" kern="100">
                          <a:effectLst/>
                          <a:latin typeface="Tahoma" panose="020B0604030504040204" pitchFamily="34" charset="0"/>
                          <a:ea typeface="Tahoma" panose="020B0604030504040204" pitchFamily="34" charset="0"/>
                          <a:cs typeface="Tahoma" panose="020B0604030504040204" pitchFamily="34" charset="0"/>
                        </a:rPr>
                        <a:t>0.3683</a:t>
                      </a:r>
                      <a:endParaRPr lang="el-GR" sz="1200" kern="100">
                        <a:effectLst/>
                        <a:latin typeface="Tahoma" panose="020B0604030504040204" pitchFamily="34" charset="0"/>
                        <a:ea typeface="Tahoma" panose="020B0604030504040204" pitchFamily="34" charset="0"/>
                        <a:cs typeface="Tahoma" panose="020B0604030504040204" pitchFamily="34" charset="0"/>
                      </a:endParaRPr>
                    </a:p>
                  </a:txBody>
                  <a:tcPr marL="63109" marR="63109" marT="31909" marB="31909" anchor="ctr"/>
                </a:tc>
                <a:tc>
                  <a:txBody>
                    <a:bodyPr/>
                    <a:lstStyle/>
                    <a:p>
                      <a:pPr>
                        <a:lnSpc>
                          <a:spcPct val="107000"/>
                        </a:lnSpc>
                        <a:spcAft>
                          <a:spcPts val="800"/>
                        </a:spcAft>
                        <a:buNone/>
                      </a:pPr>
                      <a:r>
                        <a:rPr lang="el-GR" sz="1300" kern="100">
                          <a:effectLst/>
                          <a:latin typeface="Tahoma" panose="020B0604030504040204" pitchFamily="34" charset="0"/>
                          <a:ea typeface="Tahoma" panose="020B0604030504040204" pitchFamily="34" charset="0"/>
                          <a:cs typeface="Tahoma" panose="020B0604030504040204" pitchFamily="34" charset="0"/>
                        </a:rPr>
                        <a:t>0.7593</a:t>
                      </a:r>
                      <a:endParaRPr lang="el-GR" sz="1200" kern="100">
                        <a:effectLst/>
                        <a:latin typeface="Tahoma" panose="020B0604030504040204" pitchFamily="34" charset="0"/>
                        <a:ea typeface="Tahoma" panose="020B0604030504040204" pitchFamily="34" charset="0"/>
                        <a:cs typeface="Tahoma" panose="020B0604030504040204" pitchFamily="34" charset="0"/>
                      </a:endParaRPr>
                    </a:p>
                  </a:txBody>
                  <a:tcPr marL="63109" marR="63109" marT="31909" marB="31909" anchor="ctr"/>
                </a:tc>
                <a:tc>
                  <a:txBody>
                    <a:bodyPr/>
                    <a:lstStyle/>
                    <a:p>
                      <a:pPr>
                        <a:lnSpc>
                          <a:spcPct val="107000"/>
                        </a:lnSpc>
                        <a:spcAft>
                          <a:spcPts val="800"/>
                        </a:spcAft>
                        <a:buNone/>
                      </a:pPr>
                      <a:r>
                        <a:rPr lang="el-GR" sz="1300" kern="100">
                          <a:effectLst/>
                          <a:latin typeface="Tahoma" panose="020B0604030504040204" pitchFamily="34" charset="0"/>
                          <a:ea typeface="Tahoma" panose="020B0604030504040204" pitchFamily="34" charset="0"/>
                          <a:cs typeface="Tahoma" panose="020B0604030504040204" pitchFamily="34" charset="0"/>
                        </a:rPr>
                        <a:t>15.6313</a:t>
                      </a:r>
                      <a:endParaRPr lang="el-GR" sz="1200" kern="100">
                        <a:effectLst/>
                        <a:latin typeface="Tahoma" panose="020B0604030504040204" pitchFamily="34" charset="0"/>
                        <a:ea typeface="Tahoma" panose="020B0604030504040204" pitchFamily="34" charset="0"/>
                        <a:cs typeface="Tahoma" panose="020B0604030504040204" pitchFamily="34" charset="0"/>
                      </a:endParaRPr>
                    </a:p>
                  </a:txBody>
                  <a:tcPr marL="63109" marR="63109" marT="31909" marB="31909" anchor="ctr"/>
                </a:tc>
                <a:tc>
                  <a:txBody>
                    <a:bodyPr/>
                    <a:lstStyle/>
                    <a:p>
                      <a:pPr>
                        <a:lnSpc>
                          <a:spcPct val="107000"/>
                        </a:lnSpc>
                        <a:spcAft>
                          <a:spcPts val="800"/>
                        </a:spcAft>
                        <a:buNone/>
                      </a:pPr>
                      <a:r>
                        <a:rPr lang="el-GR" sz="1300" kern="100">
                          <a:effectLst/>
                          <a:latin typeface="Tahoma" panose="020B0604030504040204" pitchFamily="34" charset="0"/>
                          <a:ea typeface="Tahoma" panose="020B0604030504040204" pitchFamily="34" charset="0"/>
                          <a:cs typeface="Tahoma" panose="020B0604030504040204" pitchFamily="34" charset="0"/>
                        </a:rPr>
                        <a:t>2.2029</a:t>
                      </a:r>
                      <a:endParaRPr lang="el-GR" sz="1200" kern="100">
                        <a:effectLst/>
                        <a:latin typeface="Tahoma" panose="020B0604030504040204" pitchFamily="34" charset="0"/>
                        <a:ea typeface="Tahoma" panose="020B0604030504040204" pitchFamily="34" charset="0"/>
                        <a:cs typeface="Tahoma" panose="020B0604030504040204" pitchFamily="34" charset="0"/>
                      </a:endParaRPr>
                    </a:p>
                  </a:txBody>
                  <a:tcPr marL="63109" marR="63109" marT="31909" marB="31909" anchor="ctr"/>
                </a:tc>
                <a:tc>
                  <a:txBody>
                    <a:bodyPr/>
                    <a:lstStyle/>
                    <a:p>
                      <a:pPr>
                        <a:lnSpc>
                          <a:spcPct val="107000"/>
                        </a:lnSpc>
                        <a:spcAft>
                          <a:spcPts val="800"/>
                        </a:spcAft>
                        <a:buNone/>
                      </a:pPr>
                      <a:r>
                        <a:rPr lang="el-GR" sz="1300" kern="100">
                          <a:effectLst/>
                          <a:latin typeface="Tahoma" panose="020B0604030504040204" pitchFamily="34" charset="0"/>
                          <a:ea typeface="Tahoma" panose="020B0604030504040204" pitchFamily="34" charset="0"/>
                          <a:cs typeface="Tahoma" panose="020B0604030504040204" pitchFamily="34" charset="0"/>
                        </a:rPr>
                        <a:t>37.21</a:t>
                      </a:r>
                      <a:endParaRPr lang="el-GR" sz="1200" kern="100">
                        <a:effectLst/>
                        <a:latin typeface="Tahoma" panose="020B0604030504040204" pitchFamily="34" charset="0"/>
                        <a:ea typeface="Tahoma" panose="020B0604030504040204" pitchFamily="34" charset="0"/>
                        <a:cs typeface="Tahoma" panose="020B0604030504040204" pitchFamily="34" charset="0"/>
                      </a:endParaRPr>
                    </a:p>
                  </a:txBody>
                  <a:tcPr marL="63109" marR="63109" marT="31909" marB="31909" anchor="ctr"/>
                </a:tc>
                <a:extLst>
                  <a:ext uri="{0D108BD9-81ED-4DB2-BD59-A6C34878D82A}">
                    <a16:rowId xmlns:a16="http://schemas.microsoft.com/office/drawing/2014/main" val="2890022008"/>
                  </a:ext>
                </a:extLst>
              </a:tr>
              <a:tr h="472747">
                <a:tc>
                  <a:txBody>
                    <a:bodyPr/>
                    <a:lstStyle/>
                    <a:p>
                      <a:pPr>
                        <a:lnSpc>
                          <a:spcPct val="107000"/>
                        </a:lnSpc>
                        <a:spcAft>
                          <a:spcPts val="800"/>
                        </a:spcAft>
                        <a:buNone/>
                      </a:pPr>
                      <a:r>
                        <a:rPr lang="el-GR" sz="1300" b="1" kern="100" dirty="0">
                          <a:effectLst/>
                          <a:latin typeface="Tahoma" panose="020B0604030504040204" pitchFamily="34" charset="0"/>
                          <a:ea typeface="Tahoma" panose="020B0604030504040204" pitchFamily="34" charset="0"/>
                          <a:cs typeface="Tahoma" panose="020B0604030504040204" pitchFamily="34" charset="0"/>
                        </a:rPr>
                        <a:t>150</a:t>
                      </a:r>
                      <a:endParaRPr lang="el-GR" sz="1200" b="1" kern="100" dirty="0">
                        <a:effectLst/>
                        <a:latin typeface="Tahoma" panose="020B0604030504040204" pitchFamily="34" charset="0"/>
                        <a:ea typeface="Tahoma" panose="020B0604030504040204" pitchFamily="34" charset="0"/>
                        <a:cs typeface="Tahoma" panose="020B0604030504040204" pitchFamily="34" charset="0"/>
                      </a:endParaRPr>
                    </a:p>
                  </a:txBody>
                  <a:tcPr marL="63109" marR="63109" marT="31909" marB="31909" anchor="ctr"/>
                </a:tc>
                <a:tc>
                  <a:txBody>
                    <a:bodyPr/>
                    <a:lstStyle/>
                    <a:p>
                      <a:pPr>
                        <a:lnSpc>
                          <a:spcPct val="107000"/>
                        </a:lnSpc>
                        <a:spcAft>
                          <a:spcPts val="800"/>
                        </a:spcAft>
                        <a:buNone/>
                      </a:pPr>
                      <a:r>
                        <a:rPr lang="el-GR" sz="1300" b="1" kern="100">
                          <a:effectLst/>
                          <a:latin typeface="Tahoma" panose="020B0604030504040204" pitchFamily="34" charset="0"/>
                          <a:ea typeface="Tahoma" panose="020B0604030504040204" pitchFamily="34" charset="0"/>
                          <a:cs typeface="Tahoma" panose="020B0604030504040204" pitchFamily="34" charset="0"/>
                        </a:rPr>
                        <a:t>0.2029</a:t>
                      </a:r>
                      <a:endParaRPr lang="el-GR" sz="1200" b="1" kern="100">
                        <a:effectLst/>
                        <a:latin typeface="Tahoma" panose="020B0604030504040204" pitchFamily="34" charset="0"/>
                        <a:ea typeface="Tahoma" panose="020B0604030504040204" pitchFamily="34" charset="0"/>
                        <a:cs typeface="Tahoma" panose="020B0604030504040204" pitchFamily="34" charset="0"/>
                      </a:endParaRPr>
                    </a:p>
                  </a:txBody>
                  <a:tcPr marL="63109" marR="63109" marT="31909" marB="31909" anchor="ctr"/>
                </a:tc>
                <a:tc>
                  <a:txBody>
                    <a:bodyPr/>
                    <a:lstStyle/>
                    <a:p>
                      <a:pPr>
                        <a:lnSpc>
                          <a:spcPct val="107000"/>
                        </a:lnSpc>
                        <a:spcAft>
                          <a:spcPts val="800"/>
                        </a:spcAft>
                        <a:buNone/>
                      </a:pPr>
                      <a:r>
                        <a:rPr lang="el-GR" sz="1300" b="1" kern="100">
                          <a:effectLst/>
                          <a:latin typeface="Tahoma" panose="020B0604030504040204" pitchFamily="34" charset="0"/>
                          <a:ea typeface="Tahoma" panose="020B0604030504040204" pitchFamily="34" charset="0"/>
                          <a:cs typeface="Tahoma" panose="020B0604030504040204" pitchFamily="34" charset="0"/>
                        </a:rPr>
                        <a:t>0.7836</a:t>
                      </a:r>
                      <a:endParaRPr lang="el-GR" sz="1200" b="1" kern="100">
                        <a:effectLst/>
                        <a:latin typeface="Tahoma" panose="020B0604030504040204" pitchFamily="34" charset="0"/>
                        <a:ea typeface="Tahoma" panose="020B0604030504040204" pitchFamily="34" charset="0"/>
                        <a:cs typeface="Tahoma" panose="020B0604030504040204" pitchFamily="34" charset="0"/>
                      </a:endParaRPr>
                    </a:p>
                  </a:txBody>
                  <a:tcPr marL="63109" marR="63109" marT="31909" marB="31909" anchor="ctr"/>
                </a:tc>
                <a:tc>
                  <a:txBody>
                    <a:bodyPr/>
                    <a:lstStyle/>
                    <a:p>
                      <a:pPr>
                        <a:lnSpc>
                          <a:spcPct val="107000"/>
                        </a:lnSpc>
                        <a:spcAft>
                          <a:spcPts val="800"/>
                        </a:spcAft>
                        <a:buNone/>
                      </a:pPr>
                      <a:r>
                        <a:rPr lang="el-GR" sz="1300" b="1" kern="100">
                          <a:effectLst/>
                          <a:latin typeface="Tahoma" panose="020B0604030504040204" pitchFamily="34" charset="0"/>
                          <a:ea typeface="Tahoma" panose="020B0604030504040204" pitchFamily="34" charset="0"/>
                          <a:cs typeface="Tahoma" panose="020B0604030504040204" pitchFamily="34" charset="0"/>
                        </a:rPr>
                        <a:t>4.9129</a:t>
                      </a:r>
                      <a:endParaRPr lang="el-GR" sz="1200" b="1" kern="100">
                        <a:effectLst/>
                        <a:latin typeface="Tahoma" panose="020B0604030504040204" pitchFamily="34" charset="0"/>
                        <a:ea typeface="Tahoma" panose="020B0604030504040204" pitchFamily="34" charset="0"/>
                        <a:cs typeface="Tahoma" panose="020B0604030504040204" pitchFamily="34" charset="0"/>
                      </a:endParaRPr>
                    </a:p>
                  </a:txBody>
                  <a:tcPr marL="63109" marR="63109" marT="31909" marB="31909" anchor="ctr"/>
                </a:tc>
                <a:tc>
                  <a:txBody>
                    <a:bodyPr/>
                    <a:lstStyle/>
                    <a:p>
                      <a:pPr>
                        <a:lnSpc>
                          <a:spcPct val="107000"/>
                        </a:lnSpc>
                        <a:spcAft>
                          <a:spcPts val="800"/>
                        </a:spcAft>
                        <a:buNone/>
                      </a:pPr>
                      <a:r>
                        <a:rPr lang="el-GR" sz="1300" b="1" kern="100">
                          <a:effectLst/>
                          <a:latin typeface="Tahoma" panose="020B0604030504040204" pitchFamily="34" charset="0"/>
                          <a:ea typeface="Tahoma" panose="020B0604030504040204" pitchFamily="34" charset="0"/>
                          <a:cs typeface="Tahoma" panose="020B0604030504040204" pitchFamily="34" charset="0"/>
                        </a:rPr>
                        <a:t>0.4560</a:t>
                      </a:r>
                      <a:endParaRPr lang="el-GR" sz="1200" b="1" kern="100">
                        <a:effectLst/>
                        <a:latin typeface="Tahoma" panose="020B0604030504040204" pitchFamily="34" charset="0"/>
                        <a:ea typeface="Tahoma" panose="020B0604030504040204" pitchFamily="34" charset="0"/>
                        <a:cs typeface="Tahoma" panose="020B0604030504040204" pitchFamily="34" charset="0"/>
                      </a:endParaRPr>
                    </a:p>
                  </a:txBody>
                  <a:tcPr marL="63109" marR="63109" marT="31909" marB="31909" anchor="ctr"/>
                </a:tc>
                <a:tc>
                  <a:txBody>
                    <a:bodyPr/>
                    <a:lstStyle/>
                    <a:p>
                      <a:pPr>
                        <a:lnSpc>
                          <a:spcPct val="107000"/>
                        </a:lnSpc>
                        <a:spcAft>
                          <a:spcPts val="800"/>
                        </a:spcAft>
                        <a:buNone/>
                      </a:pPr>
                      <a:r>
                        <a:rPr lang="el-GR" sz="1300" b="1" kern="100" dirty="0">
                          <a:effectLst/>
                          <a:latin typeface="Tahoma" panose="020B0604030504040204" pitchFamily="34" charset="0"/>
                          <a:ea typeface="Tahoma" panose="020B0604030504040204" pitchFamily="34" charset="0"/>
                          <a:cs typeface="Tahoma" panose="020B0604030504040204" pitchFamily="34" charset="0"/>
                        </a:rPr>
                        <a:t>28.46</a:t>
                      </a:r>
                      <a:endParaRPr lang="el-GR" sz="1200" b="1" kern="100" dirty="0">
                        <a:effectLst/>
                        <a:latin typeface="Tahoma" panose="020B0604030504040204" pitchFamily="34" charset="0"/>
                        <a:ea typeface="Tahoma" panose="020B0604030504040204" pitchFamily="34" charset="0"/>
                        <a:cs typeface="Tahoma" panose="020B0604030504040204" pitchFamily="34" charset="0"/>
                      </a:endParaRPr>
                    </a:p>
                  </a:txBody>
                  <a:tcPr marL="63109" marR="63109" marT="31909" marB="31909" anchor="ctr"/>
                </a:tc>
                <a:extLst>
                  <a:ext uri="{0D108BD9-81ED-4DB2-BD59-A6C34878D82A}">
                    <a16:rowId xmlns:a16="http://schemas.microsoft.com/office/drawing/2014/main" val="3714753402"/>
                  </a:ext>
                </a:extLst>
              </a:tr>
              <a:tr h="472747">
                <a:tc>
                  <a:txBody>
                    <a:bodyPr/>
                    <a:lstStyle/>
                    <a:p>
                      <a:pPr>
                        <a:lnSpc>
                          <a:spcPct val="107000"/>
                        </a:lnSpc>
                        <a:spcAft>
                          <a:spcPts val="800"/>
                        </a:spcAft>
                        <a:buNone/>
                      </a:pPr>
                      <a:r>
                        <a:rPr lang="el-GR" sz="1300" kern="100">
                          <a:effectLst/>
                          <a:latin typeface="Tahoma" panose="020B0604030504040204" pitchFamily="34" charset="0"/>
                          <a:ea typeface="Tahoma" panose="020B0604030504040204" pitchFamily="34" charset="0"/>
                          <a:cs typeface="Tahoma" panose="020B0604030504040204" pitchFamily="34" charset="0"/>
                        </a:rPr>
                        <a:t>200</a:t>
                      </a:r>
                      <a:endParaRPr lang="el-GR" sz="1200" kern="100">
                        <a:effectLst/>
                        <a:latin typeface="Tahoma" panose="020B0604030504040204" pitchFamily="34" charset="0"/>
                        <a:ea typeface="Tahoma" panose="020B0604030504040204" pitchFamily="34" charset="0"/>
                        <a:cs typeface="Tahoma" panose="020B0604030504040204" pitchFamily="34" charset="0"/>
                      </a:endParaRPr>
                    </a:p>
                  </a:txBody>
                  <a:tcPr marL="63109" marR="63109" marT="31909" marB="31909" anchor="ctr"/>
                </a:tc>
                <a:tc>
                  <a:txBody>
                    <a:bodyPr/>
                    <a:lstStyle/>
                    <a:p>
                      <a:pPr>
                        <a:lnSpc>
                          <a:spcPct val="107000"/>
                        </a:lnSpc>
                        <a:spcAft>
                          <a:spcPts val="800"/>
                        </a:spcAft>
                        <a:buNone/>
                      </a:pPr>
                      <a:r>
                        <a:rPr lang="el-GR" sz="1300" kern="100">
                          <a:effectLst/>
                          <a:latin typeface="Tahoma" panose="020B0604030504040204" pitchFamily="34" charset="0"/>
                          <a:ea typeface="Tahoma" panose="020B0604030504040204" pitchFamily="34" charset="0"/>
                          <a:cs typeface="Tahoma" panose="020B0604030504040204" pitchFamily="34" charset="0"/>
                        </a:rPr>
                        <a:t>0.0922</a:t>
                      </a:r>
                      <a:endParaRPr lang="el-GR" sz="1200" kern="100">
                        <a:effectLst/>
                        <a:latin typeface="Tahoma" panose="020B0604030504040204" pitchFamily="34" charset="0"/>
                        <a:ea typeface="Tahoma" panose="020B0604030504040204" pitchFamily="34" charset="0"/>
                        <a:cs typeface="Tahoma" panose="020B0604030504040204" pitchFamily="34" charset="0"/>
                      </a:endParaRPr>
                    </a:p>
                  </a:txBody>
                  <a:tcPr marL="63109" marR="63109" marT="31909" marB="31909" anchor="ctr"/>
                </a:tc>
                <a:tc>
                  <a:txBody>
                    <a:bodyPr/>
                    <a:lstStyle/>
                    <a:p>
                      <a:pPr>
                        <a:lnSpc>
                          <a:spcPct val="107000"/>
                        </a:lnSpc>
                        <a:spcAft>
                          <a:spcPts val="800"/>
                        </a:spcAft>
                        <a:buNone/>
                      </a:pPr>
                      <a:r>
                        <a:rPr lang="el-GR" sz="1300" kern="100">
                          <a:effectLst/>
                          <a:latin typeface="Tahoma" panose="020B0604030504040204" pitchFamily="34" charset="0"/>
                          <a:ea typeface="Tahoma" panose="020B0604030504040204" pitchFamily="34" charset="0"/>
                          <a:cs typeface="Tahoma" panose="020B0604030504040204" pitchFamily="34" charset="0"/>
                        </a:rPr>
                        <a:t>0.8244</a:t>
                      </a:r>
                      <a:endParaRPr lang="el-GR" sz="1200" kern="100">
                        <a:effectLst/>
                        <a:latin typeface="Tahoma" panose="020B0604030504040204" pitchFamily="34" charset="0"/>
                        <a:ea typeface="Tahoma" panose="020B0604030504040204" pitchFamily="34" charset="0"/>
                        <a:cs typeface="Tahoma" panose="020B0604030504040204" pitchFamily="34" charset="0"/>
                      </a:endParaRPr>
                    </a:p>
                  </a:txBody>
                  <a:tcPr marL="63109" marR="63109" marT="31909" marB="31909" anchor="ctr"/>
                </a:tc>
                <a:tc>
                  <a:txBody>
                    <a:bodyPr/>
                    <a:lstStyle/>
                    <a:p>
                      <a:pPr>
                        <a:lnSpc>
                          <a:spcPct val="107000"/>
                        </a:lnSpc>
                        <a:spcAft>
                          <a:spcPts val="800"/>
                        </a:spcAft>
                        <a:buNone/>
                      </a:pPr>
                      <a:r>
                        <a:rPr lang="en-GB" sz="1300" kern="100">
                          <a:effectLst/>
                          <a:latin typeface="Tahoma" panose="020B0604030504040204" pitchFamily="34" charset="0"/>
                          <a:ea typeface="Tahoma" panose="020B0604030504040204" pitchFamily="34" charset="0"/>
                          <a:cs typeface="Tahoma" panose="020B0604030504040204" pitchFamily="34" charset="0"/>
                        </a:rPr>
                        <a:t>4.6045</a:t>
                      </a:r>
                      <a:endParaRPr lang="el-GR" sz="1200" kern="100">
                        <a:effectLst/>
                        <a:latin typeface="Tahoma" panose="020B0604030504040204" pitchFamily="34" charset="0"/>
                        <a:ea typeface="Tahoma" panose="020B0604030504040204" pitchFamily="34" charset="0"/>
                        <a:cs typeface="Tahoma" panose="020B0604030504040204" pitchFamily="34" charset="0"/>
                      </a:endParaRPr>
                    </a:p>
                  </a:txBody>
                  <a:tcPr marL="63109" marR="63109" marT="31909" marB="31909" anchor="ctr"/>
                </a:tc>
                <a:tc>
                  <a:txBody>
                    <a:bodyPr/>
                    <a:lstStyle/>
                    <a:p>
                      <a:pPr>
                        <a:lnSpc>
                          <a:spcPct val="107000"/>
                        </a:lnSpc>
                        <a:spcAft>
                          <a:spcPts val="800"/>
                        </a:spcAft>
                        <a:buNone/>
                      </a:pPr>
                      <a:r>
                        <a:rPr lang="el-GR" sz="1300" kern="100">
                          <a:effectLst/>
                          <a:latin typeface="Tahoma" panose="020B0604030504040204" pitchFamily="34" charset="0"/>
                          <a:ea typeface="Tahoma" panose="020B0604030504040204" pitchFamily="34" charset="0"/>
                          <a:cs typeface="Tahoma" panose="020B0604030504040204" pitchFamily="34" charset="0"/>
                        </a:rPr>
                        <a:t>0.0523</a:t>
                      </a:r>
                      <a:endParaRPr lang="el-GR" sz="1200" kern="100">
                        <a:effectLst/>
                        <a:latin typeface="Tahoma" panose="020B0604030504040204" pitchFamily="34" charset="0"/>
                        <a:ea typeface="Tahoma" panose="020B0604030504040204" pitchFamily="34" charset="0"/>
                        <a:cs typeface="Tahoma" panose="020B0604030504040204" pitchFamily="34" charset="0"/>
                      </a:endParaRPr>
                    </a:p>
                  </a:txBody>
                  <a:tcPr marL="63109" marR="63109" marT="31909" marB="31909" anchor="ctr"/>
                </a:tc>
                <a:tc>
                  <a:txBody>
                    <a:bodyPr/>
                    <a:lstStyle/>
                    <a:p>
                      <a:pPr>
                        <a:lnSpc>
                          <a:spcPct val="107000"/>
                        </a:lnSpc>
                        <a:spcAft>
                          <a:spcPts val="800"/>
                        </a:spcAft>
                        <a:buNone/>
                      </a:pPr>
                      <a:r>
                        <a:rPr lang="el-GR" sz="1300" kern="100" dirty="0">
                          <a:effectLst/>
                          <a:latin typeface="Tahoma" panose="020B0604030504040204" pitchFamily="34" charset="0"/>
                          <a:ea typeface="Tahoma" panose="020B0604030504040204" pitchFamily="34" charset="0"/>
                          <a:cs typeface="Tahoma" panose="020B0604030504040204" pitchFamily="34" charset="0"/>
                        </a:rPr>
                        <a:t>23.25</a:t>
                      </a:r>
                      <a:endParaRPr lang="el-GR" sz="1200" kern="100" dirty="0">
                        <a:effectLst/>
                        <a:latin typeface="Tahoma" panose="020B0604030504040204" pitchFamily="34" charset="0"/>
                        <a:ea typeface="Tahoma" panose="020B0604030504040204" pitchFamily="34" charset="0"/>
                        <a:cs typeface="Tahoma" panose="020B0604030504040204" pitchFamily="34" charset="0"/>
                      </a:endParaRPr>
                    </a:p>
                  </a:txBody>
                  <a:tcPr marL="63109" marR="63109" marT="31909" marB="31909" anchor="ctr"/>
                </a:tc>
                <a:extLst>
                  <a:ext uri="{0D108BD9-81ED-4DB2-BD59-A6C34878D82A}">
                    <a16:rowId xmlns:a16="http://schemas.microsoft.com/office/drawing/2014/main" val="3590475648"/>
                  </a:ext>
                </a:extLst>
              </a:tr>
            </a:tbl>
          </a:graphicData>
        </a:graphic>
      </p:graphicFrame>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700"/>
        <p:cNvGrpSpPr/>
        <p:nvPr/>
      </p:nvGrpSpPr>
      <p:grpSpPr>
        <a:xfrm>
          <a:off x="0" y="0"/>
          <a:ext cx="0" cy="0"/>
          <a:chOff x="0" y="0"/>
          <a:chExt cx="0" cy="0"/>
        </a:xfrm>
      </p:grpSpPr>
      <p:sp>
        <p:nvSpPr>
          <p:cNvPr id="701" name="Google Shape;701;p57"/>
          <p:cNvSpPr txBox="1">
            <a:spLocks noGrp="1"/>
          </p:cNvSpPr>
          <p:nvPr>
            <p:ph type="title"/>
          </p:nvPr>
        </p:nvSpPr>
        <p:spPr>
          <a:xfrm>
            <a:off x="1115568" y="548640"/>
            <a:ext cx="10168128" cy="1179576"/>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Tahoma"/>
              <a:buNone/>
            </a:pPr>
            <a:r>
              <a:rPr lang="el-GR" sz="4000" dirty="0">
                <a:latin typeface="Tahoma"/>
                <a:ea typeface="Tahoma"/>
                <a:cs typeface="Tahoma"/>
                <a:sym typeface="Tahoma"/>
              </a:rPr>
              <a:t>Πόσο Πιστά Μοιάζουν τα Συνθετικά με τα Πραγματικά Δεδομένα;</a:t>
            </a:r>
            <a:endParaRPr dirty="0"/>
          </a:p>
        </p:txBody>
      </p:sp>
      <p:sp>
        <p:nvSpPr>
          <p:cNvPr id="702" name="Google Shape;702;p57"/>
          <p:cNvSpPr txBox="1">
            <a:spLocks noGrp="1"/>
          </p:cNvSpPr>
          <p:nvPr>
            <p:ph type="body" idx="1"/>
          </p:nvPr>
        </p:nvSpPr>
        <p:spPr>
          <a:xfrm>
            <a:off x="780183" y="2216929"/>
            <a:ext cx="11088255" cy="4562272"/>
          </a:xfrm>
          <a:prstGeom prst="rect">
            <a:avLst/>
          </a:prstGeom>
          <a:noFill/>
          <a:ln>
            <a:noFill/>
          </a:ln>
        </p:spPr>
        <p:txBody>
          <a:bodyPr spcFirstLastPara="1" wrap="square" lIns="91425" tIns="45700" rIns="91425" bIns="45700" anchor="t" anchorCtr="0">
            <a:noAutofit/>
          </a:bodyPr>
          <a:lstStyle/>
          <a:p>
            <a:pPr marL="0" lvl="0" indent="0" algn="l" rtl="0">
              <a:lnSpc>
                <a:spcPct val="110000"/>
              </a:lnSpc>
              <a:spcBef>
                <a:spcPts val="0"/>
              </a:spcBef>
              <a:spcAft>
                <a:spcPts val="0"/>
              </a:spcAft>
              <a:buClr>
                <a:schemeClr val="dk1"/>
              </a:buClr>
              <a:buSzPts val="1600"/>
              <a:buNone/>
            </a:pPr>
            <a:r>
              <a:rPr lang="el-GR" sz="1600" b="1" dirty="0">
                <a:latin typeface="Tahoma"/>
                <a:ea typeface="Tahoma"/>
                <a:cs typeface="Tahoma"/>
                <a:sym typeface="Tahoma"/>
              </a:rPr>
              <a:t>MSE (Μέσο Τετραγωνικό Σφάλμα): </a:t>
            </a:r>
            <a:endParaRPr sz="1600" b="1" dirty="0">
              <a:latin typeface="Tahoma"/>
              <a:ea typeface="Tahoma"/>
              <a:cs typeface="Tahoma"/>
              <a:sym typeface="Tahoma"/>
            </a:endParaRPr>
          </a:p>
          <a:p>
            <a:pPr marL="685800" lvl="1" indent="-228600" algn="l" rtl="0">
              <a:lnSpc>
                <a:spcPct val="110000"/>
              </a:lnSpc>
              <a:spcBef>
                <a:spcPts val="500"/>
              </a:spcBef>
              <a:spcAft>
                <a:spcPts val="0"/>
              </a:spcAft>
              <a:buClr>
                <a:schemeClr val="dk1"/>
              </a:buClr>
              <a:buSzPts val="1600"/>
              <a:buFont typeface="Noto Sans Symbols"/>
              <a:buChar char="❑"/>
            </a:pPr>
            <a:r>
              <a:rPr lang="el-GR" sz="1600" dirty="0">
                <a:latin typeface="Tahoma"/>
                <a:ea typeface="Tahoma"/>
                <a:cs typeface="Tahoma"/>
                <a:sym typeface="Tahoma"/>
              </a:rPr>
              <a:t>Μετρά τη μέση τετραγωνική απόσταση μεταξύ πραγματικών και παραγόμενων τιμών. </a:t>
            </a:r>
            <a:endParaRPr sz="1600" dirty="0">
              <a:latin typeface="Tahoma"/>
              <a:ea typeface="Tahoma"/>
              <a:cs typeface="Tahoma"/>
              <a:sym typeface="Tahoma"/>
            </a:endParaRPr>
          </a:p>
          <a:p>
            <a:pPr marL="685800" lvl="1" indent="-228600" algn="l" rtl="0">
              <a:lnSpc>
                <a:spcPct val="110000"/>
              </a:lnSpc>
              <a:spcBef>
                <a:spcPts val="500"/>
              </a:spcBef>
              <a:spcAft>
                <a:spcPts val="0"/>
              </a:spcAft>
              <a:buClr>
                <a:schemeClr val="dk1"/>
              </a:buClr>
              <a:buSzPts val="1600"/>
              <a:buFont typeface="Noto Sans Symbols"/>
              <a:buChar char="❑"/>
            </a:pPr>
            <a:r>
              <a:rPr lang="el-GR" sz="1600" b="1" dirty="0">
                <a:latin typeface="Tahoma"/>
                <a:ea typeface="Tahoma"/>
                <a:cs typeface="Tahoma"/>
                <a:sym typeface="Tahoma"/>
              </a:rPr>
              <a:t>Τιμή: 0.2029 </a:t>
            </a:r>
            <a:r>
              <a:rPr lang="el-GR" sz="1600" dirty="0">
                <a:latin typeface="Tahoma"/>
                <a:ea typeface="Tahoma"/>
                <a:cs typeface="Tahoma"/>
                <a:sym typeface="Tahoma"/>
              </a:rPr>
              <a:t>→ </a:t>
            </a:r>
            <a:r>
              <a:rPr lang="el-GR" sz="1600" dirty="0" err="1">
                <a:latin typeface="Tahoma"/>
                <a:ea typeface="Tahoma"/>
                <a:cs typeface="Tahoma"/>
                <a:sym typeface="Tahoma"/>
              </a:rPr>
              <a:t>Mικρό</a:t>
            </a:r>
            <a:r>
              <a:rPr lang="el-GR" sz="1600" dirty="0">
                <a:latin typeface="Tahoma"/>
                <a:ea typeface="Tahoma"/>
                <a:cs typeface="Tahoma"/>
                <a:sym typeface="Tahoma"/>
              </a:rPr>
              <a:t> σφάλμα, υποδηλώνει καλή ακρίβεια στις τιμές. Όσο μικρότερη η τιμή, τόσο πιο κοντά είναι τα συνθετικά δεδομένα στα πραγματικά.</a:t>
            </a:r>
            <a:endParaRPr sz="1600" dirty="0">
              <a:latin typeface="Tahoma"/>
              <a:ea typeface="Tahoma"/>
              <a:cs typeface="Tahoma"/>
              <a:sym typeface="Tahoma"/>
            </a:endParaRPr>
          </a:p>
          <a:p>
            <a:pPr marL="0" lvl="0" indent="0" algn="l" rtl="0">
              <a:lnSpc>
                <a:spcPct val="110000"/>
              </a:lnSpc>
              <a:spcBef>
                <a:spcPts val="1000"/>
              </a:spcBef>
              <a:spcAft>
                <a:spcPts val="0"/>
              </a:spcAft>
              <a:buClr>
                <a:schemeClr val="dk1"/>
              </a:buClr>
              <a:buSzPts val="1600"/>
              <a:buNone/>
            </a:pPr>
            <a:r>
              <a:rPr lang="el-GR" sz="1600" b="1" dirty="0" err="1">
                <a:latin typeface="Tahoma"/>
                <a:ea typeface="Tahoma"/>
                <a:cs typeface="Tahoma"/>
                <a:sym typeface="Tahoma"/>
              </a:rPr>
              <a:t>Cosine</a:t>
            </a:r>
            <a:r>
              <a:rPr lang="el-GR" sz="1600" b="1" dirty="0">
                <a:latin typeface="Tahoma"/>
                <a:ea typeface="Tahoma"/>
                <a:cs typeface="Tahoma"/>
                <a:sym typeface="Tahoma"/>
              </a:rPr>
              <a:t> </a:t>
            </a:r>
            <a:r>
              <a:rPr lang="el-GR" sz="1600" b="1" dirty="0" err="1">
                <a:latin typeface="Tahoma"/>
                <a:ea typeface="Tahoma"/>
                <a:cs typeface="Tahoma"/>
                <a:sym typeface="Tahoma"/>
              </a:rPr>
              <a:t>Similarity</a:t>
            </a:r>
            <a:r>
              <a:rPr lang="el-GR" sz="1600" b="1" dirty="0">
                <a:latin typeface="Tahoma"/>
                <a:ea typeface="Tahoma"/>
                <a:cs typeface="Tahoma"/>
                <a:sym typeface="Tahoma"/>
              </a:rPr>
              <a:t> (</a:t>
            </a:r>
            <a:r>
              <a:rPr lang="el-GR" sz="1600" b="1" dirty="0" err="1">
                <a:latin typeface="Tahoma"/>
                <a:ea typeface="Tahoma"/>
                <a:cs typeface="Tahoma"/>
                <a:sym typeface="Tahoma"/>
              </a:rPr>
              <a:t>Συνημιτονοειδής</a:t>
            </a:r>
            <a:r>
              <a:rPr lang="el-GR" sz="1600" b="1" dirty="0">
                <a:latin typeface="Tahoma"/>
                <a:ea typeface="Tahoma"/>
                <a:cs typeface="Tahoma"/>
                <a:sym typeface="Tahoma"/>
              </a:rPr>
              <a:t> Ομοιότητα): </a:t>
            </a:r>
            <a:r>
              <a:rPr lang="en-GB" sz="1600" b="1" dirty="0">
                <a:latin typeface="Tahoma"/>
                <a:ea typeface="Tahoma"/>
                <a:cs typeface="Tahoma"/>
                <a:sym typeface="Tahoma"/>
              </a:rPr>
              <a:t> </a:t>
            </a:r>
            <a:endParaRPr dirty="0"/>
          </a:p>
          <a:p>
            <a:pPr marL="685800" lvl="1" indent="-228600" algn="l" rtl="0">
              <a:lnSpc>
                <a:spcPct val="110000"/>
              </a:lnSpc>
              <a:spcBef>
                <a:spcPts val="500"/>
              </a:spcBef>
              <a:spcAft>
                <a:spcPts val="0"/>
              </a:spcAft>
              <a:buClr>
                <a:schemeClr val="dk1"/>
              </a:buClr>
              <a:buSzPts val="1600"/>
              <a:buFont typeface="Noto Sans Symbols"/>
              <a:buChar char="❑"/>
            </a:pPr>
            <a:r>
              <a:rPr lang="el-GR" sz="1600" dirty="0">
                <a:latin typeface="Tahoma"/>
                <a:ea typeface="Tahoma"/>
                <a:cs typeface="Tahoma"/>
                <a:sym typeface="Tahoma"/>
              </a:rPr>
              <a:t>Μετρά τη γωνία μεταξύ των διανυσμάτων (πραγματικού και συνθετικού δείγματος).</a:t>
            </a:r>
            <a:endParaRPr dirty="0"/>
          </a:p>
          <a:p>
            <a:pPr marL="685800" lvl="1" indent="-228600" algn="l" rtl="0">
              <a:lnSpc>
                <a:spcPct val="110000"/>
              </a:lnSpc>
              <a:spcBef>
                <a:spcPts val="500"/>
              </a:spcBef>
              <a:spcAft>
                <a:spcPts val="0"/>
              </a:spcAft>
              <a:buClr>
                <a:schemeClr val="dk1"/>
              </a:buClr>
              <a:buSzPts val="1600"/>
              <a:buFont typeface="Noto Sans Symbols"/>
              <a:buChar char="❑"/>
            </a:pPr>
            <a:r>
              <a:rPr lang="el-GR" sz="1600" b="1" dirty="0">
                <a:latin typeface="Tahoma"/>
                <a:ea typeface="Tahoma"/>
                <a:cs typeface="Tahoma"/>
                <a:sym typeface="Tahoma"/>
              </a:rPr>
              <a:t>Τιμή: 0.7836  </a:t>
            </a:r>
            <a:r>
              <a:rPr lang="el-GR" sz="1600" dirty="0">
                <a:latin typeface="Tahoma"/>
                <a:ea typeface="Tahoma"/>
                <a:cs typeface="Tahoma"/>
                <a:sym typeface="Tahoma"/>
              </a:rPr>
              <a:t>→ καλή ομοιότητα προσανατολισμού: τα συνθετικά ακολουθούν παρόμοια μοτίβα μεταβολής. Τιμή κοντά στο 1 σημαίνει παρόμοια κατεύθυνση.</a:t>
            </a:r>
            <a:endParaRPr sz="1600" dirty="0">
              <a:latin typeface="Tahoma"/>
              <a:ea typeface="Tahoma"/>
              <a:cs typeface="Tahoma"/>
              <a:sym typeface="Tahoma"/>
            </a:endParaRPr>
          </a:p>
          <a:p>
            <a:pPr marL="0" lvl="0" indent="0" algn="l" rtl="0">
              <a:lnSpc>
                <a:spcPct val="110000"/>
              </a:lnSpc>
              <a:spcBef>
                <a:spcPts val="1000"/>
              </a:spcBef>
              <a:spcAft>
                <a:spcPts val="0"/>
              </a:spcAft>
              <a:buClr>
                <a:schemeClr val="dk1"/>
              </a:buClr>
              <a:buSzPts val="1600"/>
              <a:buNone/>
            </a:pPr>
            <a:r>
              <a:rPr lang="el-GR" sz="1600" b="1" dirty="0">
                <a:latin typeface="Tahoma"/>
                <a:ea typeface="Tahoma"/>
                <a:cs typeface="Tahoma"/>
                <a:sym typeface="Tahoma"/>
              </a:rPr>
              <a:t>KL </a:t>
            </a:r>
            <a:r>
              <a:rPr lang="el-GR" sz="1600" b="1" dirty="0" err="1">
                <a:latin typeface="Tahoma"/>
                <a:ea typeface="Tahoma"/>
                <a:cs typeface="Tahoma"/>
                <a:sym typeface="Tahoma"/>
              </a:rPr>
              <a:t>Divergence</a:t>
            </a:r>
            <a:r>
              <a:rPr lang="el-GR" sz="1600" b="1" dirty="0">
                <a:latin typeface="Tahoma"/>
                <a:ea typeface="Tahoma"/>
                <a:cs typeface="Tahoma"/>
                <a:sym typeface="Tahoma"/>
              </a:rPr>
              <a:t> (</a:t>
            </a:r>
            <a:r>
              <a:rPr lang="el-GR" sz="1600" b="1" dirty="0" err="1">
                <a:latin typeface="Tahoma"/>
                <a:ea typeface="Tahoma"/>
                <a:cs typeface="Tahoma"/>
                <a:sym typeface="Tahoma"/>
              </a:rPr>
              <a:t>Kullback-Leibler</a:t>
            </a:r>
            <a:r>
              <a:rPr lang="el-GR" sz="1600" b="1" dirty="0">
                <a:latin typeface="Tahoma"/>
                <a:ea typeface="Tahoma"/>
                <a:cs typeface="Tahoma"/>
                <a:sym typeface="Tahoma"/>
              </a:rPr>
              <a:t> Απόκλιση): </a:t>
            </a:r>
            <a:r>
              <a:rPr lang="en-GB" sz="1600" b="1" dirty="0">
                <a:latin typeface="Tahoma"/>
                <a:ea typeface="Tahoma"/>
                <a:cs typeface="Tahoma"/>
                <a:sym typeface="Tahoma"/>
              </a:rPr>
              <a:t> </a:t>
            </a:r>
            <a:endParaRPr dirty="0"/>
          </a:p>
          <a:p>
            <a:pPr marL="685800" lvl="1" indent="-228600" algn="l" rtl="0">
              <a:lnSpc>
                <a:spcPct val="110000"/>
              </a:lnSpc>
              <a:spcBef>
                <a:spcPts val="500"/>
              </a:spcBef>
              <a:spcAft>
                <a:spcPts val="0"/>
              </a:spcAft>
              <a:buClr>
                <a:schemeClr val="dk1"/>
              </a:buClr>
              <a:buSzPts val="1600"/>
              <a:buFont typeface="Noto Sans Symbols"/>
              <a:buChar char="❑"/>
            </a:pPr>
            <a:r>
              <a:rPr lang="el-GR" sz="1600" dirty="0">
                <a:latin typeface="Tahoma"/>
                <a:ea typeface="Tahoma"/>
                <a:cs typeface="Tahoma"/>
                <a:sym typeface="Tahoma"/>
              </a:rPr>
              <a:t>Εκφράζει πόση πληροφορία χάνεται όταν χρησιμοποιούμε την κατανομή των συνθετικών δεδομένων για να προσεγγίσουμε την κατανομή των πραγματικών. </a:t>
            </a:r>
            <a:endParaRPr dirty="0"/>
          </a:p>
          <a:p>
            <a:pPr marL="685800" lvl="1" indent="-228600" algn="l" rtl="0">
              <a:lnSpc>
                <a:spcPct val="110000"/>
              </a:lnSpc>
              <a:spcBef>
                <a:spcPts val="500"/>
              </a:spcBef>
              <a:spcAft>
                <a:spcPts val="0"/>
              </a:spcAft>
              <a:buClr>
                <a:schemeClr val="dk1"/>
              </a:buClr>
              <a:buSzPts val="1600"/>
              <a:buFont typeface="Noto Sans Symbols"/>
              <a:buChar char="❑"/>
            </a:pPr>
            <a:r>
              <a:rPr lang="el-GR" sz="1600" b="1" dirty="0">
                <a:latin typeface="Tahoma"/>
                <a:ea typeface="Tahoma"/>
                <a:cs typeface="Tahoma"/>
                <a:sym typeface="Tahoma"/>
              </a:rPr>
              <a:t>Τιμή: 4.913</a:t>
            </a:r>
            <a:r>
              <a:rPr lang="en-GB" sz="1600" b="1" dirty="0">
                <a:latin typeface="Tahoma"/>
                <a:ea typeface="Tahoma"/>
                <a:cs typeface="Tahoma"/>
                <a:sym typeface="Tahoma"/>
              </a:rPr>
              <a:t> </a:t>
            </a:r>
            <a:r>
              <a:rPr lang="el-GR" sz="1600" b="1" dirty="0">
                <a:latin typeface="Tahoma"/>
                <a:ea typeface="Tahoma"/>
                <a:cs typeface="Tahoma"/>
                <a:sym typeface="Tahoma"/>
              </a:rPr>
              <a:t> </a:t>
            </a:r>
            <a:r>
              <a:rPr lang="el-GR" sz="1600" dirty="0">
                <a:latin typeface="Tahoma"/>
                <a:ea typeface="Tahoma"/>
                <a:cs typeface="Tahoma"/>
                <a:sym typeface="Tahoma"/>
              </a:rPr>
              <a:t>→ Υποδηλώνει ικανοποιητική προσέγγιση μεταξύ των δύο κατανομών, επιβεβαιώνοντας ότι το μοντέλο καταφέρνει να αναπαράγει τα στατιστικά χαρακτηριστικά των πραγματικών δεδομένων. </a:t>
            </a:r>
            <a:endParaRPr sz="1100" dirty="0">
              <a:latin typeface="Tahoma"/>
              <a:ea typeface="Tahoma"/>
              <a:cs typeface="Tahoma"/>
              <a:sym typeface="Tahoma"/>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707"/>
        <p:cNvGrpSpPr/>
        <p:nvPr/>
      </p:nvGrpSpPr>
      <p:grpSpPr>
        <a:xfrm>
          <a:off x="0" y="0"/>
          <a:ext cx="0" cy="0"/>
          <a:chOff x="0" y="0"/>
          <a:chExt cx="0" cy="0"/>
        </a:xfrm>
      </p:grpSpPr>
      <p:sp>
        <p:nvSpPr>
          <p:cNvPr id="708" name="Google Shape;708;p58"/>
          <p:cNvSpPr txBox="1">
            <a:spLocks noGrp="1"/>
          </p:cNvSpPr>
          <p:nvPr>
            <p:ph type="title"/>
          </p:nvPr>
        </p:nvSpPr>
        <p:spPr>
          <a:xfrm>
            <a:off x="1115568" y="548640"/>
            <a:ext cx="10168128" cy="1179576"/>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000"/>
              <a:buFont typeface="Tahoma"/>
              <a:buNone/>
            </a:pPr>
            <a:r>
              <a:rPr lang="el-GR" sz="4000" dirty="0">
                <a:latin typeface="Tahoma"/>
                <a:ea typeface="Tahoma"/>
                <a:cs typeface="Tahoma"/>
                <a:sym typeface="Tahoma"/>
              </a:rPr>
              <a:t>Πόσο ποικίλα είναι τα συνθετικά δεδομένα</a:t>
            </a:r>
            <a:r>
              <a:rPr lang="el-GR" dirty="0">
                <a:latin typeface="Tahoma"/>
                <a:ea typeface="Tahoma"/>
                <a:cs typeface="Tahoma"/>
                <a:sym typeface="Tahoma"/>
              </a:rPr>
              <a:t>;</a:t>
            </a:r>
            <a:endParaRPr sz="4000" dirty="0">
              <a:latin typeface="Tahoma"/>
              <a:ea typeface="Tahoma"/>
              <a:cs typeface="Tahoma"/>
              <a:sym typeface="Tahoma"/>
            </a:endParaRPr>
          </a:p>
        </p:txBody>
      </p:sp>
      <p:sp>
        <p:nvSpPr>
          <p:cNvPr id="709" name="Google Shape;709;p58"/>
          <p:cNvSpPr txBox="1">
            <a:spLocks noGrp="1"/>
          </p:cNvSpPr>
          <p:nvPr>
            <p:ph type="body" idx="1"/>
          </p:nvPr>
        </p:nvSpPr>
        <p:spPr>
          <a:xfrm>
            <a:off x="826654" y="2295728"/>
            <a:ext cx="10745955" cy="4562272"/>
          </a:xfrm>
          <a:prstGeom prst="rect">
            <a:avLst/>
          </a:prstGeom>
          <a:noFill/>
          <a:ln>
            <a:noFill/>
          </a:ln>
        </p:spPr>
        <p:txBody>
          <a:bodyPr spcFirstLastPara="1" wrap="square" lIns="91425" tIns="45700" rIns="91425" bIns="45700" anchor="t" anchorCtr="0">
            <a:normAutofit/>
          </a:bodyPr>
          <a:lstStyle/>
          <a:p>
            <a:pPr marL="0" lvl="0" indent="0" algn="l" rtl="0">
              <a:lnSpc>
                <a:spcPct val="110000"/>
              </a:lnSpc>
              <a:spcBef>
                <a:spcPts val="0"/>
              </a:spcBef>
              <a:spcAft>
                <a:spcPts val="0"/>
              </a:spcAft>
              <a:buClr>
                <a:schemeClr val="dk1"/>
              </a:buClr>
              <a:buSzPts val="2000"/>
              <a:buNone/>
            </a:pPr>
            <a:r>
              <a:rPr lang="el-GR" sz="2000" b="1" dirty="0" err="1">
                <a:latin typeface="Tahoma"/>
                <a:ea typeface="Tahoma"/>
                <a:cs typeface="Tahoma"/>
                <a:sym typeface="Tahoma"/>
              </a:rPr>
              <a:t>Diversity</a:t>
            </a:r>
            <a:r>
              <a:rPr lang="el-GR" sz="2000" b="1" dirty="0">
                <a:latin typeface="Tahoma"/>
                <a:ea typeface="Tahoma"/>
                <a:cs typeface="Tahoma"/>
                <a:sym typeface="Tahoma"/>
              </a:rPr>
              <a:t> (</a:t>
            </a:r>
            <a:r>
              <a:rPr lang="el-GR" sz="2000" b="1" dirty="0" err="1">
                <a:latin typeface="Tahoma"/>
                <a:ea typeface="Tahoma"/>
                <a:cs typeface="Tahoma"/>
                <a:sym typeface="Tahoma"/>
              </a:rPr>
              <a:t>Mean</a:t>
            </a:r>
            <a:r>
              <a:rPr lang="el-GR" sz="2000" b="1" dirty="0">
                <a:latin typeface="Tahoma"/>
                <a:ea typeface="Tahoma"/>
                <a:cs typeface="Tahoma"/>
                <a:sym typeface="Tahoma"/>
              </a:rPr>
              <a:t> </a:t>
            </a:r>
            <a:r>
              <a:rPr lang="el-GR" sz="2000" b="1" dirty="0" err="1">
                <a:latin typeface="Tahoma"/>
                <a:ea typeface="Tahoma"/>
                <a:cs typeface="Tahoma"/>
                <a:sym typeface="Tahoma"/>
              </a:rPr>
              <a:t>Variance</a:t>
            </a:r>
            <a:r>
              <a:rPr lang="el-GR" sz="2000" b="1" dirty="0">
                <a:latin typeface="Tahoma"/>
                <a:ea typeface="Tahoma"/>
                <a:cs typeface="Tahoma"/>
                <a:sym typeface="Tahoma"/>
              </a:rPr>
              <a:t> – Μέση Διακύμανση): </a:t>
            </a:r>
            <a:endParaRPr sz="2000" b="1" dirty="0">
              <a:latin typeface="Tahoma"/>
              <a:ea typeface="Tahoma"/>
              <a:cs typeface="Tahoma"/>
              <a:sym typeface="Tahoma"/>
            </a:endParaRPr>
          </a:p>
          <a:p>
            <a:pPr marL="685800" lvl="1" indent="-228600" algn="l" rtl="0">
              <a:lnSpc>
                <a:spcPct val="110000"/>
              </a:lnSpc>
              <a:spcBef>
                <a:spcPts val="500"/>
              </a:spcBef>
              <a:spcAft>
                <a:spcPts val="0"/>
              </a:spcAft>
              <a:buClr>
                <a:schemeClr val="dk1"/>
              </a:buClr>
              <a:buSzPts val="1800"/>
              <a:buFont typeface="Noto Sans Symbols"/>
              <a:buChar char="❑"/>
            </a:pPr>
            <a:r>
              <a:rPr lang="el-GR" sz="1800" dirty="0">
                <a:latin typeface="Tahoma"/>
                <a:ea typeface="Tahoma"/>
                <a:cs typeface="Tahoma"/>
                <a:sym typeface="Tahoma"/>
              </a:rPr>
              <a:t>Μετράει τη μέση διακύμανση ανά χαρακτηριστικό στα συνθετικά δεδομένα.</a:t>
            </a:r>
            <a:endParaRPr dirty="0"/>
          </a:p>
          <a:p>
            <a:pPr marL="685800" lvl="1" indent="-228600" algn="l" rtl="0">
              <a:lnSpc>
                <a:spcPct val="110000"/>
              </a:lnSpc>
              <a:spcBef>
                <a:spcPts val="500"/>
              </a:spcBef>
              <a:spcAft>
                <a:spcPts val="0"/>
              </a:spcAft>
              <a:buClr>
                <a:schemeClr val="dk1"/>
              </a:buClr>
              <a:buSzPts val="1800"/>
              <a:buFont typeface="Noto Sans Symbols"/>
              <a:buChar char="❑"/>
            </a:pPr>
            <a:r>
              <a:rPr lang="el-GR" sz="1800" b="1" dirty="0">
                <a:latin typeface="Tahoma"/>
                <a:ea typeface="Tahoma"/>
                <a:cs typeface="Tahoma"/>
                <a:sym typeface="Tahoma"/>
              </a:rPr>
              <a:t>Τιμή: 0.456  </a:t>
            </a:r>
            <a:r>
              <a:rPr lang="el-GR" sz="1800" dirty="0">
                <a:latin typeface="Tahoma"/>
                <a:ea typeface="Tahoma"/>
                <a:cs typeface="Tahoma"/>
                <a:sym typeface="Tahoma"/>
              </a:rPr>
              <a:t>→ δηλώνει την παρουσία ικανοποιητικής ποικιλίας στις τιμές των συνθετικών δειγμάτων. H υπερβολικά μεγάλη διασπορά μπορεί να υποδηλώνει την ύπαρξη θορύβου, ενώ πολύ χαμηλή διακύμανση αποτελεί σαφή ένδειξη απώλειας ποικιλίας (mode </a:t>
            </a:r>
            <a:r>
              <a:rPr lang="el-GR" sz="1800" dirty="0" err="1">
                <a:latin typeface="Tahoma"/>
                <a:ea typeface="Tahoma"/>
                <a:cs typeface="Tahoma"/>
                <a:sym typeface="Tahoma"/>
              </a:rPr>
              <a:t>collapse</a:t>
            </a:r>
            <a:r>
              <a:rPr lang="el-GR" sz="1800" dirty="0">
                <a:latin typeface="Tahoma"/>
                <a:ea typeface="Tahoma"/>
                <a:cs typeface="Tahoma"/>
                <a:sym typeface="Tahoma"/>
              </a:rPr>
              <a:t>), καθώς το μοντέλο καταλήγει να παράγει πανομοιότυπα ή σχεδόν πανομοιότυπα δείγματα.</a:t>
            </a:r>
          </a:p>
          <a:p>
            <a:pPr marL="0" lvl="0" indent="0" algn="l" rtl="0">
              <a:lnSpc>
                <a:spcPct val="110000"/>
              </a:lnSpc>
              <a:spcBef>
                <a:spcPts val="1000"/>
              </a:spcBef>
              <a:spcAft>
                <a:spcPts val="0"/>
              </a:spcAft>
              <a:buClr>
                <a:schemeClr val="dk1"/>
              </a:buClr>
              <a:buSzPts val="2000"/>
              <a:buNone/>
            </a:pPr>
            <a:r>
              <a:rPr lang="el-GR" sz="2000" b="1" dirty="0" err="1">
                <a:latin typeface="Tahoma"/>
                <a:ea typeface="Tahoma"/>
                <a:cs typeface="Tahoma"/>
                <a:sym typeface="Tahoma"/>
              </a:rPr>
              <a:t>Coverage</a:t>
            </a:r>
            <a:r>
              <a:rPr lang="el-GR" sz="2000" b="1" dirty="0">
                <a:latin typeface="Tahoma"/>
                <a:ea typeface="Tahoma"/>
                <a:cs typeface="Tahoma"/>
                <a:sym typeface="Tahoma"/>
              </a:rPr>
              <a:t> (Κάλυψη Εύρους Τιμών): </a:t>
            </a:r>
          </a:p>
          <a:p>
            <a:pPr marL="685800" lvl="1" indent="-228600" algn="l" rtl="0">
              <a:lnSpc>
                <a:spcPct val="110000"/>
              </a:lnSpc>
              <a:spcBef>
                <a:spcPts val="500"/>
              </a:spcBef>
              <a:spcAft>
                <a:spcPts val="0"/>
              </a:spcAft>
              <a:buClr>
                <a:schemeClr val="dk1"/>
              </a:buClr>
              <a:buSzPts val="1800"/>
              <a:buFont typeface="Noto Sans Symbols"/>
              <a:buChar char="❑"/>
            </a:pPr>
            <a:r>
              <a:rPr lang="el-GR" sz="1800" dirty="0">
                <a:latin typeface="Tahoma"/>
                <a:ea typeface="Tahoma"/>
                <a:cs typeface="Tahoma"/>
                <a:sym typeface="Tahoma"/>
              </a:rPr>
              <a:t>Υπολογίζει το ποσοστό του εύρους τιμών των συνθετικών δεδομένων σε σχέση με το εύρος των πραγματικών δεδομένων για κάθε χαρακτηριστικό. </a:t>
            </a:r>
            <a:endParaRPr dirty="0"/>
          </a:p>
          <a:p>
            <a:pPr marL="685800" lvl="1" indent="-228600" algn="l" rtl="0">
              <a:lnSpc>
                <a:spcPct val="110000"/>
              </a:lnSpc>
              <a:spcBef>
                <a:spcPts val="500"/>
              </a:spcBef>
              <a:spcAft>
                <a:spcPts val="0"/>
              </a:spcAft>
              <a:buClr>
                <a:schemeClr val="dk1"/>
              </a:buClr>
              <a:buSzPts val="1800"/>
              <a:buFont typeface="Noto Sans Symbols"/>
              <a:buChar char="❑"/>
            </a:pPr>
            <a:r>
              <a:rPr lang="el-GR" sz="1800" b="1" dirty="0">
                <a:latin typeface="Tahoma"/>
                <a:ea typeface="Tahoma"/>
                <a:cs typeface="Tahoma"/>
                <a:sym typeface="Tahoma"/>
              </a:rPr>
              <a:t>Τιμή: 28.46% </a:t>
            </a:r>
            <a:r>
              <a:rPr lang="el-GR" sz="1800" dirty="0">
                <a:latin typeface="Tahoma"/>
                <a:ea typeface="Tahoma"/>
                <a:cs typeface="Tahoma"/>
                <a:sym typeface="Tahoma"/>
              </a:rPr>
              <a:t>→ καταδεικνύει ότι τα συνθετικά δείγματα αναπαράγουν ένα αξιοσημείωτο υποσύνολο του συνολικού φάσματος τιμών των πραγματικών δεδομένων. </a:t>
            </a:r>
            <a:endParaRPr sz="1600" b="1" dirty="0">
              <a:latin typeface="Tahoma"/>
              <a:ea typeface="Tahoma"/>
              <a:cs typeface="Tahoma"/>
              <a:sym typeface="Tahoma"/>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14"/>
        <p:cNvGrpSpPr/>
        <p:nvPr/>
      </p:nvGrpSpPr>
      <p:grpSpPr>
        <a:xfrm>
          <a:off x="0" y="0"/>
          <a:ext cx="0" cy="0"/>
          <a:chOff x="0" y="0"/>
          <a:chExt cx="0" cy="0"/>
        </a:xfrm>
      </p:grpSpPr>
      <p:sp>
        <p:nvSpPr>
          <p:cNvPr id="715" name="Google Shape;715;p59"/>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venir"/>
              <a:ea typeface="Avenir"/>
              <a:cs typeface="Avenir"/>
              <a:sym typeface="Avenir"/>
            </a:endParaRPr>
          </a:p>
        </p:txBody>
      </p:sp>
      <p:sp>
        <p:nvSpPr>
          <p:cNvPr id="716" name="Google Shape;716;p59"/>
          <p:cNvSpPr txBox="1">
            <a:spLocks noGrp="1"/>
          </p:cNvSpPr>
          <p:nvPr>
            <p:ph type="title"/>
          </p:nvPr>
        </p:nvSpPr>
        <p:spPr>
          <a:xfrm>
            <a:off x="411480" y="991443"/>
            <a:ext cx="4443154" cy="1087819"/>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dk1"/>
              </a:buClr>
              <a:buSzPts val="2600"/>
              <a:buFont typeface="Avenir"/>
              <a:buNone/>
            </a:pPr>
            <a:r>
              <a:rPr lang="el-GR" sz="2600" dirty="0" err="1">
                <a:latin typeface="Tahoma" panose="020B0604030504040204" pitchFamily="34" charset="0"/>
                <a:ea typeface="Tahoma" panose="020B0604030504040204" pitchFamily="34" charset="0"/>
                <a:cs typeface="Tahoma" panose="020B0604030504040204" pitchFamily="34" charset="0"/>
              </a:rPr>
              <a:t>Οπτικοποίηση</a:t>
            </a:r>
            <a:r>
              <a:rPr lang="el-GR" sz="2600" dirty="0">
                <a:latin typeface="Tahoma" panose="020B0604030504040204" pitchFamily="34" charset="0"/>
                <a:ea typeface="Tahoma" panose="020B0604030504040204" pitchFamily="34" charset="0"/>
                <a:cs typeface="Tahoma" panose="020B0604030504040204" pitchFamily="34" charset="0"/>
              </a:rPr>
              <a:t> Πραγματικών και Συνθετικών Δεδομένων</a:t>
            </a:r>
            <a:endParaRPr dirty="0">
              <a:latin typeface="Tahoma" panose="020B0604030504040204" pitchFamily="34" charset="0"/>
              <a:ea typeface="Tahoma" panose="020B0604030504040204" pitchFamily="34" charset="0"/>
              <a:cs typeface="Tahoma" panose="020B0604030504040204" pitchFamily="34" charset="0"/>
            </a:endParaRPr>
          </a:p>
        </p:txBody>
      </p:sp>
      <p:sp>
        <p:nvSpPr>
          <p:cNvPr id="717" name="Google Shape;717;p59"/>
          <p:cNvSpPr/>
          <p:nvPr/>
        </p:nvSpPr>
        <p:spPr>
          <a:xfrm rot="5400000">
            <a:off x="649223" y="387939"/>
            <a:ext cx="73152" cy="54864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FFFFFF"/>
              </a:solidFill>
              <a:latin typeface="Calibri"/>
              <a:ea typeface="Calibri"/>
              <a:cs typeface="Calibri"/>
              <a:sym typeface="Calibri"/>
            </a:endParaRPr>
          </a:p>
        </p:txBody>
      </p:sp>
      <p:sp>
        <p:nvSpPr>
          <p:cNvPr id="718" name="Google Shape;718;p59"/>
          <p:cNvSpPr/>
          <p:nvPr/>
        </p:nvSpPr>
        <p:spPr>
          <a:xfrm>
            <a:off x="411480" y="2285541"/>
            <a:ext cx="4389120" cy="18288"/>
          </a:xfrm>
          <a:prstGeom prst="rect">
            <a:avLst/>
          </a:prstGeom>
          <a:solidFill>
            <a:srgbClr val="D6BDD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FFFFFF"/>
              </a:solidFill>
              <a:latin typeface="Calibri"/>
              <a:ea typeface="Calibri"/>
              <a:cs typeface="Calibri"/>
              <a:sym typeface="Calibri"/>
            </a:endParaRPr>
          </a:p>
        </p:txBody>
      </p:sp>
      <p:sp>
        <p:nvSpPr>
          <p:cNvPr id="719" name="Google Shape;719;p59"/>
          <p:cNvSpPr txBox="1">
            <a:spLocks noGrp="1"/>
          </p:cNvSpPr>
          <p:nvPr>
            <p:ph type="body" idx="1"/>
          </p:nvPr>
        </p:nvSpPr>
        <p:spPr>
          <a:xfrm>
            <a:off x="316229" y="2404763"/>
            <a:ext cx="5913121" cy="4380185"/>
          </a:xfrm>
          <a:prstGeom prst="rect">
            <a:avLst/>
          </a:prstGeom>
          <a:noFill/>
          <a:ln>
            <a:noFill/>
          </a:ln>
        </p:spPr>
        <p:txBody>
          <a:bodyPr spcFirstLastPara="1" wrap="square" lIns="91425" tIns="45700" rIns="91425" bIns="45700" anchor="t" anchorCtr="0">
            <a:normAutofit/>
          </a:bodyPr>
          <a:lstStyle/>
          <a:p>
            <a:pPr marL="228600" lvl="0" indent="-228600" algn="l" rtl="0">
              <a:lnSpc>
                <a:spcPct val="100000"/>
              </a:lnSpc>
              <a:spcBef>
                <a:spcPts val="0"/>
              </a:spcBef>
              <a:spcAft>
                <a:spcPts val="0"/>
              </a:spcAft>
              <a:buClr>
                <a:schemeClr val="dk1"/>
              </a:buClr>
              <a:buSzPts val="1600"/>
              <a:buFont typeface="Noto Sans Symbols"/>
              <a:buChar char="❑"/>
            </a:pPr>
            <a:r>
              <a:rPr lang="el-GR" sz="1600" dirty="0">
                <a:latin typeface="Tahoma"/>
                <a:ea typeface="Tahoma"/>
                <a:cs typeface="Tahoma"/>
                <a:sym typeface="Tahoma"/>
              </a:rPr>
              <a:t>Το σχήμα παρουσιάζει τη σύγκριση μεταξύ πραγματικών και συνθετικών τηλεπικοινωνιακών δεδομένων για τα πέντε επιλεγμένα χαρακτηριστικά (SMS In, SMS </a:t>
            </a:r>
            <a:r>
              <a:rPr lang="el-GR" sz="1600" dirty="0" err="1">
                <a:latin typeface="Tahoma"/>
                <a:ea typeface="Tahoma"/>
                <a:cs typeface="Tahoma"/>
                <a:sym typeface="Tahoma"/>
              </a:rPr>
              <a:t>Out</a:t>
            </a:r>
            <a:r>
              <a:rPr lang="el-GR" sz="1600" dirty="0">
                <a:latin typeface="Tahoma"/>
                <a:ea typeface="Tahoma"/>
                <a:cs typeface="Tahoma"/>
                <a:sym typeface="Tahoma"/>
              </a:rPr>
              <a:t>, </a:t>
            </a:r>
            <a:r>
              <a:rPr lang="el-GR" sz="1600" dirty="0" err="1">
                <a:latin typeface="Tahoma"/>
                <a:ea typeface="Tahoma"/>
                <a:cs typeface="Tahoma"/>
                <a:sym typeface="Tahoma"/>
              </a:rPr>
              <a:t>Call</a:t>
            </a:r>
            <a:r>
              <a:rPr lang="el-GR" sz="1600" dirty="0">
                <a:latin typeface="Tahoma"/>
                <a:ea typeface="Tahoma"/>
                <a:cs typeface="Tahoma"/>
                <a:sym typeface="Tahoma"/>
              </a:rPr>
              <a:t> In, </a:t>
            </a:r>
            <a:r>
              <a:rPr lang="el-GR" sz="1600" dirty="0" err="1">
                <a:latin typeface="Tahoma"/>
                <a:ea typeface="Tahoma"/>
                <a:cs typeface="Tahoma"/>
                <a:sym typeface="Tahoma"/>
              </a:rPr>
              <a:t>Call</a:t>
            </a:r>
            <a:r>
              <a:rPr lang="el-GR" sz="1600" dirty="0">
                <a:latin typeface="Tahoma"/>
                <a:ea typeface="Tahoma"/>
                <a:cs typeface="Tahoma"/>
                <a:sym typeface="Tahoma"/>
              </a:rPr>
              <a:t> </a:t>
            </a:r>
            <a:r>
              <a:rPr lang="el-GR" sz="1600" dirty="0" err="1">
                <a:latin typeface="Tahoma"/>
                <a:ea typeface="Tahoma"/>
                <a:cs typeface="Tahoma"/>
                <a:sym typeface="Tahoma"/>
              </a:rPr>
              <a:t>Out</a:t>
            </a:r>
            <a:r>
              <a:rPr lang="el-GR" sz="1600" dirty="0">
                <a:latin typeface="Tahoma"/>
                <a:ea typeface="Tahoma"/>
                <a:cs typeface="Tahoma"/>
                <a:sym typeface="Tahoma"/>
              </a:rPr>
              <a:t>, Internet </a:t>
            </a:r>
            <a:r>
              <a:rPr lang="el-GR" sz="1600" dirty="0" err="1">
                <a:latin typeface="Tahoma"/>
                <a:ea typeface="Tahoma"/>
                <a:cs typeface="Tahoma"/>
                <a:sym typeface="Tahoma"/>
              </a:rPr>
              <a:t>Usage</a:t>
            </a:r>
            <a:r>
              <a:rPr lang="el-GR" sz="1600" dirty="0">
                <a:latin typeface="Tahoma"/>
                <a:ea typeface="Tahoma"/>
                <a:cs typeface="Tahoma"/>
                <a:sym typeface="Tahoma"/>
              </a:rPr>
              <a:t>) στα πρώτα 100 δείγματα. Οι συνεχείς γραμμές αντιπροσωπεύουν τις πραγματικές τιμές, ενώ οι διακεκομμένες τις συνθετικές τιμές που παρήγαγε το WGAN-GP, όλες </a:t>
            </a:r>
            <a:r>
              <a:rPr lang="el-GR" sz="1600" dirty="0" err="1">
                <a:latin typeface="Tahoma"/>
                <a:ea typeface="Tahoma"/>
                <a:cs typeface="Tahoma"/>
                <a:sym typeface="Tahoma"/>
              </a:rPr>
              <a:t>κανονικοποιημένες</a:t>
            </a:r>
            <a:r>
              <a:rPr lang="el-GR" sz="1600" dirty="0">
                <a:latin typeface="Tahoma"/>
                <a:ea typeface="Tahoma"/>
                <a:cs typeface="Tahoma"/>
                <a:sym typeface="Tahoma"/>
              </a:rPr>
              <a:t> στην ίδια κλίμακα. </a:t>
            </a:r>
            <a:endParaRPr lang="en-GB" sz="1600" dirty="0">
              <a:latin typeface="Tahoma"/>
              <a:ea typeface="Tahoma"/>
              <a:cs typeface="Tahoma"/>
              <a:sym typeface="Tahoma"/>
            </a:endParaRPr>
          </a:p>
          <a:p>
            <a:pPr marL="228600" lvl="0" indent="-228600" algn="l" rtl="0">
              <a:lnSpc>
                <a:spcPct val="100000"/>
              </a:lnSpc>
              <a:spcBef>
                <a:spcPts val="0"/>
              </a:spcBef>
              <a:spcAft>
                <a:spcPts val="0"/>
              </a:spcAft>
              <a:buClr>
                <a:schemeClr val="dk1"/>
              </a:buClr>
              <a:buSzPts val="1600"/>
              <a:buFont typeface="Noto Sans Symbols"/>
              <a:buChar char="❑"/>
            </a:pPr>
            <a:endParaRPr lang="en-GB" sz="1600" dirty="0">
              <a:latin typeface="Tahoma"/>
              <a:ea typeface="Tahoma"/>
              <a:cs typeface="Tahoma"/>
              <a:sym typeface="Tahoma"/>
            </a:endParaRPr>
          </a:p>
          <a:p>
            <a:pPr marL="228600" lvl="0" indent="-228600" algn="l" rtl="0">
              <a:lnSpc>
                <a:spcPct val="100000"/>
              </a:lnSpc>
              <a:spcBef>
                <a:spcPts val="0"/>
              </a:spcBef>
              <a:spcAft>
                <a:spcPts val="0"/>
              </a:spcAft>
              <a:buClr>
                <a:schemeClr val="dk1"/>
              </a:buClr>
              <a:buSzPts val="1600"/>
              <a:buFont typeface="Noto Sans Symbols"/>
              <a:buChar char="❑"/>
            </a:pPr>
            <a:r>
              <a:rPr lang="el-GR" sz="1600" dirty="0">
                <a:latin typeface="Tahoma"/>
                <a:ea typeface="Tahoma"/>
                <a:cs typeface="Tahoma"/>
                <a:sym typeface="Tahoma"/>
              </a:rPr>
              <a:t>Είναι εμφανές ότι οι διακυμάνσεις και οι αιχμές (</a:t>
            </a:r>
            <a:r>
              <a:rPr lang="el-GR" sz="1600" dirty="0" err="1">
                <a:latin typeface="Tahoma"/>
                <a:ea typeface="Tahoma"/>
                <a:cs typeface="Tahoma"/>
                <a:sym typeface="Tahoma"/>
              </a:rPr>
              <a:t>spikes</a:t>
            </a:r>
            <a:r>
              <a:rPr lang="el-GR" sz="1600" dirty="0">
                <a:latin typeface="Tahoma"/>
                <a:ea typeface="Tahoma"/>
                <a:cs typeface="Tahoma"/>
                <a:sym typeface="Tahoma"/>
              </a:rPr>
              <a:t>) των συνθετικών δεδομένων συγχρονίζονται με εκείνες των πραγματικών, ιδιαίτερα σε στιγμές απότομης αύξησης της δραστηριότητας (π.χ. μαζικά SMS ή αυξημένη χρήση Internet). Αυτό φανερώνει ότι το μοντέλο κατόρθωσε να "μάθει" πότε και πώς εμφανίζονται τα τηλεπικοινωνιακά γεγονότα, καθώς και τις συσχετίσεις μεταξύ των διαφορετικών τύπων δραστηριότητας.</a:t>
            </a:r>
            <a:endParaRPr sz="1600" dirty="0">
              <a:latin typeface="Tahoma"/>
              <a:ea typeface="Tahoma"/>
              <a:cs typeface="Tahoma"/>
              <a:sym typeface="Tahoma"/>
            </a:endParaRPr>
          </a:p>
        </p:txBody>
      </p:sp>
      <p:pic>
        <p:nvPicPr>
          <p:cNvPr id="2" name="Picture 1">
            <a:extLst>
              <a:ext uri="{FF2B5EF4-FFF2-40B4-BE49-F238E27FC236}">
                <a16:creationId xmlns:a16="http://schemas.microsoft.com/office/drawing/2014/main" id="{6D189A81-04C6-C9DE-E67F-8E1849D853D1}"/>
              </a:ext>
            </a:extLst>
          </p:cNvPr>
          <p:cNvPicPr>
            <a:picLocks noChangeAspect="1"/>
          </p:cNvPicPr>
          <p:nvPr/>
        </p:nvPicPr>
        <p:blipFill rotWithShape="1">
          <a:blip r:embed="rId3">
            <a:extLst>
              <a:ext uri="{28A0092B-C50C-407E-A947-70E740481C1C}">
                <a14:useLocalDpi xmlns:a14="http://schemas.microsoft.com/office/drawing/2010/main" val="0"/>
              </a:ext>
            </a:extLst>
          </a:blip>
          <a:srcRect l="1053" t="1591" r="1186" b="1767"/>
          <a:stretch/>
        </p:blipFill>
        <p:spPr bwMode="auto">
          <a:xfrm>
            <a:off x="6403733" y="1748321"/>
            <a:ext cx="5613884" cy="3672642"/>
          </a:xfrm>
          <a:prstGeom prst="rect">
            <a:avLst/>
          </a:prstGeom>
          <a:ln>
            <a:noFill/>
          </a:ln>
          <a:effectLst>
            <a:outerShdw blurRad="190500" algn="tl" rotWithShape="0">
              <a:srgbClr val="000000">
                <a:alpha val="70000"/>
              </a:srgbClr>
            </a:outerShdw>
          </a:effectLst>
          <a:extLst>
            <a:ext uri="{53640926-AAD7-44D8-BBD7-CCE9431645EC}">
              <a14:shadowObscured xmlns:a14="http://schemas.microsoft.com/office/drawing/2010/main"/>
            </a:ext>
          </a:extLst>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725"/>
        <p:cNvGrpSpPr/>
        <p:nvPr/>
      </p:nvGrpSpPr>
      <p:grpSpPr>
        <a:xfrm>
          <a:off x="0" y="0"/>
          <a:ext cx="0" cy="0"/>
          <a:chOff x="0" y="0"/>
          <a:chExt cx="0" cy="0"/>
        </a:xfrm>
      </p:grpSpPr>
      <p:sp>
        <p:nvSpPr>
          <p:cNvPr id="726" name="Google Shape;726;p60"/>
          <p:cNvSpPr/>
          <p:nvPr/>
        </p:nvSpPr>
        <p:spPr>
          <a:xfrm>
            <a:off x="0" y="0"/>
            <a:ext cx="12192000" cy="68580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FFFFFF"/>
              </a:solidFill>
              <a:latin typeface="Avenir"/>
              <a:ea typeface="Avenir"/>
              <a:cs typeface="Avenir"/>
              <a:sym typeface="Avenir"/>
            </a:endParaRPr>
          </a:p>
        </p:txBody>
      </p:sp>
      <p:cxnSp>
        <p:nvCxnSpPr>
          <p:cNvPr id="727" name="Google Shape;727;p60"/>
          <p:cNvCxnSpPr/>
          <p:nvPr/>
        </p:nvCxnSpPr>
        <p:spPr>
          <a:xfrm>
            <a:off x="800100" y="723900"/>
            <a:ext cx="1638300" cy="0"/>
          </a:xfrm>
          <a:prstGeom prst="straightConnector1">
            <a:avLst/>
          </a:prstGeom>
          <a:noFill/>
          <a:ln w="44450" cap="flat" cmpd="sng">
            <a:solidFill>
              <a:schemeClr val="lt1"/>
            </a:solidFill>
            <a:prstDash val="solid"/>
            <a:miter lim="800000"/>
            <a:headEnd type="none" w="sm" len="sm"/>
            <a:tailEnd type="none" w="sm" len="sm"/>
          </a:ln>
        </p:spPr>
      </p:cxnSp>
      <p:pic>
        <p:nvPicPr>
          <p:cNvPr id="728" name="Google Shape;728;p60" descr="Topview of mint green workspace with laptop, coffee, notebook, pen, glasses, and mouse"/>
          <p:cNvPicPr preferRelativeResize="0"/>
          <p:nvPr/>
        </p:nvPicPr>
        <p:blipFill rotWithShape="1">
          <a:blip r:embed="rId3">
            <a:alphaModFix/>
          </a:blip>
          <a:srcRect b="15730"/>
          <a:stretch/>
        </p:blipFill>
        <p:spPr>
          <a:xfrm>
            <a:off x="21" y="10"/>
            <a:ext cx="12191979" cy="6857990"/>
          </a:xfrm>
          <a:prstGeom prst="rect">
            <a:avLst/>
          </a:prstGeom>
          <a:noFill/>
          <a:ln>
            <a:noFill/>
          </a:ln>
        </p:spPr>
      </p:pic>
      <p:sp>
        <p:nvSpPr>
          <p:cNvPr id="729" name="Google Shape;729;p60"/>
          <p:cNvSpPr/>
          <p:nvPr/>
        </p:nvSpPr>
        <p:spPr>
          <a:xfrm rot="-5400000" flipH="1">
            <a:off x="5167042" y="-166956"/>
            <a:ext cx="6858002" cy="7191913"/>
          </a:xfrm>
          <a:prstGeom prst="rect">
            <a:avLst/>
          </a:prstGeom>
          <a:gradFill>
            <a:gsLst>
              <a:gs pos="0">
                <a:srgbClr val="000000">
                  <a:alpha val="0"/>
                </a:srgbClr>
              </a:gs>
              <a:gs pos="25000">
                <a:srgbClr val="000000">
                  <a:alpha val="37647"/>
                </a:srgbClr>
              </a:gs>
              <a:gs pos="46000">
                <a:srgbClr val="000000">
                  <a:alpha val="54901"/>
                </a:srgbClr>
              </a:gs>
              <a:gs pos="100000">
                <a:srgbClr val="000000">
                  <a:alpha val="60000"/>
                </a:srgbClr>
              </a:gs>
            </a:gsLst>
            <a:lin ang="5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FFFFFF"/>
              </a:solidFill>
              <a:latin typeface="Avenir"/>
              <a:ea typeface="Avenir"/>
              <a:cs typeface="Avenir"/>
              <a:sym typeface="Avenir"/>
            </a:endParaRPr>
          </a:p>
        </p:txBody>
      </p:sp>
      <p:sp>
        <p:nvSpPr>
          <p:cNvPr id="730" name="Google Shape;730;p60"/>
          <p:cNvSpPr txBox="1">
            <a:spLocks noGrp="1"/>
          </p:cNvSpPr>
          <p:nvPr>
            <p:ph type="ctrTitle"/>
          </p:nvPr>
        </p:nvSpPr>
        <p:spPr>
          <a:xfrm>
            <a:off x="7761724" y="1161657"/>
            <a:ext cx="4141070" cy="3200400"/>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lt1"/>
              </a:buClr>
              <a:buSzPts val="4400"/>
              <a:buFont typeface="Tahoma"/>
              <a:buNone/>
            </a:pPr>
            <a:r>
              <a:rPr lang="el-GR" sz="4400">
                <a:latin typeface="Tahoma"/>
                <a:ea typeface="Tahoma"/>
                <a:cs typeface="Tahoma"/>
                <a:sym typeface="Tahoma"/>
              </a:rPr>
              <a:t>Συμπεράσματα &amp; Μελλοντική Έρευνα</a:t>
            </a:r>
            <a:endParaRPr/>
          </a:p>
        </p:txBody>
      </p:sp>
      <p:sp>
        <p:nvSpPr>
          <p:cNvPr id="731" name="Google Shape;731;p60"/>
          <p:cNvSpPr/>
          <p:nvPr/>
        </p:nvSpPr>
        <p:spPr>
          <a:xfrm rot="5400000">
            <a:off x="8040616" y="346791"/>
            <a:ext cx="146304" cy="704088"/>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FFFFFF"/>
              </a:solidFill>
              <a:latin typeface="Calibri"/>
              <a:ea typeface="Calibri"/>
              <a:cs typeface="Calibri"/>
              <a:sym typeface="Calibri"/>
            </a:endParaRPr>
          </a:p>
        </p:txBody>
      </p:sp>
      <p:sp>
        <p:nvSpPr>
          <p:cNvPr id="732" name="Google Shape;732;p60"/>
          <p:cNvSpPr/>
          <p:nvPr/>
        </p:nvSpPr>
        <p:spPr>
          <a:xfrm>
            <a:off x="7761724" y="4546920"/>
            <a:ext cx="3977640" cy="18288"/>
          </a:xfrm>
          <a:prstGeom prst="rect">
            <a:avLst/>
          </a:prstGeom>
          <a:solidFill>
            <a:srgbClr val="F8F8F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736"/>
        <p:cNvGrpSpPr/>
        <p:nvPr/>
      </p:nvGrpSpPr>
      <p:grpSpPr>
        <a:xfrm>
          <a:off x="0" y="0"/>
          <a:ext cx="0" cy="0"/>
          <a:chOff x="0" y="0"/>
          <a:chExt cx="0" cy="0"/>
        </a:xfrm>
      </p:grpSpPr>
      <p:sp>
        <p:nvSpPr>
          <p:cNvPr id="737" name="Google Shape;737;p61"/>
          <p:cNvSpPr txBox="1">
            <a:spLocks noGrp="1"/>
          </p:cNvSpPr>
          <p:nvPr>
            <p:ph type="title"/>
          </p:nvPr>
        </p:nvSpPr>
        <p:spPr>
          <a:xfrm>
            <a:off x="1115568" y="548640"/>
            <a:ext cx="10168128" cy="1179576"/>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000"/>
              <a:buFont typeface="Avenir"/>
              <a:buNone/>
            </a:pPr>
            <a:r>
              <a:rPr lang="el-GR" dirty="0">
                <a:latin typeface="Tahoma" panose="020B0604030504040204" pitchFamily="34" charset="0"/>
                <a:ea typeface="Tahoma" panose="020B0604030504040204" pitchFamily="34" charset="0"/>
                <a:cs typeface="Tahoma" panose="020B0604030504040204" pitchFamily="34" charset="0"/>
              </a:rPr>
              <a:t>Κύρια Ευρήματα</a:t>
            </a:r>
            <a:endParaRPr dirty="0">
              <a:latin typeface="Tahoma" panose="020B0604030504040204" pitchFamily="34" charset="0"/>
              <a:ea typeface="Tahoma" panose="020B0604030504040204" pitchFamily="34" charset="0"/>
              <a:cs typeface="Tahoma" panose="020B0604030504040204" pitchFamily="34" charset="0"/>
            </a:endParaRPr>
          </a:p>
        </p:txBody>
      </p:sp>
      <p:sp>
        <p:nvSpPr>
          <p:cNvPr id="738" name="Google Shape;738;p61"/>
          <p:cNvSpPr txBox="1">
            <a:spLocks noGrp="1"/>
          </p:cNvSpPr>
          <p:nvPr>
            <p:ph type="body" idx="1"/>
          </p:nvPr>
        </p:nvSpPr>
        <p:spPr>
          <a:xfrm>
            <a:off x="1115568" y="2153728"/>
            <a:ext cx="10168128" cy="4392987"/>
          </a:xfrm>
          <a:prstGeom prst="rect">
            <a:avLst/>
          </a:prstGeom>
          <a:noFill/>
          <a:ln>
            <a:noFill/>
          </a:ln>
        </p:spPr>
        <p:txBody>
          <a:bodyPr spcFirstLastPara="1" wrap="square" lIns="91425" tIns="45700" rIns="91425" bIns="45700" anchor="t" anchorCtr="0">
            <a:normAutofit fontScale="85000" lnSpcReduction="20000"/>
          </a:bodyPr>
          <a:lstStyle/>
          <a:p>
            <a:pPr marL="228600" lvl="0" indent="-216376" algn="l" rtl="0">
              <a:lnSpc>
                <a:spcPct val="110000"/>
              </a:lnSpc>
              <a:spcBef>
                <a:spcPts val="0"/>
              </a:spcBef>
              <a:spcAft>
                <a:spcPts val="0"/>
              </a:spcAft>
              <a:buClr>
                <a:schemeClr val="dk1"/>
              </a:buClr>
              <a:buSzPct val="100000"/>
              <a:buFont typeface="Noto Sans Symbols"/>
              <a:buChar char="❑"/>
            </a:pPr>
            <a:r>
              <a:rPr lang="el-GR" sz="2100" dirty="0">
                <a:latin typeface="Tahoma" panose="020B0604030504040204" pitchFamily="34" charset="0"/>
                <a:ea typeface="Tahoma" panose="020B0604030504040204" pitchFamily="34" charset="0"/>
                <a:cs typeface="Tahoma" panose="020B0604030504040204" pitchFamily="34" charset="0"/>
                <a:sym typeface="Tahoma"/>
              </a:rPr>
              <a:t>Η παρούσα εργασία ανέδειξε τη δυναμική της γενετικής </a:t>
            </a:r>
            <a:r>
              <a:rPr lang="el-GR" sz="2100" dirty="0" err="1">
                <a:latin typeface="Tahoma" panose="020B0604030504040204" pitchFamily="34" charset="0"/>
                <a:ea typeface="Tahoma" panose="020B0604030504040204" pitchFamily="34" charset="0"/>
                <a:cs typeface="Tahoma" panose="020B0604030504040204" pitchFamily="34" charset="0"/>
                <a:sym typeface="Tahoma"/>
              </a:rPr>
              <a:t>μοντελοποίησης</a:t>
            </a:r>
            <a:r>
              <a:rPr lang="el-GR" sz="2100" dirty="0">
                <a:latin typeface="Tahoma" panose="020B0604030504040204" pitchFamily="34" charset="0"/>
                <a:ea typeface="Tahoma" panose="020B0604030504040204" pitchFamily="34" charset="0"/>
                <a:cs typeface="Tahoma" panose="020B0604030504040204" pitchFamily="34" charset="0"/>
                <a:sym typeface="Tahoma"/>
              </a:rPr>
              <a:t> μέσα από μια συγκριτική ανάλυση των κλασικών GAN, WGAN και WGAN-GP (</a:t>
            </a:r>
            <a:r>
              <a:rPr lang="el-GR" sz="2100" dirty="0" err="1">
                <a:latin typeface="Tahoma" panose="020B0604030504040204" pitchFamily="34" charset="0"/>
                <a:ea typeface="Tahoma" panose="020B0604030504040204" pitchFamily="34" charset="0"/>
                <a:cs typeface="Tahoma" panose="020B0604030504040204" pitchFamily="34" charset="0"/>
                <a:sym typeface="Tahoma"/>
              </a:rPr>
              <a:t>Wasserstein</a:t>
            </a:r>
            <a:r>
              <a:rPr lang="el-GR" sz="2100" dirty="0">
                <a:latin typeface="Tahoma" panose="020B0604030504040204" pitchFamily="34" charset="0"/>
                <a:ea typeface="Tahoma" panose="020B0604030504040204" pitchFamily="34" charset="0"/>
                <a:cs typeface="Tahoma" panose="020B0604030504040204" pitchFamily="34" charset="0"/>
                <a:sym typeface="Tahoma"/>
              </a:rPr>
              <a:t> GAN με </a:t>
            </a:r>
            <a:r>
              <a:rPr lang="el-GR" sz="2100" dirty="0" err="1">
                <a:latin typeface="Tahoma" panose="020B0604030504040204" pitchFamily="34" charset="0"/>
                <a:ea typeface="Tahoma" panose="020B0604030504040204" pitchFamily="34" charset="0"/>
                <a:cs typeface="Tahoma" panose="020B0604030504040204" pitchFamily="34" charset="0"/>
                <a:sym typeface="Tahoma"/>
              </a:rPr>
              <a:t>Gradient</a:t>
            </a:r>
            <a:r>
              <a:rPr lang="el-GR" sz="2100" dirty="0">
                <a:latin typeface="Tahoma" panose="020B0604030504040204" pitchFamily="34" charset="0"/>
                <a:ea typeface="Tahoma" panose="020B0604030504040204" pitchFamily="34" charset="0"/>
                <a:cs typeface="Tahoma" panose="020B0604030504040204" pitchFamily="34" charset="0"/>
                <a:sym typeface="Tahoma"/>
              </a:rPr>
              <a:t> </a:t>
            </a:r>
            <a:r>
              <a:rPr lang="el-GR" sz="2100" dirty="0" err="1">
                <a:latin typeface="Tahoma" panose="020B0604030504040204" pitchFamily="34" charset="0"/>
                <a:ea typeface="Tahoma" panose="020B0604030504040204" pitchFamily="34" charset="0"/>
                <a:cs typeface="Tahoma" panose="020B0604030504040204" pitchFamily="34" charset="0"/>
                <a:sym typeface="Tahoma"/>
              </a:rPr>
              <a:t>Penalty</a:t>
            </a:r>
            <a:r>
              <a:rPr lang="el-GR" sz="2100" dirty="0">
                <a:latin typeface="Tahoma" panose="020B0604030504040204" pitchFamily="34" charset="0"/>
                <a:ea typeface="Tahoma" panose="020B0604030504040204" pitchFamily="34" charset="0"/>
                <a:cs typeface="Tahoma" panose="020B0604030504040204" pitchFamily="34" charset="0"/>
                <a:sym typeface="Tahoma"/>
              </a:rPr>
              <a:t>), εστιάζοντας τόσο στις αρχιτεκτονικές όσο και στις μαθηματικές θεμελιώσεις κάθε μεθόδου. Η σταδιακή μετάβαση από το GAN στο WGAN και στη συνέχεια στο WGAN-GP επέτρεψε την υπέρβαση κρίσιμων προβλημάτων σταθερότητας και mode </a:t>
            </a:r>
            <a:r>
              <a:rPr lang="el-GR" sz="2100" dirty="0" err="1">
                <a:latin typeface="Tahoma" panose="020B0604030504040204" pitchFamily="34" charset="0"/>
                <a:ea typeface="Tahoma" panose="020B0604030504040204" pitchFamily="34" charset="0"/>
                <a:cs typeface="Tahoma" panose="020B0604030504040204" pitchFamily="34" charset="0"/>
                <a:sym typeface="Tahoma"/>
              </a:rPr>
              <a:t>collapse</a:t>
            </a:r>
            <a:r>
              <a:rPr lang="el-GR" sz="2100" dirty="0">
                <a:latin typeface="Tahoma" panose="020B0604030504040204" pitchFamily="34" charset="0"/>
                <a:ea typeface="Tahoma" panose="020B0604030504040204" pitchFamily="34" charset="0"/>
                <a:cs typeface="Tahoma" panose="020B0604030504040204" pitchFamily="34" charset="0"/>
                <a:sym typeface="Tahoma"/>
              </a:rPr>
              <a:t>, εισάγοντας τεχνικές όπως η </a:t>
            </a:r>
            <a:r>
              <a:rPr lang="el-GR" sz="2100" dirty="0" err="1">
                <a:latin typeface="Tahoma" panose="020B0604030504040204" pitchFamily="34" charset="0"/>
                <a:ea typeface="Tahoma" panose="020B0604030504040204" pitchFamily="34" charset="0"/>
                <a:cs typeface="Tahoma" panose="020B0604030504040204" pitchFamily="34" charset="0"/>
                <a:sym typeface="Tahoma"/>
              </a:rPr>
              <a:t>Wasserstein</a:t>
            </a:r>
            <a:r>
              <a:rPr lang="el-GR" sz="2100" dirty="0">
                <a:latin typeface="Tahoma" panose="020B0604030504040204" pitchFamily="34" charset="0"/>
                <a:ea typeface="Tahoma" panose="020B0604030504040204" pitchFamily="34" charset="0"/>
                <a:cs typeface="Tahoma" panose="020B0604030504040204" pitchFamily="34" charset="0"/>
                <a:sym typeface="Tahoma"/>
              </a:rPr>
              <a:t> απόσταση και το </a:t>
            </a:r>
            <a:r>
              <a:rPr lang="el-GR" sz="2100" dirty="0" err="1">
                <a:latin typeface="Tahoma" panose="020B0604030504040204" pitchFamily="34" charset="0"/>
                <a:ea typeface="Tahoma" panose="020B0604030504040204" pitchFamily="34" charset="0"/>
                <a:cs typeface="Tahoma" panose="020B0604030504040204" pitchFamily="34" charset="0"/>
                <a:sym typeface="Tahoma"/>
              </a:rPr>
              <a:t>gradient</a:t>
            </a:r>
            <a:r>
              <a:rPr lang="el-GR" sz="2100" dirty="0">
                <a:latin typeface="Tahoma" panose="020B0604030504040204" pitchFamily="34" charset="0"/>
                <a:ea typeface="Tahoma" panose="020B0604030504040204" pitchFamily="34" charset="0"/>
                <a:cs typeface="Tahoma" panose="020B0604030504040204" pitchFamily="34" charset="0"/>
                <a:sym typeface="Tahoma"/>
              </a:rPr>
              <a:t> </a:t>
            </a:r>
            <a:r>
              <a:rPr lang="el-GR" sz="2100" dirty="0" err="1">
                <a:latin typeface="Tahoma" panose="020B0604030504040204" pitchFamily="34" charset="0"/>
                <a:ea typeface="Tahoma" panose="020B0604030504040204" pitchFamily="34" charset="0"/>
                <a:cs typeface="Tahoma" panose="020B0604030504040204" pitchFamily="34" charset="0"/>
                <a:sym typeface="Tahoma"/>
              </a:rPr>
              <a:t>penalty</a:t>
            </a:r>
            <a:r>
              <a:rPr lang="el-GR" sz="2100" dirty="0">
                <a:latin typeface="Tahoma" panose="020B0604030504040204" pitchFamily="34" charset="0"/>
                <a:ea typeface="Tahoma" panose="020B0604030504040204" pitchFamily="34" charset="0"/>
                <a:cs typeface="Tahoma" panose="020B0604030504040204" pitchFamily="34" charset="0"/>
                <a:sym typeface="Tahoma"/>
              </a:rPr>
              <a:t>. Η προσεκτική επιλογή αρχιτεκτονικής, </a:t>
            </a:r>
            <a:r>
              <a:rPr lang="el-GR" sz="2100" dirty="0" err="1">
                <a:latin typeface="Tahoma" panose="020B0604030504040204" pitchFamily="34" charset="0"/>
                <a:ea typeface="Tahoma" panose="020B0604030504040204" pitchFamily="34" charset="0"/>
                <a:cs typeface="Tahoma" panose="020B0604030504040204" pitchFamily="34" charset="0"/>
                <a:sym typeface="Tahoma"/>
              </a:rPr>
              <a:t>υπερπαραμέτρων</a:t>
            </a:r>
            <a:r>
              <a:rPr lang="el-GR" sz="2100" dirty="0">
                <a:latin typeface="Tahoma" panose="020B0604030504040204" pitchFamily="34" charset="0"/>
                <a:ea typeface="Tahoma" panose="020B0604030504040204" pitchFamily="34" charset="0"/>
                <a:cs typeface="Tahoma" panose="020B0604030504040204" pitchFamily="34" charset="0"/>
                <a:sym typeface="Tahoma"/>
              </a:rPr>
              <a:t> και τεχνικών σταθεροποίησης αποδείχθηκε καθοριστική για τη σταθερότητα της εκπαίδευσης και την επίτευξη υψηλής ποιότητας αποτελεσμάτων. </a:t>
            </a:r>
            <a:endParaRPr lang="en-GB" sz="2100" dirty="0">
              <a:latin typeface="Tahoma" panose="020B0604030504040204" pitchFamily="34" charset="0"/>
              <a:ea typeface="Tahoma" panose="020B0604030504040204" pitchFamily="34" charset="0"/>
              <a:cs typeface="Tahoma" panose="020B0604030504040204" pitchFamily="34" charset="0"/>
              <a:sym typeface="Tahoma"/>
            </a:endParaRPr>
          </a:p>
          <a:p>
            <a:pPr marL="228600" lvl="0" indent="-216376" algn="l" rtl="0">
              <a:lnSpc>
                <a:spcPct val="110000"/>
              </a:lnSpc>
              <a:spcBef>
                <a:spcPts val="0"/>
              </a:spcBef>
              <a:spcAft>
                <a:spcPts val="0"/>
              </a:spcAft>
              <a:buClr>
                <a:schemeClr val="dk1"/>
              </a:buClr>
              <a:buSzPct val="100000"/>
              <a:buFont typeface="Noto Sans Symbols"/>
              <a:buChar char="❑"/>
            </a:pPr>
            <a:endParaRPr lang="en-GB" sz="2100" dirty="0">
              <a:latin typeface="Tahoma" panose="020B0604030504040204" pitchFamily="34" charset="0"/>
              <a:ea typeface="Tahoma" panose="020B0604030504040204" pitchFamily="34" charset="0"/>
              <a:cs typeface="Tahoma" panose="020B0604030504040204" pitchFamily="34" charset="0"/>
              <a:sym typeface="Tahoma"/>
            </a:endParaRPr>
          </a:p>
          <a:p>
            <a:pPr marL="228600" lvl="0" indent="-216376" algn="l" rtl="0">
              <a:lnSpc>
                <a:spcPct val="110000"/>
              </a:lnSpc>
              <a:spcBef>
                <a:spcPts val="0"/>
              </a:spcBef>
              <a:spcAft>
                <a:spcPts val="0"/>
              </a:spcAft>
              <a:buClr>
                <a:schemeClr val="dk1"/>
              </a:buClr>
              <a:buSzPct val="100000"/>
              <a:buFont typeface="Noto Sans Symbols"/>
              <a:buChar char="❑"/>
            </a:pPr>
            <a:r>
              <a:rPr lang="el-GR" sz="2100" dirty="0">
                <a:latin typeface="Tahoma" panose="020B0604030504040204" pitchFamily="34" charset="0"/>
                <a:ea typeface="Tahoma" panose="020B0604030504040204" pitchFamily="34" charset="0"/>
                <a:cs typeface="Tahoma" panose="020B0604030504040204" pitchFamily="34" charset="0"/>
                <a:sym typeface="Tahoma"/>
              </a:rPr>
              <a:t>Το WGAN-GP παρήγαγε συνθετικά δεδομένα που προσεγγίζουν με ακρίβεια τα στατιστικά και δομικά χαρακτηριστικά των πραγματικών, διατηρώντας παράλληλα επαρκή </a:t>
            </a:r>
            <a:r>
              <a:rPr lang="el-GR" sz="2100" dirty="0" err="1">
                <a:latin typeface="Tahoma" panose="020B0604030504040204" pitchFamily="34" charset="0"/>
                <a:ea typeface="Tahoma" panose="020B0604030504040204" pitchFamily="34" charset="0"/>
                <a:cs typeface="Tahoma" panose="020B0604030504040204" pitchFamily="34" charset="0"/>
                <a:sym typeface="Tahoma"/>
              </a:rPr>
              <a:t>ποικιλία.Η</a:t>
            </a:r>
            <a:r>
              <a:rPr lang="el-GR" sz="2100" dirty="0">
                <a:latin typeface="Tahoma" panose="020B0604030504040204" pitchFamily="34" charset="0"/>
                <a:ea typeface="Tahoma" panose="020B0604030504040204" pitchFamily="34" charset="0"/>
                <a:cs typeface="Tahoma" panose="020B0604030504040204" pitchFamily="34" charset="0"/>
                <a:sym typeface="Tahoma"/>
              </a:rPr>
              <a:t> αξιολόγηση με μετρικές </a:t>
            </a:r>
            <a:r>
              <a:rPr lang="el-GR" sz="2100" dirty="0" err="1">
                <a:latin typeface="Tahoma" panose="020B0604030504040204" pitchFamily="34" charset="0"/>
                <a:ea typeface="Tahoma" panose="020B0604030504040204" pitchFamily="34" charset="0"/>
                <a:cs typeface="Tahoma" panose="020B0604030504040204" pitchFamily="34" charset="0"/>
                <a:sym typeface="Tahoma"/>
              </a:rPr>
              <a:t>fidelity</a:t>
            </a:r>
            <a:r>
              <a:rPr lang="el-GR" sz="2100" dirty="0">
                <a:latin typeface="Tahoma" panose="020B0604030504040204" pitchFamily="34" charset="0"/>
                <a:ea typeface="Tahoma" panose="020B0604030504040204" pitchFamily="34" charset="0"/>
                <a:cs typeface="Tahoma" panose="020B0604030504040204" pitchFamily="34" charset="0"/>
                <a:sym typeface="Tahoma"/>
              </a:rPr>
              <a:t> (MSE, </a:t>
            </a:r>
            <a:r>
              <a:rPr lang="el-GR" sz="2100" dirty="0" err="1">
                <a:latin typeface="Tahoma" panose="020B0604030504040204" pitchFamily="34" charset="0"/>
                <a:ea typeface="Tahoma" panose="020B0604030504040204" pitchFamily="34" charset="0"/>
                <a:cs typeface="Tahoma" panose="020B0604030504040204" pitchFamily="34" charset="0"/>
                <a:sym typeface="Tahoma"/>
              </a:rPr>
              <a:t>Cosine</a:t>
            </a:r>
            <a:r>
              <a:rPr lang="el-GR" sz="2100" dirty="0">
                <a:latin typeface="Tahoma" panose="020B0604030504040204" pitchFamily="34" charset="0"/>
                <a:ea typeface="Tahoma" panose="020B0604030504040204" pitchFamily="34" charset="0"/>
                <a:cs typeface="Tahoma" panose="020B0604030504040204" pitchFamily="34" charset="0"/>
                <a:sym typeface="Tahoma"/>
              </a:rPr>
              <a:t> </a:t>
            </a:r>
            <a:r>
              <a:rPr lang="el-GR" sz="2100" dirty="0" err="1">
                <a:latin typeface="Tahoma" panose="020B0604030504040204" pitchFamily="34" charset="0"/>
                <a:ea typeface="Tahoma" panose="020B0604030504040204" pitchFamily="34" charset="0"/>
                <a:cs typeface="Tahoma" panose="020B0604030504040204" pitchFamily="34" charset="0"/>
                <a:sym typeface="Tahoma"/>
              </a:rPr>
              <a:t>Similarity</a:t>
            </a:r>
            <a:r>
              <a:rPr lang="el-GR" sz="2100" dirty="0">
                <a:latin typeface="Tahoma" panose="020B0604030504040204" pitchFamily="34" charset="0"/>
                <a:ea typeface="Tahoma" panose="020B0604030504040204" pitchFamily="34" charset="0"/>
                <a:cs typeface="Tahoma" panose="020B0604030504040204" pitchFamily="34" charset="0"/>
                <a:sym typeface="Tahoma"/>
              </a:rPr>
              <a:t>, KL </a:t>
            </a:r>
            <a:r>
              <a:rPr lang="el-GR" sz="2100" dirty="0" err="1">
                <a:latin typeface="Tahoma" panose="020B0604030504040204" pitchFamily="34" charset="0"/>
                <a:ea typeface="Tahoma" panose="020B0604030504040204" pitchFamily="34" charset="0"/>
                <a:cs typeface="Tahoma" panose="020B0604030504040204" pitchFamily="34" charset="0"/>
                <a:sym typeface="Tahoma"/>
              </a:rPr>
              <a:t>Divergence</a:t>
            </a:r>
            <a:r>
              <a:rPr lang="el-GR" sz="2100" dirty="0">
                <a:latin typeface="Tahoma" panose="020B0604030504040204" pitchFamily="34" charset="0"/>
                <a:ea typeface="Tahoma" panose="020B0604030504040204" pitchFamily="34" charset="0"/>
                <a:cs typeface="Tahoma" panose="020B0604030504040204" pitchFamily="34" charset="0"/>
                <a:sym typeface="Tahoma"/>
              </a:rPr>
              <a:t>) και </a:t>
            </a:r>
            <a:r>
              <a:rPr lang="el-GR" sz="2100" dirty="0" err="1">
                <a:latin typeface="Tahoma" panose="020B0604030504040204" pitchFamily="34" charset="0"/>
                <a:ea typeface="Tahoma" panose="020B0604030504040204" pitchFamily="34" charset="0"/>
                <a:cs typeface="Tahoma" panose="020B0604030504040204" pitchFamily="34" charset="0"/>
                <a:sym typeface="Tahoma"/>
              </a:rPr>
              <a:t>diversity</a:t>
            </a:r>
            <a:r>
              <a:rPr lang="el-GR" sz="2100" dirty="0">
                <a:latin typeface="Tahoma" panose="020B0604030504040204" pitchFamily="34" charset="0"/>
                <a:ea typeface="Tahoma" panose="020B0604030504040204" pitchFamily="34" charset="0"/>
                <a:cs typeface="Tahoma" panose="020B0604030504040204" pitchFamily="34" charset="0"/>
                <a:sym typeface="Tahoma"/>
              </a:rPr>
              <a:t> (</a:t>
            </a:r>
            <a:r>
              <a:rPr lang="el-GR" sz="2100" dirty="0" err="1">
                <a:latin typeface="Tahoma" panose="020B0604030504040204" pitchFamily="34" charset="0"/>
                <a:ea typeface="Tahoma" panose="020B0604030504040204" pitchFamily="34" charset="0"/>
                <a:cs typeface="Tahoma" panose="020B0604030504040204" pitchFamily="34" charset="0"/>
                <a:sym typeface="Tahoma"/>
              </a:rPr>
              <a:t>Variance</a:t>
            </a:r>
            <a:r>
              <a:rPr lang="el-GR" sz="2100" dirty="0">
                <a:latin typeface="Tahoma" panose="020B0604030504040204" pitchFamily="34" charset="0"/>
                <a:ea typeface="Tahoma" panose="020B0604030504040204" pitchFamily="34" charset="0"/>
                <a:cs typeface="Tahoma" panose="020B0604030504040204" pitchFamily="34" charset="0"/>
                <a:sym typeface="Tahoma"/>
              </a:rPr>
              <a:t>, </a:t>
            </a:r>
            <a:r>
              <a:rPr lang="el-GR" sz="2100" dirty="0" err="1">
                <a:latin typeface="Tahoma" panose="020B0604030504040204" pitchFamily="34" charset="0"/>
                <a:ea typeface="Tahoma" panose="020B0604030504040204" pitchFamily="34" charset="0"/>
                <a:cs typeface="Tahoma" panose="020B0604030504040204" pitchFamily="34" charset="0"/>
                <a:sym typeface="Tahoma"/>
              </a:rPr>
              <a:t>Coverage</a:t>
            </a:r>
            <a:r>
              <a:rPr lang="el-GR" sz="2100" dirty="0">
                <a:latin typeface="Tahoma" panose="020B0604030504040204" pitchFamily="34" charset="0"/>
                <a:ea typeface="Tahoma" panose="020B0604030504040204" pitchFamily="34" charset="0"/>
                <a:cs typeface="Tahoma" panose="020B0604030504040204" pitchFamily="34" charset="0"/>
                <a:sym typeface="Tahoma"/>
              </a:rPr>
              <a:t>) έδειξε υψηλή συμφωνία μεταξύ συνθετικών και πραγματικών δειγμάτων, με ικανοποιητικό εύρος τιμών. Ιδιαίτερα στα 150 </a:t>
            </a:r>
            <a:r>
              <a:rPr lang="el-GR" sz="2100" dirty="0" err="1">
                <a:latin typeface="Tahoma" panose="020B0604030504040204" pitchFamily="34" charset="0"/>
                <a:ea typeface="Tahoma" panose="020B0604030504040204" pitchFamily="34" charset="0"/>
                <a:cs typeface="Tahoma" panose="020B0604030504040204" pitchFamily="34" charset="0"/>
                <a:sym typeface="Tahoma"/>
              </a:rPr>
              <a:t>epochs</a:t>
            </a:r>
            <a:r>
              <a:rPr lang="el-GR" sz="2100" dirty="0">
                <a:latin typeface="Tahoma" panose="020B0604030504040204" pitchFamily="34" charset="0"/>
                <a:ea typeface="Tahoma" panose="020B0604030504040204" pitchFamily="34" charset="0"/>
                <a:cs typeface="Tahoma" panose="020B0604030504040204" pitchFamily="34" charset="0"/>
                <a:sym typeface="Tahoma"/>
              </a:rPr>
              <a:t>, το μοντέλο πέτυχε τη βέλτιστη ισορροπία πιστότητας και ποικιλίας. Η σωστή ρύθμιση παραμέτρων, όπως </a:t>
            </a:r>
            <a:r>
              <a:rPr lang="el-GR" sz="2100" dirty="0" err="1">
                <a:latin typeface="Tahoma" panose="020B0604030504040204" pitchFamily="34" charset="0"/>
                <a:ea typeface="Tahoma" panose="020B0604030504040204" pitchFamily="34" charset="0"/>
                <a:cs typeface="Tahoma" panose="020B0604030504040204" pitchFamily="34" charset="0"/>
                <a:sym typeface="Tahoma"/>
              </a:rPr>
              <a:t>batch</a:t>
            </a:r>
            <a:r>
              <a:rPr lang="el-GR" sz="2100" dirty="0">
                <a:latin typeface="Tahoma" panose="020B0604030504040204" pitchFamily="34" charset="0"/>
                <a:ea typeface="Tahoma" panose="020B0604030504040204" pitchFamily="34" charset="0"/>
                <a:cs typeface="Tahoma" panose="020B0604030504040204" pitchFamily="34" charset="0"/>
                <a:sym typeface="Tahoma"/>
              </a:rPr>
              <a:t> </a:t>
            </a:r>
            <a:r>
              <a:rPr lang="el-GR" sz="2100" dirty="0" err="1">
                <a:latin typeface="Tahoma" panose="020B0604030504040204" pitchFamily="34" charset="0"/>
                <a:ea typeface="Tahoma" panose="020B0604030504040204" pitchFamily="34" charset="0"/>
                <a:cs typeface="Tahoma" panose="020B0604030504040204" pitchFamily="34" charset="0"/>
                <a:sym typeface="Tahoma"/>
              </a:rPr>
              <a:t>size</a:t>
            </a:r>
            <a:r>
              <a:rPr lang="el-GR" sz="2100" dirty="0">
                <a:latin typeface="Tahoma" panose="020B0604030504040204" pitchFamily="34" charset="0"/>
                <a:ea typeface="Tahoma" panose="020B0604030504040204" pitchFamily="34" charset="0"/>
                <a:cs typeface="Tahoma" panose="020B0604030504040204" pitchFamily="34" charset="0"/>
                <a:sym typeface="Tahoma"/>
              </a:rPr>
              <a:t>, </a:t>
            </a:r>
            <a:r>
              <a:rPr lang="el-GR" sz="2100" dirty="0" err="1">
                <a:latin typeface="Tahoma" panose="020B0604030504040204" pitchFamily="34" charset="0"/>
                <a:ea typeface="Tahoma" panose="020B0604030504040204" pitchFamily="34" charset="0"/>
                <a:cs typeface="Tahoma" panose="020B0604030504040204" pitchFamily="34" charset="0"/>
                <a:sym typeface="Tahoma"/>
              </a:rPr>
              <a:t>latent</a:t>
            </a:r>
            <a:r>
              <a:rPr lang="el-GR" sz="2100" dirty="0">
                <a:latin typeface="Tahoma" panose="020B0604030504040204" pitchFamily="34" charset="0"/>
                <a:ea typeface="Tahoma" panose="020B0604030504040204" pitchFamily="34" charset="0"/>
                <a:cs typeface="Tahoma" panose="020B0604030504040204" pitchFamily="34" charset="0"/>
                <a:sym typeface="Tahoma"/>
              </a:rPr>
              <a:t> </a:t>
            </a:r>
            <a:r>
              <a:rPr lang="el-GR" sz="2100" dirty="0" err="1">
                <a:latin typeface="Tahoma" panose="020B0604030504040204" pitchFamily="34" charset="0"/>
                <a:ea typeface="Tahoma" panose="020B0604030504040204" pitchFamily="34" charset="0"/>
                <a:cs typeface="Tahoma" panose="020B0604030504040204" pitchFamily="34" charset="0"/>
                <a:sym typeface="Tahoma"/>
              </a:rPr>
              <a:t>dimension</a:t>
            </a:r>
            <a:r>
              <a:rPr lang="el-GR" sz="2100" dirty="0">
                <a:latin typeface="Tahoma" panose="020B0604030504040204" pitchFamily="34" charset="0"/>
                <a:ea typeface="Tahoma" panose="020B0604030504040204" pitchFamily="34" charset="0"/>
                <a:cs typeface="Tahoma" panose="020B0604030504040204" pitchFamily="34" charset="0"/>
                <a:sym typeface="Tahoma"/>
              </a:rPr>
              <a:t> και </a:t>
            </a:r>
            <a:r>
              <a:rPr lang="el-GR" sz="2100" dirty="0" err="1">
                <a:latin typeface="Tahoma" panose="020B0604030504040204" pitchFamily="34" charset="0"/>
                <a:ea typeface="Tahoma" panose="020B0604030504040204" pitchFamily="34" charset="0"/>
                <a:cs typeface="Tahoma" panose="020B0604030504040204" pitchFamily="34" charset="0"/>
                <a:sym typeface="Tahoma"/>
              </a:rPr>
              <a:t>learning</a:t>
            </a:r>
            <a:r>
              <a:rPr lang="el-GR" sz="2100" dirty="0">
                <a:latin typeface="Tahoma" panose="020B0604030504040204" pitchFamily="34" charset="0"/>
                <a:ea typeface="Tahoma" panose="020B0604030504040204" pitchFamily="34" charset="0"/>
                <a:cs typeface="Tahoma" panose="020B0604030504040204" pitchFamily="34" charset="0"/>
                <a:sym typeface="Tahoma"/>
              </a:rPr>
              <a:t> </a:t>
            </a:r>
            <a:r>
              <a:rPr lang="el-GR" sz="2100" dirty="0" err="1">
                <a:latin typeface="Tahoma" panose="020B0604030504040204" pitchFamily="34" charset="0"/>
                <a:ea typeface="Tahoma" panose="020B0604030504040204" pitchFamily="34" charset="0"/>
                <a:cs typeface="Tahoma" panose="020B0604030504040204" pitchFamily="34" charset="0"/>
                <a:sym typeface="Tahoma"/>
              </a:rPr>
              <a:t>rate</a:t>
            </a:r>
            <a:r>
              <a:rPr lang="el-GR" sz="2100" dirty="0">
                <a:latin typeface="Tahoma" panose="020B0604030504040204" pitchFamily="34" charset="0"/>
                <a:ea typeface="Tahoma" panose="020B0604030504040204" pitchFamily="34" charset="0"/>
                <a:cs typeface="Tahoma" panose="020B0604030504040204" pitchFamily="34" charset="0"/>
                <a:sym typeface="Tahoma"/>
              </a:rPr>
              <a:t>, αποδείχθηκε καθοριστική για την επιτυχία.</a:t>
            </a:r>
            <a:endParaRPr sz="3300" dirty="0"/>
          </a:p>
          <a:p>
            <a:pPr marL="228600" lvl="0" indent="-64135" algn="l" rtl="0">
              <a:lnSpc>
                <a:spcPct val="110000"/>
              </a:lnSpc>
              <a:spcBef>
                <a:spcPts val="1000"/>
              </a:spcBef>
              <a:spcAft>
                <a:spcPts val="0"/>
              </a:spcAft>
              <a:buClr>
                <a:schemeClr val="dk1"/>
              </a:buClr>
              <a:buSzPct val="100000"/>
              <a:buNone/>
            </a:pPr>
            <a:endParaRPr dirty="0"/>
          </a:p>
          <a:p>
            <a:pPr marL="228600" lvl="0" indent="-64135" algn="l" rtl="0">
              <a:lnSpc>
                <a:spcPct val="110000"/>
              </a:lnSpc>
              <a:spcBef>
                <a:spcPts val="1000"/>
              </a:spcBef>
              <a:spcAft>
                <a:spcPts val="0"/>
              </a:spcAft>
              <a:buClr>
                <a:schemeClr val="dk1"/>
              </a:buClr>
              <a:buSzPct val="100000"/>
              <a:buNone/>
            </a:pPr>
            <a:endParaRPr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736">
          <a:extLst>
            <a:ext uri="{FF2B5EF4-FFF2-40B4-BE49-F238E27FC236}">
              <a16:creationId xmlns:a16="http://schemas.microsoft.com/office/drawing/2014/main" id="{F6BAB22B-8907-4D53-D238-991E685B922A}"/>
            </a:ext>
          </a:extLst>
        </p:cNvPr>
        <p:cNvGrpSpPr/>
        <p:nvPr/>
      </p:nvGrpSpPr>
      <p:grpSpPr>
        <a:xfrm>
          <a:off x="0" y="0"/>
          <a:ext cx="0" cy="0"/>
          <a:chOff x="0" y="0"/>
          <a:chExt cx="0" cy="0"/>
        </a:xfrm>
      </p:grpSpPr>
      <p:sp>
        <p:nvSpPr>
          <p:cNvPr id="737" name="Google Shape;737;p61">
            <a:extLst>
              <a:ext uri="{FF2B5EF4-FFF2-40B4-BE49-F238E27FC236}">
                <a16:creationId xmlns:a16="http://schemas.microsoft.com/office/drawing/2014/main" id="{FE1965E6-6505-DFBF-C9C2-6FA5E8EE59AF}"/>
              </a:ext>
            </a:extLst>
          </p:cNvPr>
          <p:cNvSpPr txBox="1">
            <a:spLocks noGrp="1"/>
          </p:cNvSpPr>
          <p:nvPr>
            <p:ph type="title"/>
          </p:nvPr>
        </p:nvSpPr>
        <p:spPr>
          <a:xfrm>
            <a:off x="1115568" y="548640"/>
            <a:ext cx="10168128" cy="1179576"/>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000"/>
              <a:buFont typeface="Avenir"/>
              <a:buNone/>
            </a:pPr>
            <a:r>
              <a:rPr lang="el-GR" dirty="0">
                <a:latin typeface="Tahoma" panose="020B0604030504040204" pitchFamily="34" charset="0"/>
                <a:ea typeface="Tahoma" panose="020B0604030504040204" pitchFamily="34" charset="0"/>
                <a:cs typeface="Tahoma" panose="020B0604030504040204" pitchFamily="34" charset="0"/>
              </a:rPr>
              <a:t>Προτάσεις για Περαιτέρω Έρευνα </a:t>
            </a:r>
            <a:endParaRPr dirty="0">
              <a:latin typeface="Tahoma" panose="020B0604030504040204" pitchFamily="34" charset="0"/>
              <a:ea typeface="Tahoma" panose="020B0604030504040204" pitchFamily="34" charset="0"/>
              <a:cs typeface="Tahoma" panose="020B0604030504040204" pitchFamily="34" charset="0"/>
            </a:endParaRPr>
          </a:p>
        </p:txBody>
      </p:sp>
      <p:sp>
        <p:nvSpPr>
          <p:cNvPr id="738" name="Google Shape;738;p61">
            <a:extLst>
              <a:ext uri="{FF2B5EF4-FFF2-40B4-BE49-F238E27FC236}">
                <a16:creationId xmlns:a16="http://schemas.microsoft.com/office/drawing/2014/main" id="{591AA2C2-C0A9-DED7-B6F4-EFA20327FE7D}"/>
              </a:ext>
            </a:extLst>
          </p:cNvPr>
          <p:cNvSpPr txBox="1">
            <a:spLocks noGrp="1"/>
          </p:cNvSpPr>
          <p:nvPr>
            <p:ph type="body" idx="1"/>
          </p:nvPr>
        </p:nvSpPr>
        <p:spPr>
          <a:xfrm>
            <a:off x="1115568" y="2358009"/>
            <a:ext cx="10168128" cy="4412442"/>
          </a:xfrm>
          <a:prstGeom prst="rect">
            <a:avLst/>
          </a:prstGeom>
          <a:noFill/>
          <a:ln>
            <a:noFill/>
          </a:ln>
        </p:spPr>
        <p:txBody>
          <a:bodyPr spcFirstLastPara="1" wrap="square" lIns="91425" tIns="45700" rIns="91425" bIns="45700" anchor="t" anchorCtr="0">
            <a:normAutofit fontScale="62500" lnSpcReduction="20000"/>
          </a:bodyPr>
          <a:lstStyle/>
          <a:p>
            <a:pPr marL="228600" lvl="0" indent="-216376" algn="l" rtl="0">
              <a:lnSpc>
                <a:spcPct val="110000"/>
              </a:lnSpc>
              <a:spcBef>
                <a:spcPts val="0"/>
              </a:spcBef>
              <a:spcAft>
                <a:spcPts val="0"/>
              </a:spcAft>
              <a:buClr>
                <a:schemeClr val="dk1"/>
              </a:buClr>
              <a:buSzPct val="100000"/>
              <a:buFont typeface="Noto Sans Symbols"/>
              <a:buChar char="❑"/>
            </a:pPr>
            <a:r>
              <a:rPr lang="el-GR" dirty="0">
                <a:latin typeface="Tahoma" panose="020B0604030504040204" pitchFamily="34" charset="0"/>
                <a:ea typeface="Tahoma" panose="020B0604030504040204" pitchFamily="34" charset="0"/>
                <a:cs typeface="Tahoma" panose="020B0604030504040204" pitchFamily="34" charset="0"/>
              </a:rPr>
              <a:t>Η αξιοποίηση του WGAN-GP για τη δημιουργία συνθετικών δεδομένων ανοίγει νέους ορίζοντες σε έρευνα και βιομηχανία, ειδικά σε τομείς όπως τα δίκτυα 5G, όπου τα δεδομένα είναι σπάνια ή αυστηρά προστατευμένα. Κεντρική πρόταση αποτελεί η ενσωμάτωση μηχανισμών διαφορικής </a:t>
            </a:r>
            <a:r>
              <a:rPr lang="el-GR" dirty="0" err="1">
                <a:latin typeface="Tahoma" panose="020B0604030504040204" pitchFamily="34" charset="0"/>
                <a:ea typeface="Tahoma" panose="020B0604030504040204" pitchFamily="34" charset="0"/>
                <a:cs typeface="Tahoma" panose="020B0604030504040204" pitchFamily="34" charset="0"/>
              </a:rPr>
              <a:t>ιδιωτικότητας</a:t>
            </a:r>
            <a:r>
              <a:rPr lang="el-GR" dirty="0">
                <a:latin typeface="Tahoma" panose="020B0604030504040204" pitchFamily="34" charset="0"/>
                <a:ea typeface="Tahoma" panose="020B0604030504040204" pitchFamily="34" charset="0"/>
                <a:cs typeface="Tahoma" panose="020B0604030504040204" pitchFamily="34" charset="0"/>
              </a:rPr>
              <a:t> (</a:t>
            </a:r>
            <a:r>
              <a:rPr lang="el-GR" dirty="0" err="1">
                <a:latin typeface="Tahoma" panose="020B0604030504040204" pitchFamily="34" charset="0"/>
                <a:ea typeface="Tahoma" panose="020B0604030504040204" pitchFamily="34" charset="0"/>
                <a:cs typeface="Tahoma" panose="020B0604030504040204" pitchFamily="34" charset="0"/>
              </a:rPr>
              <a:t>Differential</a:t>
            </a:r>
            <a:r>
              <a:rPr lang="el-GR" dirty="0">
                <a:latin typeface="Tahoma" panose="020B0604030504040204" pitchFamily="34" charset="0"/>
                <a:ea typeface="Tahoma" panose="020B0604030504040204" pitchFamily="34" charset="0"/>
                <a:cs typeface="Tahoma" panose="020B0604030504040204" pitchFamily="34" charset="0"/>
              </a:rPr>
              <a:t> </a:t>
            </a:r>
            <a:r>
              <a:rPr lang="el-GR" dirty="0" err="1">
                <a:latin typeface="Tahoma" panose="020B0604030504040204" pitchFamily="34" charset="0"/>
                <a:ea typeface="Tahoma" panose="020B0604030504040204" pitchFamily="34" charset="0"/>
                <a:cs typeface="Tahoma" panose="020B0604030504040204" pitchFamily="34" charset="0"/>
              </a:rPr>
              <a:t>Privacy</a:t>
            </a:r>
            <a:r>
              <a:rPr lang="el-GR" dirty="0">
                <a:latin typeface="Tahoma" panose="020B0604030504040204" pitchFamily="34" charset="0"/>
                <a:ea typeface="Tahoma" panose="020B0604030504040204" pitchFamily="34" charset="0"/>
                <a:cs typeface="Tahoma" panose="020B0604030504040204" pitchFamily="34" charset="0"/>
              </a:rPr>
              <a:t> </a:t>
            </a:r>
            <a:r>
              <a:rPr lang="el-GR" dirty="0" err="1">
                <a:latin typeface="Tahoma" panose="020B0604030504040204" pitchFamily="34" charset="0"/>
                <a:ea typeface="Tahoma" panose="020B0604030504040204" pitchFamily="34" charset="0"/>
                <a:cs typeface="Tahoma" panose="020B0604030504040204" pitchFamily="34" charset="0"/>
              </a:rPr>
              <a:t>GANs</a:t>
            </a:r>
            <a:r>
              <a:rPr lang="el-GR" dirty="0">
                <a:latin typeface="Tahoma" panose="020B0604030504040204" pitchFamily="34" charset="0"/>
                <a:ea typeface="Tahoma" panose="020B0604030504040204" pitchFamily="34" charset="0"/>
                <a:cs typeface="Tahoma" panose="020B0604030504040204" pitchFamily="34" charset="0"/>
              </a:rPr>
              <a:t>) στη διαδικασία εκπαίδευσης, ώστε να εισάγεται ελεγχόμενος θόρυβος και να περιορίζονται οι κίνδυνοι </a:t>
            </a:r>
            <a:r>
              <a:rPr lang="el-GR" dirty="0" err="1">
                <a:latin typeface="Tahoma" panose="020B0604030504040204" pitchFamily="34" charset="0"/>
                <a:ea typeface="Tahoma" panose="020B0604030504040204" pitchFamily="34" charset="0"/>
                <a:cs typeface="Tahoma" panose="020B0604030504040204" pitchFamily="34" charset="0"/>
              </a:rPr>
              <a:t>επαναταυτοποίησης</a:t>
            </a:r>
            <a:r>
              <a:rPr lang="el-GR" dirty="0">
                <a:latin typeface="Tahoma" panose="020B0604030504040204" pitchFamily="34" charset="0"/>
                <a:ea typeface="Tahoma" panose="020B0604030504040204" pitchFamily="34" charset="0"/>
                <a:cs typeface="Tahoma" panose="020B0604030504040204" pitchFamily="34" charset="0"/>
              </a:rPr>
              <a:t> των χρηστών, διασφαλίζοντας ταυτόχρονα υψηλή ακρίβεια και απόρρητο.</a:t>
            </a:r>
            <a:endParaRPr lang="en-GB" dirty="0">
              <a:latin typeface="Tahoma" panose="020B0604030504040204" pitchFamily="34" charset="0"/>
              <a:ea typeface="Tahoma" panose="020B0604030504040204" pitchFamily="34" charset="0"/>
              <a:cs typeface="Tahoma" panose="020B0604030504040204" pitchFamily="34" charset="0"/>
            </a:endParaRPr>
          </a:p>
          <a:p>
            <a:pPr marL="228600" lvl="0" indent="-216376" algn="l" rtl="0">
              <a:lnSpc>
                <a:spcPct val="110000"/>
              </a:lnSpc>
              <a:spcBef>
                <a:spcPts val="0"/>
              </a:spcBef>
              <a:spcAft>
                <a:spcPts val="0"/>
              </a:spcAft>
              <a:buClr>
                <a:schemeClr val="dk1"/>
              </a:buClr>
              <a:buSzPct val="100000"/>
              <a:buFont typeface="Noto Sans Symbols"/>
              <a:buChar char="❑"/>
            </a:pPr>
            <a:endParaRPr lang="en-GB" dirty="0">
              <a:latin typeface="Tahoma" panose="020B0604030504040204" pitchFamily="34" charset="0"/>
              <a:ea typeface="Tahoma" panose="020B0604030504040204" pitchFamily="34" charset="0"/>
              <a:cs typeface="Tahoma" panose="020B0604030504040204" pitchFamily="34" charset="0"/>
            </a:endParaRPr>
          </a:p>
          <a:p>
            <a:pPr marL="228600" lvl="0" indent="-216376" algn="l" rtl="0">
              <a:lnSpc>
                <a:spcPct val="110000"/>
              </a:lnSpc>
              <a:spcBef>
                <a:spcPts val="0"/>
              </a:spcBef>
              <a:spcAft>
                <a:spcPts val="0"/>
              </a:spcAft>
              <a:buClr>
                <a:schemeClr val="dk1"/>
              </a:buClr>
              <a:buSzPct val="100000"/>
              <a:buFont typeface="Noto Sans Symbols"/>
              <a:buChar char="❑"/>
            </a:pPr>
            <a:r>
              <a:rPr lang="el-GR" dirty="0">
                <a:latin typeface="Tahoma" panose="020B0604030504040204" pitchFamily="34" charset="0"/>
                <a:ea typeface="Tahoma" panose="020B0604030504040204" pitchFamily="34" charset="0"/>
                <a:cs typeface="Tahoma" panose="020B0604030504040204" pitchFamily="34" charset="0"/>
              </a:rPr>
              <a:t>Ειδικά στα 5G δίκτυα, όπου τα δεδομένα τοποθεσίας, χρήσης εφαρμογών και μοτίβα επικοινωνίας είναι ιδιαίτερα ευαίσθητα, το WGAN-GP επιτρέπει την παραγωγή </a:t>
            </a:r>
            <a:r>
              <a:rPr lang="el-GR" dirty="0" err="1">
                <a:latin typeface="Tahoma" panose="020B0604030504040204" pitchFamily="34" charset="0"/>
                <a:ea typeface="Tahoma" panose="020B0604030504040204" pitchFamily="34" charset="0"/>
                <a:cs typeface="Tahoma" panose="020B0604030504040204" pitchFamily="34" charset="0"/>
              </a:rPr>
              <a:t>δείγματων</a:t>
            </a:r>
            <a:r>
              <a:rPr lang="el-GR" dirty="0">
                <a:latin typeface="Tahoma" panose="020B0604030504040204" pitchFamily="34" charset="0"/>
                <a:ea typeface="Tahoma" panose="020B0604030504040204" pitchFamily="34" charset="0"/>
                <a:cs typeface="Tahoma" panose="020B0604030504040204" pitchFamily="34" charset="0"/>
              </a:rPr>
              <a:t> που μιμούνται τα στατιστικά και χρονικά χαρακτηριστικά των πραγματικών δεδομένων, χωρίς να συνδέονται με συγκεκριμένους χρήστες ή συσκευές. Αυτό καθιστά εφικτή την ασφαλή διαμοίραση δεδομένων για ανάλυση, ανάπτυξη και </a:t>
            </a:r>
            <a:r>
              <a:rPr lang="el-GR" dirty="0" err="1">
                <a:latin typeface="Tahoma" panose="020B0604030504040204" pitchFamily="34" charset="0"/>
                <a:ea typeface="Tahoma" panose="020B0604030504040204" pitchFamily="34" charset="0"/>
                <a:cs typeface="Tahoma" panose="020B0604030504040204" pitchFamily="34" charset="0"/>
              </a:rPr>
              <a:t>benchmarking</a:t>
            </a:r>
            <a:r>
              <a:rPr lang="el-GR" dirty="0">
                <a:latin typeface="Tahoma" panose="020B0604030504040204" pitchFamily="34" charset="0"/>
                <a:ea typeface="Tahoma" panose="020B0604030504040204" pitchFamily="34" charset="0"/>
                <a:cs typeface="Tahoma" panose="020B0604030504040204" pitchFamily="34" charset="0"/>
              </a:rPr>
              <a:t>. Παράλληλα, η παραγωγή συνθετικών δεδομένων (</a:t>
            </a:r>
            <a:r>
              <a:rPr lang="el-GR" dirty="0" err="1">
                <a:latin typeface="Tahoma" panose="020B0604030504040204" pitchFamily="34" charset="0"/>
                <a:ea typeface="Tahoma" panose="020B0604030504040204" pitchFamily="34" charset="0"/>
                <a:cs typeface="Tahoma" panose="020B0604030504040204" pitchFamily="34" charset="0"/>
              </a:rPr>
              <a:t>data</a:t>
            </a:r>
            <a:r>
              <a:rPr lang="el-GR" dirty="0">
                <a:latin typeface="Tahoma" panose="020B0604030504040204" pitchFamily="34" charset="0"/>
                <a:ea typeface="Tahoma" panose="020B0604030504040204" pitchFamily="34" charset="0"/>
                <a:cs typeface="Tahoma" panose="020B0604030504040204" pitchFamily="34" charset="0"/>
              </a:rPr>
              <a:t> </a:t>
            </a:r>
            <a:r>
              <a:rPr lang="el-GR" dirty="0" err="1">
                <a:latin typeface="Tahoma" panose="020B0604030504040204" pitchFamily="34" charset="0"/>
                <a:ea typeface="Tahoma" panose="020B0604030504040204" pitchFamily="34" charset="0"/>
                <a:cs typeface="Tahoma" panose="020B0604030504040204" pitchFamily="34" charset="0"/>
              </a:rPr>
              <a:t>augmentation</a:t>
            </a:r>
            <a:r>
              <a:rPr lang="el-GR" dirty="0">
                <a:latin typeface="Tahoma" panose="020B0604030504040204" pitchFamily="34" charset="0"/>
                <a:ea typeface="Tahoma" panose="020B0604030504040204" pitchFamily="34" charset="0"/>
                <a:cs typeface="Tahoma" panose="020B0604030504040204" pitchFamily="34" charset="0"/>
              </a:rPr>
              <a:t>) μπορεί να ενισχύσει την εκπαίδευση συστημάτων μηχανικής μάθησης, να βελτιώσει την ανίχνευση επιθέσεων και να αυξήσει τη γενίκευση των μοντέλων. Συνολικά, η έρευνα και η εφαρμογή των WGAN-GP σε αυτό το πεδίο υπόσχεται καινοτόμες λύσεις για ασφαλή, ιδιωτικά και αποδοτικά δίκτυα επόμενης γενιάς.</a:t>
            </a:r>
            <a:endParaRPr dirty="0">
              <a:latin typeface="Tahoma" panose="020B0604030504040204" pitchFamily="34" charset="0"/>
              <a:ea typeface="Tahoma" panose="020B0604030504040204" pitchFamily="34" charset="0"/>
              <a:cs typeface="Tahoma" panose="020B0604030504040204" pitchFamily="34" charset="0"/>
            </a:endParaRPr>
          </a:p>
          <a:p>
            <a:pPr marL="228600" lvl="0" indent="-64135" algn="l" rtl="0">
              <a:lnSpc>
                <a:spcPct val="110000"/>
              </a:lnSpc>
              <a:spcBef>
                <a:spcPts val="1000"/>
              </a:spcBef>
              <a:spcAft>
                <a:spcPts val="0"/>
              </a:spcAft>
              <a:buClr>
                <a:schemeClr val="dk1"/>
              </a:buClr>
              <a:buSzPct val="100000"/>
              <a:buNone/>
            </a:pPr>
            <a:endParaRPr dirty="0"/>
          </a:p>
          <a:p>
            <a:pPr marL="228600" lvl="0" indent="-64135" algn="l" rtl="0">
              <a:lnSpc>
                <a:spcPct val="110000"/>
              </a:lnSpc>
              <a:spcBef>
                <a:spcPts val="1000"/>
              </a:spcBef>
              <a:spcAft>
                <a:spcPts val="0"/>
              </a:spcAft>
              <a:buClr>
                <a:schemeClr val="dk1"/>
              </a:buClr>
              <a:buSzPct val="100000"/>
              <a:buNone/>
            </a:pPr>
            <a:endParaRPr dirty="0"/>
          </a:p>
        </p:txBody>
      </p:sp>
    </p:spTree>
    <p:extLst>
      <p:ext uri="{BB962C8B-B14F-4D97-AF65-F5344CB8AC3E}">
        <p14:creationId xmlns:p14="http://schemas.microsoft.com/office/powerpoint/2010/main" val="427750422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42"/>
        <p:cNvGrpSpPr/>
        <p:nvPr/>
      </p:nvGrpSpPr>
      <p:grpSpPr>
        <a:xfrm>
          <a:off x="0" y="0"/>
          <a:ext cx="0" cy="0"/>
          <a:chOff x="0" y="0"/>
          <a:chExt cx="0" cy="0"/>
        </a:xfrm>
      </p:grpSpPr>
      <p:sp>
        <p:nvSpPr>
          <p:cNvPr id="743" name="Google Shape;743;p62"/>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venir"/>
              <a:ea typeface="Avenir"/>
              <a:cs typeface="Avenir"/>
              <a:sym typeface="Avenir"/>
            </a:endParaRPr>
          </a:p>
        </p:txBody>
      </p:sp>
      <p:sp>
        <p:nvSpPr>
          <p:cNvPr id="744" name="Google Shape;744;p62"/>
          <p:cNvSpPr/>
          <p:nvPr/>
        </p:nvSpPr>
        <p:spPr>
          <a:xfrm>
            <a:off x="-1" y="0"/>
            <a:ext cx="6096002" cy="6858000"/>
          </a:xfrm>
          <a:custGeom>
            <a:avLst/>
            <a:gdLst/>
            <a:ahLst/>
            <a:cxnLst/>
            <a:rect l="l" t="t" r="r" b="b"/>
            <a:pathLst>
              <a:path w="6096002" h="6858000" extrusionOk="0">
                <a:moveTo>
                  <a:pt x="0" y="0"/>
                </a:moveTo>
                <a:lnTo>
                  <a:pt x="4885967" y="0"/>
                </a:lnTo>
                <a:lnTo>
                  <a:pt x="4946007" y="69271"/>
                </a:lnTo>
                <a:cubicBezTo>
                  <a:pt x="5656533" y="929100"/>
                  <a:pt x="6096002" y="2116944"/>
                  <a:pt x="6096002" y="3429000"/>
                </a:cubicBezTo>
                <a:cubicBezTo>
                  <a:pt x="6096002" y="4741056"/>
                  <a:pt x="5656533" y="5928900"/>
                  <a:pt x="4946007" y="6788730"/>
                </a:cubicBezTo>
                <a:lnTo>
                  <a:pt x="4885967" y="6858000"/>
                </a:lnTo>
                <a:lnTo>
                  <a:pt x="0" y="6858000"/>
                </a:lnTo>
                <a:close/>
              </a:path>
            </a:pathLst>
          </a:custGeom>
          <a:solidFill>
            <a:schemeClr val="lt1"/>
          </a:solidFill>
          <a:ln w="9525" cap="flat" cmpd="sng">
            <a:solidFill>
              <a:srgbClr val="F1E3F1"/>
            </a:solidFill>
            <a:prstDash val="solid"/>
            <a:miter lim="800000"/>
            <a:headEnd type="none" w="sm" len="sm"/>
            <a:tailEnd type="none" w="sm" len="sm"/>
          </a:ln>
          <a:effectLst>
            <a:outerShdw blurRad="50800" dist="38100" algn="l" rotWithShape="0">
              <a:srgbClr val="D8D8D8">
                <a:alpha val="29803"/>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FFFFFF"/>
              </a:solidFill>
              <a:latin typeface="Calibri"/>
              <a:ea typeface="Calibri"/>
              <a:cs typeface="Calibri"/>
              <a:sym typeface="Calibri"/>
            </a:endParaRPr>
          </a:p>
        </p:txBody>
      </p:sp>
      <p:sp>
        <p:nvSpPr>
          <p:cNvPr id="745" name="Google Shape;745;p62"/>
          <p:cNvSpPr/>
          <p:nvPr/>
        </p:nvSpPr>
        <p:spPr>
          <a:xfrm>
            <a:off x="0" y="0"/>
            <a:ext cx="6085370" cy="6858000"/>
          </a:xfrm>
          <a:custGeom>
            <a:avLst/>
            <a:gdLst/>
            <a:ahLst/>
            <a:cxnLst/>
            <a:rect l="l" t="t" r="r" b="b"/>
            <a:pathLst>
              <a:path w="6085370" h="6858000" extrusionOk="0">
                <a:moveTo>
                  <a:pt x="0" y="0"/>
                </a:moveTo>
                <a:lnTo>
                  <a:pt x="4875335" y="0"/>
                </a:lnTo>
                <a:lnTo>
                  <a:pt x="4935375" y="69271"/>
                </a:lnTo>
                <a:cubicBezTo>
                  <a:pt x="5645901" y="929100"/>
                  <a:pt x="6085370" y="2116944"/>
                  <a:pt x="6085370" y="3429000"/>
                </a:cubicBezTo>
                <a:cubicBezTo>
                  <a:pt x="6085370" y="4741056"/>
                  <a:pt x="5645901" y="5928900"/>
                  <a:pt x="4935375" y="6788730"/>
                </a:cubicBezTo>
                <a:lnTo>
                  <a:pt x="4875335" y="6858000"/>
                </a:lnTo>
                <a:lnTo>
                  <a:pt x="0" y="6858000"/>
                </a:lnTo>
                <a:close/>
              </a:path>
            </a:pathLst>
          </a:cu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FFFFFF"/>
              </a:solidFill>
              <a:latin typeface="Calibri"/>
              <a:ea typeface="Calibri"/>
              <a:cs typeface="Calibri"/>
              <a:sym typeface="Calibri"/>
            </a:endParaRPr>
          </a:p>
        </p:txBody>
      </p:sp>
      <p:sp>
        <p:nvSpPr>
          <p:cNvPr id="746" name="Google Shape;746;p62"/>
          <p:cNvSpPr txBox="1">
            <a:spLocks noGrp="1"/>
          </p:cNvSpPr>
          <p:nvPr>
            <p:ph type="title"/>
          </p:nvPr>
        </p:nvSpPr>
        <p:spPr>
          <a:xfrm>
            <a:off x="438913" y="859536"/>
            <a:ext cx="4832802" cy="1170432"/>
          </a:xfrm>
          <a:prstGeom prst="rect">
            <a:avLst/>
          </a:prstGeom>
          <a:noFill/>
          <a:ln>
            <a:noFill/>
          </a:ln>
        </p:spPr>
        <p:txBody>
          <a:bodyPr spcFirstLastPara="1" wrap="square" lIns="91425" tIns="45700" rIns="91425" bIns="45700" anchor="b" anchorCtr="0">
            <a:normAutofit fontScale="90000"/>
          </a:bodyPr>
          <a:lstStyle/>
          <a:p>
            <a:pPr marL="0" lvl="0" indent="0" algn="l" rtl="0">
              <a:lnSpc>
                <a:spcPct val="90000"/>
              </a:lnSpc>
              <a:spcBef>
                <a:spcPts val="0"/>
              </a:spcBef>
              <a:spcAft>
                <a:spcPts val="0"/>
              </a:spcAft>
              <a:buClr>
                <a:schemeClr val="dk1"/>
              </a:buClr>
              <a:buSzPts val="3400"/>
              <a:buFont typeface="Avenir"/>
              <a:buNone/>
            </a:pPr>
            <a:r>
              <a:rPr lang="el-GR" sz="3400" dirty="0">
                <a:latin typeface="Tahoma" panose="020B0604030504040204" pitchFamily="34" charset="0"/>
                <a:ea typeface="Tahoma" panose="020B0604030504040204" pitchFamily="34" charset="0"/>
                <a:cs typeface="Tahoma" panose="020B0604030504040204" pitchFamily="34" charset="0"/>
              </a:rPr>
              <a:t>Ανίχνευση Ανωμαλιών στην Ιβηρική Χερσόνησο </a:t>
            </a:r>
            <a:endParaRPr dirty="0">
              <a:latin typeface="Tahoma" panose="020B0604030504040204" pitchFamily="34" charset="0"/>
              <a:ea typeface="Tahoma" panose="020B0604030504040204" pitchFamily="34" charset="0"/>
              <a:cs typeface="Tahoma" panose="020B0604030504040204" pitchFamily="34" charset="0"/>
            </a:endParaRPr>
          </a:p>
        </p:txBody>
      </p:sp>
      <p:sp>
        <p:nvSpPr>
          <p:cNvPr id="747" name="Google Shape;747;p62"/>
          <p:cNvSpPr/>
          <p:nvPr/>
        </p:nvSpPr>
        <p:spPr>
          <a:xfrm rot="5400000">
            <a:off x="703236" y="363389"/>
            <a:ext cx="73152" cy="54864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FFFFFF"/>
              </a:solidFill>
              <a:latin typeface="Calibri"/>
              <a:ea typeface="Calibri"/>
              <a:cs typeface="Calibri"/>
              <a:sym typeface="Calibri"/>
            </a:endParaRPr>
          </a:p>
        </p:txBody>
      </p:sp>
      <p:sp>
        <p:nvSpPr>
          <p:cNvPr id="748" name="Google Shape;748;p62"/>
          <p:cNvSpPr/>
          <p:nvPr/>
        </p:nvSpPr>
        <p:spPr>
          <a:xfrm>
            <a:off x="465492" y="2185062"/>
            <a:ext cx="4937760" cy="18288"/>
          </a:xfrm>
          <a:prstGeom prst="rect">
            <a:avLst/>
          </a:prstGeom>
          <a:solidFill>
            <a:srgbClr val="D6BDD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FFFFFF"/>
              </a:solidFill>
              <a:latin typeface="Calibri"/>
              <a:ea typeface="Calibri"/>
              <a:cs typeface="Calibri"/>
              <a:sym typeface="Calibri"/>
            </a:endParaRPr>
          </a:p>
        </p:txBody>
      </p:sp>
      <p:sp>
        <p:nvSpPr>
          <p:cNvPr id="749" name="Google Shape;749;p62"/>
          <p:cNvSpPr txBox="1">
            <a:spLocks noGrp="1"/>
          </p:cNvSpPr>
          <p:nvPr>
            <p:ph type="body" idx="1"/>
          </p:nvPr>
        </p:nvSpPr>
        <p:spPr>
          <a:xfrm>
            <a:off x="47326" y="2203350"/>
            <a:ext cx="7102504" cy="5035792"/>
          </a:xfrm>
          <a:prstGeom prst="rect">
            <a:avLst/>
          </a:prstGeom>
          <a:noFill/>
          <a:ln>
            <a:noFill/>
          </a:ln>
        </p:spPr>
        <p:txBody>
          <a:bodyPr spcFirstLastPara="1" wrap="square" lIns="91425" tIns="45700" rIns="91425" bIns="45700" anchor="t" anchorCtr="0">
            <a:normAutofit fontScale="92500" lnSpcReduction="10000"/>
          </a:bodyPr>
          <a:lstStyle/>
          <a:p>
            <a:pPr marL="228600" lvl="0" indent="-228631" algn="l" rtl="0">
              <a:lnSpc>
                <a:spcPct val="100000"/>
              </a:lnSpc>
              <a:spcBef>
                <a:spcPts val="0"/>
              </a:spcBef>
              <a:spcAft>
                <a:spcPts val="0"/>
              </a:spcAft>
              <a:buClr>
                <a:schemeClr val="dk1"/>
              </a:buClr>
              <a:buSzPct val="100000"/>
              <a:buFont typeface="Noto Sans Symbols"/>
              <a:buChar char="❑"/>
            </a:pPr>
            <a:r>
              <a:rPr lang="el-GR" sz="1500" dirty="0">
                <a:latin typeface="Tahoma"/>
                <a:ea typeface="Tahoma"/>
                <a:cs typeface="Tahoma"/>
                <a:sym typeface="Tahoma"/>
              </a:rPr>
              <a:t>Οι τηλεπικοινωνιακές ανωμαλίες σε Ισπανία, Πορτογαλία και Μαρόκο (π.χ. </a:t>
            </a:r>
            <a:r>
              <a:rPr lang="el-GR" sz="1500" dirty="0" err="1">
                <a:latin typeface="Tahoma"/>
                <a:ea typeface="Tahoma"/>
                <a:cs typeface="Tahoma"/>
                <a:sym typeface="Tahoma"/>
              </a:rPr>
              <a:t>DDoS</a:t>
            </a:r>
            <a:r>
              <a:rPr lang="el-GR" sz="1500" dirty="0">
                <a:latin typeface="Tahoma"/>
                <a:ea typeface="Tahoma"/>
                <a:cs typeface="Tahoma"/>
                <a:sym typeface="Tahoma"/>
              </a:rPr>
              <a:t> ή διακοπές δικτύου) θα μπορούσαν να εντοπιστούν άμεσα, χωρίς να βασιζόμαστε σε επισημασμένα σύνολα δεδομένων, μόλις συμβεί μια τέτοια διακοπή ισχύος ή</a:t>
            </a:r>
            <a:r>
              <a:rPr lang="en-GB" sz="1500" dirty="0">
                <a:latin typeface="Tahoma"/>
                <a:ea typeface="Tahoma"/>
                <a:cs typeface="Tahoma"/>
                <a:sym typeface="Tahoma"/>
              </a:rPr>
              <a:t> </a:t>
            </a:r>
            <a:r>
              <a:rPr lang="el-GR" sz="1500" dirty="0">
                <a:latin typeface="Tahoma"/>
                <a:ea typeface="Tahoma"/>
                <a:cs typeface="Tahoma"/>
                <a:sym typeface="Tahoma"/>
              </a:rPr>
              <a:t>αντίστοιχα</a:t>
            </a:r>
            <a:r>
              <a:rPr lang="en-GB" sz="1500" dirty="0">
                <a:latin typeface="Tahoma"/>
                <a:ea typeface="Tahoma"/>
                <a:cs typeface="Tahoma"/>
                <a:sym typeface="Tahoma"/>
              </a:rPr>
              <a:t> </a:t>
            </a:r>
            <a:r>
              <a:rPr lang="el-GR" sz="1500" dirty="0">
                <a:latin typeface="Tahoma"/>
                <a:ea typeface="Tahoma"/>
                <a:cs typeface="Tahoma"/>
                <a:sym typeface="Tahoma"/>
              </a:rPr>
              <a:t>μια κακόβουλη επίθεση, θα λαμβάνετε </a:t>
            </a:r>
            <a:r>
              <a:rPr lang="el-GR" sz="1500" dirty="0" err="1">
                <a:latin typeface="Tahoma"/>
                <a:ea typeface="Tahoma"/>
                <a:cs typeface="Tahoma"/>
                <a:sym typeface="Tahoma"/>
              </a:rPr>
              <a:t>real-time</a:t>
            </a:r>
            <a:r>
              <a:rPr lang="el-GR" sz="1500" dirty="0">
                <a:latin typeface="Tahoma"/>
                <a:ea typeface="Tahoma"/>
                <a:cs typeface="Tahoma"/>
                <a:sym typeface="Tahoma"/>
              </a:rPr>
              <a:t> </a:t>
            </a:r>
            <a:r>
              <a:rPr lang="el-GR" sz="1500" dirty="0" err="1">
                <a:latin typeface="Tahoma"/>
                <a:ea typeface="Tahoma"/>
                <a:cs typeface="Tahoma"/>
                <a:sym typeface="Tahoma"/>
              </a:rPr>
              <a:t>alarm</a:t>
            </a:r>
            <a:r>
              <a:rPr lang="el-GR" sz="1500" dirty="0">
                <a:latin typeface="Tahoma"/>
                <a:ea typeface="Tahoma"/>
                <a:cs typeface="Tahoma"/>
                <a:sym typeface="Tahoma"/>
              </a:rPr>
              <a:t> για «αφύσικη» δραστηριότητα. Καμία ανάγκη για συλλογή ή </a:t>
            </a:r>
            <a:r>
              <a:rPr lang="el-GR" sz="1500" dirty="0" err="1">
                <a:latin typeface="Tahoma"/>
                <a:ea typeface="Tahoma"/>
                <a:cs typeface="Tahoma"/>
                <a:sym typeface="Tahoma"/>
              </a:rPr>
              <a:t>ετικετοποίηση</a:t>
            </a:r>
            <a:r>
              <a:rPr lang="el-GR" sz="1500" dirty="0">
                <a:latin typeface="Tahoma"/>
                <a:ea typeface="Tahoma"/>
                <a:cs typeface="Tahoma"/>
                <a:sym typeface="Tahoma"/>
              </a:rPr>
              <a:t> ιστορικών </a:t>
            </a:r>
            <a:r>
              <a:rPr lang="el-GR" sz="1500" dirty="0" err="1">
                <a:latin typeface="Tahoma"/>
                <a:ea typeface="Tahoma"/>
                <a:cs typeface="Tahoma"/>
                <a:sym typeface="Tahoma"/>
              </a:rPr>
              <a:t>DDoS</a:t>
            </a:r>
            <a:r>
              <a:rPr lang="el-GR" sz="1500" dirty="0">
                <a:latin typeface="Tahoma"/>
                <a:ea typeface="Tahoma"/>
                <a:cs typeface="Tahoma"/>
                <a:sym typeface="Tahoma"/>
              </a:rPr>
              <a:t> ή </a:t>
            </a:r>
            <a:r>
              <a:rPr lang="el-GR" sz="1500" dirty="0" err="1">
                <a:latin typeface="Tahoma"/>
                <a:ea typeface="Tahoma"/>
                <a:cs typeface="Tahoma"/>
                <a:sym typeface="Tahoma"/>
              </a:rPr>
              <a:t>power-outage</a:t>
            </a:r>
            <a:r>
              <a:rPr lang="el-GR" sz="1500" dirty="0">
                <a:latin typeface="Tahoma"/>
                <a:ea typeface="Tahoma"/>
                <a:cs typeface="Tahoma"/>
                <a:sym typeface="Tahoma"/>
              </a:rPr>
              <a:t>: όλη η «μάθηση» προέρχεται αποκλειστικά από τα φυσιολογικά </a:t>
            </a:r>
            <a:r>
              <a:rPr lang="el-GR" sz="1500" dirty="0" err="1">
                <a:latin typeface="Tahoma"/>
                <a:ea typeface="Tahoma"/>
                <a:cs typeface="Tahoma"/>
                <a:sym typeface="Tahoma"/>
              </a:rPr>
              <a:t>patterns</a:t>
            </a:r>
            <a:r>
              <a:rPr lang="el-GR" sz="1500" dirty="0">
                <a:latin typeface="Tahoma"/>
                <a:ea typeface="Tahoma"/>
                <a:cs typeface="Tahoma"/>
                <a:sym typeface="Tahoma"/>
              </a:rPr>
              <a:t> του CDR. </a:t>
            </a:r>
            <a:endParaRPr sz="1500" dirty="0"/>
          </a:p>
          <a:p>
            <a:pPr marL="228600" lvl="0" indent="-228631" algn="l" rtl="0">
              <a:lnSpc>
                <a:spcPct val="100000"/>
              </a:lnSpc>
              <a:spcBef>
                <a:spcPts val="1000"/>
              </a:spcBef>
              <a:spcAft>
                <a:spcPts val="0"/>
              </a:spcAft>
              <a:buClr>
                <a:schemeClr val="dk1"/>
              </a:buClr>
              <a:buSzPct val="100000"/>
              <a:buFont typeface="Noto Sans Symbols"/>
              <a:buChar char="❑"/>
            </a:pPr>
            <a:r>
              <a:rPr lang="el-GR" sz="1500" dirty="0">
                <a:latin typeface="Tahoma"/>
                <a:ea typeface="Tahoma"/>
                <a:cs typeface="Tahoma"/>
                <a:sym typeface="Tahoma"/>
              </a:rPr>
              <a:t>Το WGAN-GP εκπαιδεύεται μόνο σε «κανονικά» δείγματα δικτυακής κίνησης. Ο </a:t>
            </a:r>
            <a:r>
              <a:rPr lang="el-GR" sz="1500" dirty="0" err="1">
                <a:latin typeface="Tahoma"/>
                <a:ea typeface="Tahoma"/>
                <a:cs typeface="Tahoma"/>
                <a:sym typeface="Tahoma"/>
              </a:rPr>
              <a:t>critic</a:t>
            </a:r>
            <a:r>
              <a:rPr lang="el-GR" sz="1500" dirty="0">
                <a:latin typeface="Tahoma"/>
                <a:ea typeface="Tahoma"/>
                <a:cs typeface="Tahoma"/>
                <a:sym typeface="Tahoma"/>
              </a:rPr>
              <a:t> του WGAN-GP λειτουργεί ως ανιχνευτής ανωμαλιών, αξιολογώντας κάθε νέο δείγμα μέσω του </a:t>
            </a:r>
            <a:r>
              <a:rPr lang="el-GR" sz="1500" dirty="0" err="1">
                <a:latin typeface="Tahoma"/>
                <a:ea typeface="Tahoma"/>
                <a:cs typeface="Tahoma"/>
                <a:sym typeface="Tahoma"/>
              </a:rPr>
              <a:t>Wasserstein</a:t>
            </a:r>
            <a:r>
              <a:rPr lang="el-GR" sz="1500" dirty="0">
                <a:latin typeface="Tahoma"/>
                <a:ea typeface="Tahoma"/>
                <a:cs typeface="Tahoma"/>
                <a:sym typeface="Tahoma"/>
              </a:rPr>
              <a:t> </a:t>
            </a:r>
            <a:r>
              <a:rPr lang="el-GR" sz="1500" dirty="0" err="1">
                <a:latin typeface="Tahoma"/>
                <a:ea typeface="Tahoma"/>
                <a:cs typeface="Tahoma"/>
                <a:sym typeface="Tahoma"/>
              </a:rPr>
              <a:t>loss</a:t>
            </a:r>
            <a:r>
              <a:rPr lang="el-GR" sz="1500" dirty="0">
                <a:latin typeface="Tahoma"/>
                <a:ea typeface="Tahoma"/>
                <a:cs typeface="Tahoma"/>
                <a:sym typeface="Tahoma"/>
              </a:rPr>
              <a:t> ως μέτρο απόκλισης από τη φυσιολογική κατανομή. Όταν έρχεται ένα καινούριο δείγμα, υπολογίζει το </a:t>
            </a:r>
            <a:r>
              <a:rPr lang="el-GR" sz="1500" dirty="0" err="1">
                <a:latin typeface="Tahoma"/>
                <a:ea typeface="Tahoma"/>
                <a:cs typeface="Tahoma"/>
                <a:sym typeface="Tahoma"/>
              </a:rPr>
              <a:t>Wasserstein</a:t>
            </a:r>
            <a:r>
              <a:rPr lang="el-GR" sz="1500" dirty="0">
                <a:latin typeface="Tahoma"/>
                <a:ea typeface="Tahoma"/>
                <a:cs typeface="Tahoma"/>
                <a:sym typeface="Tahoma"/>
              </a:rPr>
              <a:t> </a:t>
            </a:r>
            <a:r>
              <a:rPr lang="el-GR" sz="1500" dirty="0" err="1">
                <a:latin typeface="Tahoma"/>
                <a:ea typeface="Tahoma"/>
                <a:cs typeface="Tahoma"/>
                <a:sym typeface="Tahoma"/>
              </a:rPr>
              <a:t>loss</a:t>
            </a:r>
            <a:r>
              <a:rPr lang="el-GR" sz="1500" dirty="0">
                <a:latin typeface="Tahoma"/>
                <a:ea typeface="Tahoma"/>
                <a:cs typeface="Tahoma"/>
                <a:sym typeface="Tahoma"/>
              </a:rPr>
              <a:t>: μεγάλο </a:t>
            </a:r>
            <a:r>
              <a:rPr lang="el-GR" sz="1500" dirty="0" err="1">
                <a:latin typeface="Tahoma"/>
                <a:ea typeface="Tahoma"/>
                <a:cs typeface="Tahoma"/>
                <a:sym typeface="Tahoma"/>
              </a:rPr>
              <a:t>loss</a:t>
            </a:r>
            <a:r>
              <a:rPr lang="el-GR" sz="1500" dirty="0">
                <a:latin typeface="Tahoma"/>
                <a:ea typeface="Tahoma"/>
                <a:cs typeface="Tahoma"/>
                <a:sym typeface="Tahoma"/>
              </a:rPr>
              <a:t> ⇒ δείγμα πολύ διαφορετικό από τα φυσιολογικά ⇒ πιθανή ανωμαλία. Η εισαγωγή CNN στον κριτή, με διαδοχικά Conv1D, </a:t>
            </a:r>
            <a:r>
              <a:rPr lang="el-GR" sz="1500" dirty="0" err="1">
                <a:latin typeface="Tahoma"/>
                <a:ea typeface="Tahoma"/>
                <a:cs typeface="Tahoma"/>
                <a:sym typeface="Tahoma"/>
              </a:rPr>
              <a:t>max-pooling</a:t>
            </a:r>
            <a:r>
              <a:rPr lang="el-GR" sz="1500" dirty="0">
                <a:latin typeface="Tahoma"/>
                <a:ea typeface="Tahoma"/>
                <a:cs typeface="Tahoma"/>
                <a:sym typeface="Tahoma"/>
              </a:rPr>
              <a:t> και </a:t>
            </a:r>
            <a:r>
              <a:rPr lang="el-GR" sz="1500" dirty="0" err="1">
                <a:latin typeface="Tahoma"/>
                <a:ea typeface="Tahoma"/>
                <a:cs typeface="Tahoma"/>
                <a:sym typeface="Tahoma"/>
              </a:rPr>
              <a:t>dense</a:t>
            </a:r>
            <a:r>
              <a:rPr lang="el-GR" sz="1500" dirty="0">
                <a:latin typeface="Tahoma"/>
                <a:ea typeface="Tahoma"/>
                <a:cs typeface="Tahoma"/>
                <a:sym typeface="Tahoma"/>
              </a:rPr>
              <a:t> </a:t>
            </a:r>
            <a:r>
              <a:rPr lang="el-GR" sz="1500" dirty="0" err="1">
                <a:latin typeface="Tahoma"/>
                <a:ea typeface="Tahoma"/>
                <a:cs typeface="Tahoma"/>
                <a:sym typeface="Tahoma"/>
              </a:rPr>
              <a:t>layers</a:t>
            </a:r>
            <a:r>
              <a:rPr lang="el-GR" sz="1500" dirty="0">
                <a:latin typeface="Tahoma"/>
                <a:ea typeface="Tahoma"/>
                <a:cs typeface="Tahoma"/>
                <a:sym typeface="Tahoma"/>
              </a:rPr>
              <a:t>, επιτρέπει την αυτόματη εξαγωγή </a:t>
            </a:r>
            <a:r>
              <a:rPr lang="el-GR" sz="1500" dirty="0" err="1">
                <a:latin typeface="Tahoma"/>
                <a:ea typeface="Tahoma"/>
                <a:cs typeface="Tahoma"/>
                <a:sym typeface="Tahoma"/>
              </a:rPr>
              <a:t>χωροχρονικών</a:t>
            </a:r>
            <a:r>
              <a:rPr lang="el-GR" sz="1500" dirty="0">
                <a:latin typeface="Tahoma"/>
                <a:ea typeface="Tahoma"/>
                <a:cs typeface="Tahoma"/>
                <a:sym typeface="Tahoma"/>
              </a:rPr>
              <a:t> χαρακτηριστικών, ενισχύοντας δραστικά την ικανότητα διάκρισης μεταξύ φυσιολογικών, συνθετικών και ανώμαλων δειγμάτων.</a:t>
            </a:r>
            <a:endParaRPr sz="1500" dirty="0"/>
          </a:p>
          <a:p>
            <a:pPr marL="228600" lvl="0" indent="-228631" algn="l" rtl="0">
              <a:lnSpc>
                <a:spcPct val="100000"/>
              </a:lnSpc>
              <a:spcBef>
                <a:spcPts val="1000"/>
              </a:spcBef>
              <a:spcAft>
                <a:spcPts val="0"/>
              </a:spcAft>
              <a:buClr>
                <a:schemeClr val="dk1"/>
              </a:buClr>
              <a:buSzPct val="100000"/>
              <a:buFont typeface="Noto Sans Symbols"/>
              <a:buChar char="❑"/>
            </a:pPr>
            <a:r>
              <a:rPr lang="el-GR" sz="1500" dirty="0">
                <a:latin typeface="Tahoma"/>
                <a:ea typeface="Tahoma"/>
                <a:cs typeface="Tahoma"/>
                <a:sym typeface="Tahoma"/>
              </a:rPr>
              <a:t>Χωρίζουμε τα CDR σε </a:t>
            </a:r>
            <a:r>
              <a:rPr lang="el-GR" sz="1500" dirty="0" err="1">
                <a:latin typeface="Tahoma"/>
                <a:ea typeface="Tahoma"/>
                <a:cs typeface="Tahoma"/>
                <a:sym typeface="Tahoma"/>
              </a:rPr>
              <a:t>train</a:t>
            </a:r>
            <a:r>
              <a:rPr lang="el-GR" sz="1500" dirty="0">
                <a:latin typeface="Tahoma"/>
                <a:ea typeface="Tahoma"/>
                <a:cs typeface="Tahoma"/>
                <a:sym typeface="Tahoma"/>
              </a:rPr>
              <a:t> (μόνο φυσιολογικά) και </a:t>
            </a:r>
            <a:r>
              <a:rPr lang="el-GR" sz="1500" dirty="0" err="1">
                <a:latin typeface="Tahoma"/>
                <a:ea typeface="Tahoma"/>
                <a:cs typeface="Tahoma"/>
                <a:sym typeface="Tahoma"/>
              </a:rPr>
              <a:t>test</a:t>
            </a:r>
            <a:r>
              <a:rPr lang="el-GR" sz="1500" dirty="0">
                <a:latin typeface="Tahoma"/>
                <a:ea typeface="Tahoma"/>
                <a:cs typeface="Tahoma"/>
                <a:sym typeface="Tahoma"/>
              </a:rPr>
              <a:t> (με πιθανές ανωμαλίες), υπολογίζοντας για κάθε </a:t>
            </a:r>
            <a:r>
              <a:rPr lang="el-GR" sz="1500" dirty="0" err="1">
                <a:latin typeface="Tahoma"/>
                <a:ea typeface="Tahoma"/>
                <a:cs typeface="Tahoma"/>
                <a:sym typeface="Tahoma"/>
              </a:rPr>
              <a:t>cell</a:t>
            </a:r>
            <a:r>
              <a:rPr lang="el-GR" sz="1500" dirty="0">
                <a:latin typeface="Tahoma"/>
                <a:ea typeface="Tahoma"/>
                <a:cs typeface="Tahoma"/>
                <a:sym typeface="Tahoma"/>
              </a:rPr>
              <a:t> το </a:t>
            </a:r>
            <a:r>
              <a:rPr lang="el-GR" sz="1500" dirty="0" err="1">
                <a:latin typeface="Tahoma"/>
                <a:ea typeface="Tahoma"/>
                <a:cs typeface="Tahoma"/>
                <a:sym typeface="Tahoma"/>
              </a:rPr>
              <a:t>Wasserstein</a:t>
            </a:r>
            <a:r>
              <a:rPr lang="el-GR" sz="1500" dirty="0">
                <a:latin typeface="Tahoma"/>
                <a:ea typeface="Tahoma"/>
                <a:cs typeface="Tahoma"/>
                <a:sym typeface="Tahoma"/>
              </a:rPr>
              <a:t> </a:t>
            </a:r>
            <a:r>
              <a:rPr lang="el-GR" sz="1500" dirty="0" err="1">
                <a:latin typeface="Tahoma"/>
                <a:ea typeface="Tahoma"/>
                <a:cs typeface="Tahoma"/>
                <a:sym typeface="Tahoma"/>
              </a:rPr>
              <a:t>loss</a:t>
            </a:r>
            <a:r>
              <a:rPr lang="el-GR" sz="1500" dirty="0">
                <a:latin typeface="Tahoma"/>
                <a:ea typeface="Tahoma"/>
                <a:cs typeface="Tahoma"/>
                <a:sym typeface="Tahoma"/>
              </a:rPr>
              <a:t>. Δείγματα με </a:t>
            </a:r>
            <a:r>
              <a:rPr lang="el-GR" sz="1500" dirty="0" err="1">
                <a:latin typeface="Tahoma"/>
                <a:ea typeface="Tahoma"/>
                <a:cs typeface="Tahoma"/>
                <a:sym typeface="Tahoma"/>
              </a:rPr>
              <a:t>loss</a:t>
            </a:r>
            <a:r>
              <a:rPr lang="el-GR" sz="1500" dirty="0">
                <a:latin typeface="Tahoma"/>
                <a:ea typeface="Tahoma"/>
                <a:cs typeface="Tahoma"/>
                <a:sym typeface="Tahoma"/>
              </a:rPr>
              <a:t> πάνω από το </a:t>
            </a:r>
            <a:r>
              <a:rPr lang="el-GR" sz="1500" dirty="0" err="1">
                <a:latin typeface="Tahoma"/>
                <a:ea typeface="Tahoma"/>
                <a:cs typeface="Tahoma"/>
                <a:sym typeface="Tahoma"/>
              </a:rPr>
              <a:t>threshold</a:t>
            </a:r>
            <a:r>
              <a:rPr lang="el-GR" sz="1500" dirty="0">
                <a:latin typeface="Tahoma"/>
                <a:ea typeface="Tahoma"/>
                <a:cs typeface="Tahoma"/>
                <a:sym typeface="Tahoma"/>
              </a:rPr>
              <a:t> σηματοδοτούνται ως ανώμαλα, χωρίς ποτέ να έχουμε χρειαστεί να δείξουμε παραδείγματα ανωμαλιών κατά την εκπαίδευση. Σε περίπτωση μεγάλης πτώσης σε όλη την Ιβηρική, εντόπιζε </a:t>
            </a:r>
            <a:r>
              <a:rPr lang="el-GR" sz="1500" dirty="0" err="1">
                <a:latin typeface="Tahoma"/>
                <a:ea typeface="Tahoma"/>
                <a:cs typeface="Tahoma"/>
                <a:sym typeface="Tahoma"/>
              </a:rPr>
              <a:t>region-wide</a:t>
            </a:r>
            <a:r>
              <a:rPr lang="el-GR" sz="1500" dirty="0">
                <a:latin typeface="Tahoma"/>
                <a:ea typeface="Tahoma"/>
                <a:cs typeface="Tahoma"/>
                <a:sym typeface="Tahoma"/>
              </a:rPr>
              <a:t> </a:t>
            </a:r>
            <a:r>
              <a:rPr lang="el-GR" sz="1500" dirty="0" err="1">
                <a:latin typeface="Tahoma"/>
                <a:ea typeface="Tahoma"/>
                <a:cs typeface="Tahoma"/>
                <a:sym typeface="Tahoma"/>
              </a:rPr>
              <a:t>anomaly</a:t>
            </a:r>
            <a:r>
              <a:rPr lang="el-GR" sz="1500" dirty="0">
                <a:latin typeface="Tahoma"/>
                <a:ea typeface="Tahoma"/>
                <a:cs typeface="Tahoma"/>
                <a:sym typeface="Tahoma"/>
              </a:rPr>
              <a:t>. Σε μεμονωμένη διακοπή (π.χ. μόνο σε κάποιο υποβρύχιο καλώδιο προς Μαρόκο), θα δείξει υψηλό </a:t>
            </a:r>
            <a:r>
              <a:rPr lang="el-GR" sz="1500" dirty="0" err="1">
                <a:latin typeface="Tahoma"/>
                <a:ea typeface="Tahoma"/>
                <a:cs typeface="Tahoma"/>
                <a:sym typeface="Tahoma"/>
              </a:rPr>
              <a:t>loss</a:t>
            </a:r>
            <a:r>
              <a:rPr lang="el-GR" sz="1500" dirty="0">
                <a:latin typeface="Tahoma"/>
                <a:ea typeface="Tahoma"/>
                <a:cs typeface="Tahoma"/>
                <a:sym typeface="Tahoma"/>
              </a:rPr>
              <a:t> μόνο στο συγκεκριμένο </a:t>
            </a:r>
            <a:r>
              <a:rPr lang="el-GR" sz="1500" dirty="0" err="1">
                <a:latin typeface="Tahoma"/>
                <a:ea typeface="Tahoma"/>
                <a:cs typeface="Tahoma"/>
                <a:sym typeface="Tahoma"/>
              </a:rPr>
              <a:t>node</a:t>
            </a:r>
            <a:r>
              <a:rPr lang="el-GR" sz="1500" dirty="0">
                <a:latin typeface="Tahoma"/>
                <a:ea typeface="Tahoma"/>
                <a:cs typeface="Tahoma"/>
                <a:sym typeface="Tahoma"/>
              </a:rPr>
              <a:t>.</a:t>
            </a:r>
            <a:endParaRPr sz="1500" dirty="0"/>
          </a:p>
          <a:p>
            <a:pPr marL="228600" lvl="0" indent="-146367" algn="l" rtl="0">
              <a:lnSpc>
                <a:spcPct val="100000"/>
              </a:lnSpc>
              <a:spcBef>
                <a:spcPts val="1000"/>
              </a:spcBef>
              <a:spcAft>
                <a:spcPts val="0"/>
              </a:spcAft>
              <a:buClr>
                <a:schemeClr val="dk1"/>
              </a:buClr>
              <a:buSzPct val="100000"/>
              <a:buFont typeface="Noto Sans Symbols"/>
              <a:buNone/>
            </a:pPr>
            <a:endParaRPr sz="1400" dirty="0">
              <a:latin typeface="Tahoma"/>
              <a:ea typeface="Tahoma"/>
              <a:cs typeface="Tahoma"/>
              <a:sym typeface="Tahoma"/>
            </a:endParaRPr>
          </a:p>
          <a:p>
            <a:pPr marL="228600" lvl="0" indent="-146367" algn="l" rtl="0">
              <a:lnSpc>
                <a:spcPct val="100000"/>
              </a:lnSpc>
              <a:spcBef>
                <a:spcPts val="1000"/>
              </a:spcBef>
              <a:spcAft>
                <a:spcPts val="0"/>
              </a:spcAft>
              <a:buClr>
                <a:schemeClr val="dk1"/>
              </a:buClr>
              <a:buSzPct val="100000"/>
              <a:buFont typeface="Noto Sans Symbols"/>
              <a:buNone/>
            </a:pPr>
            <a:endParaRPr sz="1400" dirty="0"/>
          </a:p>
          <a:p>
            <a:pPr marL="228600" lvl="0" indent="-146367" algn="l" rtl="0">
              <a:lnSpc>
                <a:spcPct val="100000"/>
              </a:lnSpc>
              <a:spcBef>
                <a:spcPts val="1000"/>
              </a:spcBef>
              <a:spcAft>
                <a:spcPts val="0"/>
              </a:spcAft>
              <a:buClr>
                <a:schemeClr val="dk1"/>
              </a:buClr>
              <a:buSzPct val="100000"/>
              <a:buNone/>
            </a:pPr>
            <a:endParaRPr sz="1400" dirty="0"/>
          </a:p>
        </p:txBody>
      </p:sp>
      <p:pic>
        <p:nvPicPr>
          <p:cNvPr id="750" name="Google Shape;750;p62"/>
          <p:cNvPicPr preferRelativeResize="0"/>
          <p:nvPr/>
        </p:nvPicPr>
        <p:blipFill rotWithShape="1">
          <a:blip r:embed="rId3">
            <a:alphaModFix/>
          </a:blip>
          <a:srcRect/>
          <a:stretch/>
        </p:blipFill>
        <p:spPr>
          <a:xfrm>
            <a:off x="7070399" y="166628"/>
            <a:ext cx="3551581" cy="3551581"/>
          </a:xfrm>
          <a:prstGeom prst="rect">
            <a:avLst/>
          </a:prstGeom>
          <a:noFill/>
          <a:ln>
            <a:noFill/>
          </a:ln>
          <a:effectLst>
            <a:outerShdw blurRad="190500" algn="tl" rotWithShape="0">
              <a:srgbClr val="000000">
                <a:alpha val="69803"/>
              </a:srgbClr>
            </a:outerShdw>
          </a:effectLst>
        </p:spPr>
      </p:pic>
      <p:grpSp>
        <p:nvGrpSpPr>
          <p:cNvPr id="751" name="Google Shape;751;p62"/>
          <p:cNvGrpSpPr/>
          <p:nvPr/>
        </p:nvGrpSpPr>
        <p:grpSpPr>
          <a:xfrm>
            <a:off x="8589818" y="2203350"/>
            <a:ext cx="3325022" cy="4282628"/>
            <a:chOff x="6978072" y="323273"/>
            <a:chExt cx="4572000" cy="5888739"/>
          </a:xfrm>
        </p:grpSpPr>
        <p:pic>
          <p:nvPicPr>
            <p:cNvPr id="752" name="Google Shape;752;p62"/>
            <p:cNvPicPr preferRelativeResize="0"/>
            <p:nvPr/>
          </p:nvPicPr>
          <p:blipFill rotWithShape="1">
            <a:blip r:embed="rId4">
              <a:alphaModFix/>
            </a:blip>
            <a:srcRect b="14134"/>
            <a:stretch/>
          </p:blipFill>
          <p:spPr>
            <a:xfrm>
              <a:off x="6978072" y="323273"/>
              <a:ext cx="4572000" cy="5888739"/>
            </a:xfrm>
            <a:prstGeom prst="rect">
              <a:avLst/>
            </a:prstGeom>
            <a:noFill/>
            <a:ln>
              <a:noFill/>
            </a:ln>
            <a:effectLst>
              <a:outerShdw blurRad="190500" algn="tl" rotWithShape="0">
                <a:srgbClr val="000000">
                  <a:alpha val="69803"/>
                </a:srgbClr>
              </a:outerShdw>
            </a:effectLst>
          </p:spPr>
        </p:pic>
        <p:pic>
          <p:nvPicPr>
            <p:cNvPr id="753" name="Google Shape;753;p62"/>
            <p:cNvPicPr preferRelativeResize="0"/>
            <p:nvPr/>
          </p:nvPicPr>
          <p:blipFill rotWithShape="1">
            <a:blip r:embed="rId5">
              <a:alphaModFix/>
            </a:blip>
            <a:srcRect l="63273" t="62182" r="28765" b="27251"/>
            <a:stretch/>
          </p:blipFill>
          <p:spPr>
            <a:xfrm>
              <a:off x="9527497" y="4701309"/>
              <a:ext cx="734103" cy="674258"/>
            </a:xfrm>
            <a:prstGeom prst="roundRect">
              <a:avLst>
                <a:gd name="adj" fmla="val 8594"/>
              </a:avLst>
            </a:prstGeom>
            <a:solidFill>
              <a:srgbClr val="ECECEC"/>
            </a:solidFill>
            <a:ln>
              <a:noFill/>
            </a:ln>
            <a:effectLst>
              <a:reflection stA="38000" endPos="28000" dist="5000" dir="5400000" sy="-100000" algn="bl" rotWithShape="0"/>
            </a:effectLst>
          </p:spPr>
        </p:pic>
      </p:gr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58"/>
        <p:cNvGrpSpPr/>
        <p:nvPr/>
      </p:nvGrpSpPr>
      <p:grpSpPr>
        <a:xfrm>
          <a:off x="0" y="0"/>
          <a:ext cx="0" cy="0"/>
          <a:chOff x="0" y="0"/>
          <a:chExt cx="0" cy="0"/>
        </a:xfrm>
      </p:grpSpPr>
      <p:sp>
        <p:nvSpPr>
          <p:cNvPr id="759" name="Google Shape;759;p63"/>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venir"/>
              <a:ea typeface="Avenir"/>
              <a:cs typeface="Avenir"/>
              <a:sym typeface="Avenir"/>
            </a:endParaRPr>
          </a:p>
        </p:txBody>
      </p:sp>
      <p:pic>
        <p:nvPicPr>
          <p:cNvPr id="760" name="Google Shape;760;p63" descr="Topview of mint green workspace with laptop, coffee, notebook, pen, glasses, and mouse"/>
          <p:cNvPicPr preferRelativeResize="0"/>
          <p:nvPr/>
        </p:nvPicPr>
        <p:blipFill rotWithShape="1">
          <a:blip r:embed="rId3">
            <a:alphaModFix/>
          </a:blip>
          <a:srcRect b="15730"/>
          <a:stretch/>
        </p:blipFill>
        <p:spPr>
          <a:xfrm>
            <a:off x="21" y="10"/>
            <a:ext cx="12191979" cy="6857990"/>
          </a:xfrm>
          <a:prstGeom prst="rect">
            <a:avLst/>
          </a:prstGeom>
          <a:noFill/>
          <a:ln>
            <a:noFill/>
          </a:ln>
        </p:spPr>
      </p:pic>
      <p:sp>
        <p:nvSpPr>
          <p:cNvPr id="761" name="Google Shape;761;p63"/>
          <p:cNvSpPr/>
          <p:nvPr/>
        </p:nvSpPr>
        <p:spPr>
          <a:xfrm rot="-5400000">
            <a:off x="3799868" y="-1534136"/>
            <a:ext cx="4592270" cy="12192001"/>
          </a:xfrm>
          <a:prstGeom prst="rect">
            <a:avLst/>
          </a:prstGeom>
          <a:gradFill>
            <a:gsLst>
              <a:gs pos="0">
                <a:srgbClr val="000000">
                  <a:alpha val="0"/>
                </a:srgbClr>
              </a:gs>
              <a:gs pos="21000">
                <a:srgbClr val="000000">
                  <a:alpha val="29803"/>
                </a:srgbClr>
              </a:gs>
              <a:gs pos="35000">
                <a:srgbClr val="000000">
                  <a:alpha val="45882"/>
                </a:srgbClr>
              </a:gs>
              <a:gs pos="100000">
                <a:srgbClr val="000000">
                  <a:alpha val="80000"/>
                </a:srgbClr>
              </a:gs>
            </a:gsLst>
            <a:lin ang="10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venir"/>
              <a:ea typeface="Avenir"/>
              <a:cs typeface="Avenir"/>
              <a:sym typeface="Avenir"/>
            </a:endParaRPr>
          </a:p>
        </p:txBody>
      </p:sp>
      <p:sp>
        <p:nvSpPr>
          <p:cNvPr id="762" name="Google Shape;762;p63"/>
          <p:cNvSpPr txBox="1">
            <a:spLocks noGrp="1"/>
          </p:cNvSpPr>
          <p:nvPr>
            <p:ph type="ctrTitle"/>
          </p:nvPr>
        </p:nvSpPr>
        <p:spPr>
          <a:xfrm>
            <a:off x="404553" y="3091928"/>
            <a:ext cx="9078562" cy="2387600"/>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lt1"/>
              </a:buClr>
              <a:buSzPts val="6600"/>
              <a:buFont typeface="Tahoma"/>
              <a:buNone/>
            </a:pPr>
            <a:r>
              <a:rPr lang="el-GR" sz="6600">
                <a:solidFill>
                  <a:schemeClr val="lt1"/>
                </a:solidFill>
                <a:latin typeface="Tahoma"/>
                <a:ea typeface="Tahoma"/>
                <a:cs typeface="Tahoma"/>
                <a:sym typeface="Tahoma"/>
              </a:rPr>
              <a:t>Ευχαριστούμε!</a:t>
            </a:r>
            <a:endParaRPr/>
          </a:p>
        </p:txBody>
      </p:sp>
    </p:spTree>
  </p:cSld>
  <p:clrMapOvr>
    <a:masterClrMapping/>
  </p:clrMapOvr>
</p:sld>
</file>

<file path=ppt/theme/theme1.xml><?xml version="1.0" encoding="utf-8"?>
<a:theme xmlns:a="http://schemas.openxmlformats.org/drawingml/2006/main" name="AccentBoxVTI">
  <a:themeElements>
    <a:clrScheme name="AnalogousFromLightSeedLeftStep">
      <a:dk1>
        <a:srgbClr val="000000"/>
      </a:dk1>
      <a:lt1>
        <a:srgbClr val="FFFFFF"/>
      </a:lt1>
      <a:dk2>
        <a:srgbClr val="3E2441"/>
      </a:dk2>
      <a:lt2>
        <a:srgbClr val="E8E6E2"/>
      </a:lt2>
      <a:accent1>
        <a:srgbClr val="96A3C6"/>
      </a:accent1>
      <a:accent2>
        <a:srgbClr val="7FA7BA"/>
      </a:accent2>
      <a:accent3>
        <a:srgbClr val="82ACA8"/>
      </a:accent3>
      <a:accent4>
        <a:srgbClr val="77AE92"/>
      </a:accent4>
      <a:accent5>
        <a:srgbClr val="81AC84"/>
      </a:accent5>
      <a:accent6>
        <a:srgbClr val="8AAE77"/>
      </a:accent6>
      <a:hlink>
        <a:srgbClr val="908157"/>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AccentBoxVTI">
  <a:themeElements>
    <a:clrScheme name="AnalogousFromLightSeedLeftStep">
      <a:dk1>
        <a:srgbClr val="000000"/>
      </a:dk1>
      <a:lt1>
        <a:srgbClr val="FFFFFF"/>
      </a:lt1>
      <a:dk2>
        <a:srgbClr val="3E2441"/>
      </a:dk2>
      <a:lt2>
        <a:srgbClr val="E8E6E2"/>
      </a:lt2>
      <a:accent1>
        <a:srgbClr val="96A3C6"/>
      </a:accent1>
      <a:accent2>
        <a:srgbClr val="7FA7BA"/>
      </a:accent2>
      <a:accent3>
        <a:srgbClr val="82ACA8"/>
      </a:accent3>
      <a:accent4>
        <a:srgbClr val="77AE92"/>
      </a:accent4>
      <a:accent5>
        <a:srgbClr val="81AC84"/>
      </a:accent5>
      <a:accent6>
        <a:srgbClr val="8AAE77"/>
      </a:accent6>
      <a:hlink>
        <a:srgbClr val="908157"/>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316</TotalTime>
  <Words>6937</Words>
  <Application>Microsoft Office PowerPoint</Application>
  <PresentationFormat>Widescreen</PresentationFormat>
  <Paragraphs>365</Paragraphs>
  <Slides>61</Slides>
  <Notes>61</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61</vt:i4>
      </vt:variant>
    </vt:vector>
  </HeadingPairs>
  <TitlesOfParts>
    <vt:vector size="69" baseType="lpstr">
      <vt:lpstr>Arial</vt:lpstr>
      <vt:lpstr>Calibri</vt:lpstr>
      <vt:lpstr>Noto Sans Symbols</vt:lpstr>
      <vt:lpstr>Avenir</vt:lpstr>
      <vt:lpstr>Wingdings</vt:lpstr>
      <vt:lpstr>Tahoma</vt:lpstr>
      <vt:lpstr>AccentBoxVTI</vt:lpstr>
      <vt:lpstr>AccentBoxVTI</vt:lpstr>
      <vt:lpstr>Παραγωγή Συνθετικών Δεδομένων Ροής Κυκλοφορίας Με GANs</vt:lpstr>
      <vt:lpstr>Από το Generative Modeling στα GANs</vt:lpstr>
      <vt:lpstr>Κατανόηση των GANs</vt:lpstr>
      <vt:lpstr>Aρχιτεκτονική GAN</vt:lpstr>
      <vt:lpstr>Προσέγγιση της Κατανομής Δεδομένων (I)</vt:lpstr>
      <vt:lpstr>Προσέγγιση της Κατανομής Δεδομένων (II)</vt:lpstr>
      <vt:lpstr>Κανονικοποίηση Κατανομών με DNN</vt:lpstr>
      <vt:lpstr>Έμμεση Εκμάθηση της Κατανομής 𝑃(𝑋)</vt:lpstr>
      <vt:lpstr>Παραχαράκτης (Γεννήτρια - G) </vt:lpstr>
      <vt:lpstr>Τραπεζικός Υπάλληλος (Διαχωριστής - D)</vt:lpstr>
      <vt:lpstr>Εκπαίδευση GAN</vt:lpstr>
      <vt:lpstr>Δημιουργία &amp; Διαχωρισμός Δεδομένων Traffic</vt:lpstr>
      <vt:lpstr>Κατανόηση Δεδομένων</vt:lpstr>
      <vt:lpstr>Σύνολο Δεδομένων Δραστηριότητας  Κινητών Τηλεφώνων </vt:lpstr>
      <vt:lpstr>Ενέργειες</vt:lpstr>
      <vt:lpstr>Χωρική Ανάλυση</vt:lpstr>
      <vt:lpstr>Προετοιμασία Δεδομένων</vt:lpstr>
      <vt:lpstr>Αρχικά Βήματα Προεπεξεργασίας &amp; Φόρτωσης Τηλεπικοινωνιακών Δεδομένων</vt:lpstr>
      <vt:lpstr>Έλεγχος και Καθαρισμός Δεδομένων</vt:lpstr>
      <vt:lpstr>Προκλήσεις Προεπεξεργασίας Δεδομένων </vt:lpstr>
      <vt:lpstr>Επιλογή Χαρακτηριστικών &amp; Φιλτράρισμα Εγγραφών</vt:lpstr>
      <vt:lpstr>Κανονικοποίηση </vt:lpstr>
      <vt:lpstr>Pair Plot</vt:lpstr>
      <vt:lpstr>Correlation Matrix</vt:lpstr>
      <vt:lpstr>Ανακεφαλαίωση</vt:lpstr>
      <vt:lpstr>WGAN</vt:lpstr>
      <vt:lpstr>Αρχιτεκτονική WGAN</vt:lpstr>
      <vt:lpstr>Κριτής</vt:lpstr>
      <vt:lpstr>Aπόσταση Wasserstein (Earth Mover’s Distance)</vt:lpstr>
      <vt:lpstr>Συμπεριφορά Κλίσεων κατά την Εκπαίδευση</vt:lpstr>
      <vt:lpstr>Λύση στην Εξαφάνιση Κλίσεων</vt:lpstr>
      <vt:lpstr>Δυϊκότητα Kantorovich-Rubinstein</vt:lpstr>
      <vt:lpstr>Συνθήκη Lipschitz</vt:lpstr>
      <vt:lpstr>WGAN-GP</vt:lpstr>
      <vt:lpstr>Wasserstein GAN with Gradient Penalty</vt:lpstr>
      <vt:lpstr>Σταθερότερη Εκπαίδευση</vt:lpstr>
      <vt:lpstr>Καλύτερη Ποιότητα Δειγμάτων (I)</vt:lpstr>
      <vt:lpstr>Καλύτερη Ποιότητα Δειγμάτων (II)</vt:lpstr>
      <vt:lpstr>Ποινή Κλίσης (Gradient Penalty)</vt:lpstr>
      <vt:lpstr>Υλοποίηση Μοντέλου και Διαδικασία Εκπαίδευσης</vt:lpstr>
      <vt:lpstr>Generator (Γεννήτρια) </vt:lpstr>
      <vt:lpstr>Critic (Κριτής)</vt:lpstr>
      <vt:lpstr>Εξισορροπημένη Εκπαίδευση Γεννήτριας &amp; Κριτή</vt:lpstr>
      <vt:lpstr>Στρατηγική Εκπαίδευσης και Βελτιστοποίησης</vt:lpstr>
      <vt:lpstr>NVIDIA DGX για Εκπαίδευση WGAN-GP</vt:lpstr>
      <vt:lpstr>Αξιολόγηση Αποτελεσμάτων</vt:lpstr>
      <vt:lpstr>Παραγωγή Συνθετικών Δεδομένων</vt:lpstr>
      <vt:lpstr>Οπτικοποίηση Συνθετικών Δεδομένων</vt:lpstr>
      <vt:lpstr>Υπερπαράμετροι Εκπαίδευσης (I) </vt:lpstr>
      <vt:lpstr>Υπερπαράμετροι Εκπαίδευσης (II) </vt:lpstr>
      <vt:lpstr>N_CRITIC (for 10 epochs) </vt:lpstr>
      <vt:lpstr>N_CRITIC (for 10 epochs)</vt:lpstr>
      <vt:lpstr>Epochs</vt:lpstr>
      <vt:lpstr>Πόσο Πιστά Μοιάζουν τα Συνθετικά με τα Πραγματικά Δεδομένα;</vt:lpstr>
      <vt:lpstr>Πόσο ποικίλα είναι τα συνθετικά δεδομένα;</vt:lpstr>
      <vt:lpstr>Οπτικοποίηση Πραγματικών και Συνθετικών Δεδομένων</vt:lpstr>
      <vt:lpstr>Συμπεράσματα &amp; Μελλοντική Έρευνα</vt:lpstr>
      <vt:lpstr>Κύρια Ευρήματα</vt:lpstr>
      <vt:lpstr>Προτάσεις για Περαιτέρω Έρευνα </vt:lpstr>
      <vt:lpstr>Ανίχνευση Ανωμαλιών στην Ιβηρική Χερσόνησο </vt:lpstr>
      <vt:lpstr>Ευχαριστούμε!</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Filippos Paraskevas Zygouris</dc:creator>
  <cp:lastModifiedBy>Filippos Paraskevas Zygouris</cp:lastModifiedBy>
  <cp:revision>38</cp:revision>
  <dcterms:created xsi:type="dcterms:W3CDTF">2025-02-01T09:10:53Z</dcterms:created>
  <dcterms:modified xsi:type="dcterms:W3CDTF">2025-05-25T08:26:18Z</dcterms:modified>
</cp:coreProperties>
</file>